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1695"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notesMaster" Target="notesMasters/notesMaster1.xml"/><Relationship Id="rId27" Type="http://schemas.openxmlformats.org/officeDocument/2006/relationships/presProps" Target="presProps.xml" /><Relationship Id="rId28" Type="http://schemas.openxmlformats.org/officeDocument/2006/relationships/tableStyles" Target="tableStyles.xml" /><Relationship Id="rId2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3200220" name="Slide Image Placeholder 1"/>
          <p:cNvSpPr>
            <a:spLocks noGrp="1"/>
          </p:cNvSpPr>
          <p:nvPr>
            <p:ph type="sldImg" idx="2"/>
          </p:nvPr>
        </p:nvSpPr>
        <p:spPr bwMode="auto"/>
      </p:sp>
      <p:sp>
        <p:nvSpPr>
          <p:cNvPr id="378383232" name="Notes Placeholder 2"/>
          <p:cNvSpPr>
            <a:spLocks noGrp="1"/>
          </p:cNvSpPr>
          <p:nvPr>
            <p:ph type="body" sz="quarter" idx="3"/>
          </p:nvPr>
        </p:nvSpPr>
        <p:spPr bwMode="auto"/>
        <p:txBody>
          <a:bodyPr/>
          <a:lstStyle/>
          <a:p>
            <a:pPr>
              <a:defRPr/>
            </a:pPr>
            <a:r>
              <a:rPr/>
              <a:t>Bonjour. Je vais vous présenter mon projet : un site de vente de miel en ligne, que j'ai fait en Symfony. Je vais d'abord le présenter vite fait, expliquer les technos et comment c'est organisé, et après je vous montre le site qui tourne. On finit par le code et vos questions.</a:t>
            </a:r>
            <a:endParaRPr/>
          </a:p>
        </p:txBody>
      </p:sp>
      <p:sp>
        <p:nvSpPr>
          <p:cNvPr id="1482481159"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456133" name="Slide Image Placeholder 1"/>
          <p:cNvSpPr>
            <a:spLocks noGrp="1"/>
          </p:cNvSpPr>
          <p:nvPr>
            <p:ph type="sldImg" idx="2"/>
          </p:nvPr>
        </p:nvSpPr>
        <p:spPr bwMode="auto"/>
      </p:sp>
      <p:sp>
        <p:nvSpPr>
          <p:cNvPr id="1097414416" name="Notes Placeholder 2"/>
          <p:cNvSpPr>
            <a:spLocks noGrp="1"/>
          </p:cNvSpPr>
          <p:nvPr>
            <p:ph type="body" sz="quarter" idx="3"/>
          </p:nvPr>
        </p:nvSpPr>
        <p:spPr bwMode="auto"/>
        <p:txBody>
          <a:bodyPr/>
          <a:lstStyle/>
          <a:p>
            <a:pPr>
              <a:defRPr/>
            </a:pPr>
            <a:r>
              <a:rPr/>
              <a:t>Le point de départ, c'est un apiculteur qui veut vendre en ligne par lui-même. Donc il me fallait un vrai parcours d'achat complet, une partie admin pour qu'il gère tout, et des comptes clients. J'ai aussi ajouté les avis, qui passent par une validation de l'admin avant d'être visibles. Il y a deux rôles : le client et l'administrateur.</a:t>
            </a:r>
            <a:endParaRPr/>
          </a:p>
        </p:txBody>
      </p:sp>
      <p:sp>
        <p:nvSpPr>
          <p:cNvPr id="1569361321"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1066873" name="Slide Image Placeholder 1"/>
          <p:cNvSpPr>
            <a:spLocks noGrp="1"/>
          </p:cNvSpPr>
          <p:nvPr>
            <p:ph type="sldImg" idx="2"/>
          </p:nvPr>
        </p:nvSpPr>
        <p:spPr bwMode="auto"/>
      </p:sp>
      <p:sp>
        <p:nvSpPr>
          <p:cNvPr id="1822845769" name="Notes Placeholder 2"/>
          <p:cNvSpPr>
            <a:spLocks noGrp="1"/>
          </p:cNvSpPr>
          <p:nvPr>
            <p:ph type="body" sz="quarter" idx="3"/>
          </p:nvPr>
        </p:nvSpPr>
        <p:spPr bwMode="auto"/>
        <p:txBody>
          <a:bodyPr/>
          <a:lstStyle/>
          <a:p>
            <a:pPr>
              <a:defRPr/>
            </a:pPr>
            <a:r>
              <a:rPr/>
              <a:t>Pour résumer avant de montrer : côté client, il y a tout le parcours d'achat, de la page d'accueil jusqu'à la facture. Côté admin, on peut gérer les produits, les commandes, les utilisateurs et les avis. Et techniquement, j'ai la connexion faite à la main, les e-mails, la sécurité, le référencement, le responsive et la CI. Je vais maintenant vous montrer tout ça en vrai.</a:t>
            </a:r>
            <a:endParaRPr/>
          </a:p>
        </p:txBody>
      </p:sp>
      <p:sp>
        <p:nvSpPr>
          <p:cNvPr id="2025957508" name="Slide Number Placeholder 3"/>
          <p:cNvSpPr>
            <a:spLocks noGrp="1"/>
          </p:cNvSpPr>
          <p:nvPr>
            <p:ph type="sldNum" sz="quarter" idx="5"/>
          </p:nvPr>
        </p:nvSpPr>
        <p:spPr bwMode="auto"/>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7356360" name="Slide Image Placeholder 1"/>
          <p:cNvSpPr>
            <a:spLocks noGrp="1"/>
          </p:cNvSpPr>
          <p:nvPr>
            <p:ph type="sldImg" idx="2"/>
          </p:nvPr>
        </p:nvSpPr>
        <p:spPr bwMode="auto"/>
      </p:sp>
      <p:sp>
        <p:nvSpPr>
          <p:cNvPr id="1298365202" name="Notes Placeholder 2"/>
          <p:cNvSpPr>
            <a:spLocks noGrp="1"/>
          </p:cNvSpPr>
          <p:nvPr>
            <p:ph type="body" sz="quarter" idx="3"/>
          </p:nvPr>
        </p:nvSpPr>
        <p:spPr bwMode="auto"/>
        <p:txBody>
          <a:bodyPr/>
          <a:lstStyle/>
          <a:p>
            <a:pPr>
              <a:defRPr/>
            </a:pPr>
            <a:r>
              <a:rPr/>
              <a:t>La base de tout, c'est Symfony, un framework PHP qui m'oblige à bien organiser mon code. Les données sont dans MySQL, et je passe par Doctrine pour ne pas écrire de SQL à la main et éviter les failles. Les pages sont faites en Twig, le style en Tailwind. dompdf fait les factures. Tout tourne dans Docker. Et j'ai des tests avec une vérification automatique à chaque fois que je pousse mon code. À noter : la connexion, je ne l'ai pas prise dans une librairie, je l'ai codée moi-même.</a:t>
            </a:r>
            <a:endParaRPr/>
          </a:p>
        </p:txBody>
      </p:sp>
      <p:sp>
        <p:nvSpPr>
          <p:cNvPr id="1747792518"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4297899" name="Slide Image Placeholder 1"/>
          <p:cNvSpPr>
            <a:spLocks noGrp="1"/>
          </p:cNvSpPr>
          <p:nvPr>
            <p:ph type="sldImg" idx="2"/>
          </p:nvPr>
        </p:nvSpPr>
        <p:spPr bwMode="auto"/>
      </p:sp>
      <p:sp>
        <p:nvSpPr>
          <p:cNvPr id="1464706996" name="Notes Placeholder 2"/>
          <p:cNvSpPr>
            <a:spLocks noGrp="1"/>
          </p:cNvSpPr>
          <p:nvPr>
            <p:ph type="body" sz="quarter" idx="3"/>
          </p:nvPr>
        </p:nvSpPr>
        <p:spPr bwMode="auto"/>
        <p:txBody>
          <a:bodyPr/>
          <a:lstStyle/>
          <a:p>
            <a:pPr>
              <a:defRPr/>
            </a:pPr>
            <a:r>
              <a:rPr/>
              <a:t>Mon projet suit le MVC, c'est Symfony qui l'impose. En gros, quand quelqu'un va sur une page, le routing trouve la bonne méthode dans un contrôleur. Le contrôleur va chercher les données, ici les produits, et il les envoie à la vue Twig qui fabrique le HTML. Sur le code : l'attribut au-dessus de la méthode dit à quelle URL elle répond, et le render à la fin envoie les produits au template. Voilà le principe, c'est le même schéma partout.</a:t>
            </a:r>
            <a:endParaRPr/>
          </a:p>
        </p:txBody>
      </p:sp>
      <p:sp>
        <p:nvSpPr>
          <p:cNvPr id="1053715232"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2533735" name="Slide Image Placeholder 1"/>
          <p:cNvSpPr>
            <a:spLocks noGrp="1"/>
          </p:cNvSpPr>
          <p:nvPr>
            <p:ph type="sldImg" idx="2"/>
          </p:nvPr>
        </p:nvSpPr>
        <p:spPr bwMode="auto"/>
      </p:sp>
      <p:sp>
        <p:nvSpPr>
          <p:cNvPr id="850734264" name="Notes Placeholder 2"/>
          <p:cNvSpPr>
            <a:spLocks noGrp="1"/>
          </p:cNvSpPr>
          <p:nvPr>
            <p:ph type="body" sz="quarter" idx="3"/>
          </p:nvPr>
        </p:nvSpPr>
        <p:spPr bwMode="auto"/>
        <p:txBody>
          <a:bodyPr/>
          <a:lstStyle/>
          <a:p>
            <a:pPr>
              <a:defRPr/>
            </a:pPr>
            <a:r>
              <a:rPr/>
              <a:t>Niveau infrastructure, j'ai découpé l'appli en plusieurs conteneurs séparés. Nginx reçoit les requêtes et les passe à PHP qui fait tourner Symfony. MySQL stocke les données, avec un volume pour ne pas les perdre. phpMyAdmin me sert à regarder la base, et Mailpit à voir les e-mails. Tout ça communique sur un réseau Docker privé.</a:t>
            </a:r>
            <a:endParaRPr/>
          </a:p>
        </p:txBody>
      </p:sp>
      <p:sp>
        <p:nvSpPr>
          <p:cNvPr id="1691159258"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1666258" name="Slide Image Placeholder 1"/>
          <p:cNvSpPr>
            <a:spLocks noGrp="1"/>
          </p:cNvSpPr>
          <p:nvPr>
            <p:ph type="sldImg" idx="2"/>
          </p:nvPr>
        </p:nvSpPr>
        <p:spPr bwMode="auto"/>
      </p:sp>
      <p:sp>
        <p:nvSpPr>
          <p:cNvPr id="328793924" name="Notes Placeholder 2"/>
          <p:cNvSpPr>
            <a:spLocks noGrp="1"/>
          </p:cNvSpPr>
          <p:nvPr>
            <p:ph type="body" sz="quarter" idx="3"/>
          </p:nvPr>
        </p:nvSpPr>
        <p:spPr bwMode="auto"/>
        <p:txBody>
          <a:bodyPr/>
          <a:lstStyle/>
          <a:p>
            <a:pPr>
              <a:defRPr/>
            </a:pPr>
            <a:r>
              <a:rPr/>
              <a:t>On passe à la démo. Je vais naviguer dans le site et vous montrer chaque fonctionnalité qui marche, en expliquant rapidement ce qu'il y a derrière.</a:t>
            </a:r>
            <a:endParaRPr/>
          </a:p>
        </p:txBody>
      </p:sp>
      <p:sp>
        <p:nvSpPr>
          <p:cNvPr id="2028684987"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4700124" name="Slide Image Placeholder 1"/>
          <p:cNvSpPr>
            <a:spLocks noGrp="1"/>
          </p:cNvSpPr>
          <p:nvPr>
            <p:ph type="sldImg" idx="2"/>
          </p:nvPr>
        </p:nvSpPr>
        <p:spPr bwMode="auto"/>
      </p:sp>
      <p:sp>
        <p:nvSpPr>
          <p:cNvPr id="1978892413" name="Notes Placeholder 2"/>
          <p:cNvSpPr>
            <a:spLocks noGrp="1"/>
          </p:cNvSpPr>
          <p:nvPr>
            <p:ph type="body" sz="quarter" idx="3"/>
          </p:nvPr>
        </p:nvSpPr>
        <p:spPr bwMode="auto"/>
        <p:txBody>
          <a:bodyPr/>
          <a:lstStyle/>
          <a:p>
            <a:pPr>
              <a:defRPr/>
            </a:pPr>
            <a:r>
              <a:rPr/>
              <a:t>La connexion, je l'ai codée moi-même, c'était demandé. À l'inscription, je vérifie les champs et surtout je hash le mot de passe : on ne le garde jamais en clair en base. J'ai aussi le mot de passe oublié, qui envoie un lien sécurisé qui expire. Et le système de rôles protège tout l'espace admin. Je vais me connecter pour montrer.</a:t>
            </a:r>
            <a:endParaRPr/>
          </a:p>
        </p:txBody>
      </p:sp>
      <p:sp>
        <p:nvSpPr>
          <p:cNvPr id="1872732234" name="Slide Number Placeholder 3"/>
          <p:cNvSpPr>
            <a:spLocks noGrp="1"/>
          </p:cNvSpPr>
          <p:nvPr>
            <p:ph type="sldNum" sz="quarter" idx="5"/>
          </p:nvPr>
        </p:nvSpPr>
        <p:spPr bwMode="auto"/>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4171772" name="Slide Image Placeholder 1"/>
          <p:cNvSpPr>
            <a:spLocks noGrp="1"/>
          </p:cNvSpPr>
          <p:nvPr>
            <p:ph type="sldImg" idx="2"/>
          </p:nvPr>
        </p:nvSpPr>
        <p:spPr bwMode="auto"/>
      </p:sp>
      <p:sp>
        <p:nvSpPr>
          <p:cNvPr id="1626161552" name="Notes Placeholder 2"/>
          <p:cNvSpPr>
            <a:spLocks noGrp="1"/>
          </p:cNvSpPr>
          <p:nvPr>
            <p:ph type="body" sz="quarter" idx="3"/>
          </p:nvPr>
        </p:nvSpPr>
        <p:spPr bwMode="auto"/>
        <p:txBody>
          <a:bodyPr/>
          <a:lstStyle/>
          <a:p>
            <a:pPr>
              <a:defRPr/>
            </a:pPr>
            <a:r>
              <a:rPr/>
              <a:t>Le catalogue affiche les produits avec des filtres et un tri. Sur la fiche, on a les variantes de poids, chacune avec son propre stock. Un petit script change le prix affiché quand on sélectionne un format. On voit aussi les avis. Et les URL sont lisibles, ce qui aide pour le référencement.</a:t>
            </a:r>
            <a:endParaRPr/>
          </a:p>
        </p:txBody>
      </p:sp>
      <p:sp>
        <p:nvSpPr>
          <p:cNvPr id="828579958" name="Slide Number Placeholder 3"/>
          <p:cNvSpPr>
            <a:spLocks noGrp="1"/>
          </p:cNvSpPr>
          <p:nvPr>
            <p:ph type="sldNum" sz="quarter" idx="5"/>
          </p:nvPr>
        </p:nvSpPr>
        <p:spPr bwMode="auto"/>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6824368" name="Slide Image Placeholder 1"/>
          <p:cNvSpPr>
            <a:spLocks noGrp="1"/>
          </p:cNvSpPr>
          <p:nvPr>
            <p:ph type="sldImg" idx="2"/>
          </p:nvPr>
        </p:nvSpPr>
        <p:spPr bwMode="auto"/>
      </p:sp>
      <p:sp>
        <p:nvSpPr>
          <p:cNvPr id="1571216873" name="Notes Placeholder 2"/>
          <p:cNvSpPr>
            <a:spLocks noGrp="1"/>
          </p:cNvSpPr>
          <p:nvPr>
            <p:ph type="body" sz="quarter" idx="3"/>
          </p:nvPr>
        </p:nvSpPr>
        <p:spPr bwMode="auto"/>
        <p:txBody>
          <a:bodyPr/>
          <a:lstStyle/>
          <a:p>
            <a:pPr>
              <a:defRPr/>
            </a:pPr>
            <a:r>
              <a:rPr/>
              <a:t>Le panier, je le garde en session : tant que la commande n'est pas validée, pas besoin de le mettre en base. C'est en fait une simple liste qui associe une variante à une quantité. Sur le code, quand on ajoute un produit, soit il est déjà dans le panier et j'augmente la quantité, soit je pars de zéro. C'est volontairement tout simple.</a:t>
            </a:r>
            <a:endParaRPr/>
          </a:p>
        </p:txBody>
      </p:sp>
      <p:sp>
        <p:nvSpPr>
          <p:cNvPr id="783993890" name="Slide Number Placeholder 3"/>
          <p:cNvSpPr>
            <a:spLocks noGrp="1"/>
          </p:cNvSpPr>
          <p:nvPr>
            <p:ph type="sldNum" sz="quarter" idx="5"/>
          </p:nvPr>
        </p:nvSpPr>
        <p:spPr bwMode="auto"/>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42920881" name="Slide Image Placeholder 1"/>
          <p:cNvSpPr>
            <a:spLocks noGrp="1"/>
          </p:cNvSpPr>
          <p:nvPr>
            <p:ph type="sldImg" idx="2"/>
          </p:nvPr>
        </p:nvSpPr>
        <p:spPr bwMode="auto"/>
      </p:sp>
      <p:sp>
        <p:nvSpPr>
          <p:cNvPr id="127666585" name="Notes Placeholder 2"/>
          <p:cNvSpPr>
            <a:spLocks noGrp="1"/>
          </p:cNvSpPr>
          <p:nvPr>
            <p:ph type="body" sz="quarter" idx="3"/>
          </p:nvPr>
        </p:nvSpPr>
        <p:spPr bwMode="auto"/>
        <p:txBody>
          <a:bodyPr/>
          <a:lstStyle/>
          <a:p>
            <a:pPr>
              <a:defRPr/>
            </a:pPr>
            <a:r>
              <a:rPr/>
              <a:t>Au moment de commander, le client met son adresse, je valide, puis je crée la commande avec ses lignes, je baisse le stock et je vide le panier. Sur le code, le point à retenir c'est persist puis flush : persist dit à Doctrine de surveiller l'objet, et flush exécute vraiment les requêtes SQL en base.</a:t>
            </a:r>
            <a:endParaRPr/>
          </a:p>
        </p:txBody>
      </p:sp>
      <p:sp>
        <p:nvSpPr>
          <p:cNvPr id="2027232472" name="Slide Number Placeholder 3"/>
          <p:cNvSpPr>
            <a:spLocks noGrp="1"/>
          </p:cNvSpPr>
          <p:nvPr>
            <p:ph type="sldNum" sz="quarter" idx="5"/>
          </p:nvPr>
        </p:nvSpPr>
        <p:spPr bwMode="auto"/>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3553221" name="Slide Image Placeholder 1"/>
          <p:cNvSpPr>
            <a:spLocks noGrp="1"/>
          </p:cNvSpPr>
          <p:nvPr>
            <p:ph type="sldImg" idx="2"/>
          </p:nvPr>
        </p:nvSpPr>
        <p:spPr bwMode="auto"/>
      </p:sp>
      <p:sp>
        <p:nvSpPr>
          <p:cNvPr id="941353536" name="Notes Placeholder 2"/>
          <p:cNvSpPr>
            <a:spLocks noGrp="1"/>
          </p:cNvSpPr>
          <p:nvPr>
            <p:ph type="body" sz="quarter" idx="3"/>
          </p:nvPr>
        </p:nvSpPr>
        <p:spPr bwMode="auto"/>
        <p:txBody>
          <a:bodyPr/>
          <a:lstStyle/>
          <a:p>
            <a:pPr>
              <a:defRPr/>
            </a:pPr>
            <a:r>
              <a:rPr/>
              <a:t>Pour la facture, j'ai un service à part. L'astuce, c'est que je fais d'abord une page HTML normale avec Twig, exactement comme une page du site, et ensuite la librairie dompdf la transforme en PDF. Comme ça je n'ai pas à dessiner le PDF case par case. Elle est téléchargeable et aussi jointe à l'e-mail de confirmation.</a:t>
            </a:r>
            <a:endParaRPr/>
          </a:p>
        </p:txBody>
      </p:sp>
      <p:sp>
        <p:nvSpPr>
          <p:cNvPr id="938228713" name="Slide Number Placeholder 3"/>
          <p:cNvSpPr>
            <a:spLocks noGrp="1"/>
          </p:cNvSpPr>
          <p:nvPr>
            <p:ph type="sldNum" sz="quarter" idx="5"/>
          </p:nvPr>
        </p:nvSpPr>
        <p:spPr bwMode="auto"/>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2010555" name="Slide Image Placeholder 1"/>
          <p:cNvSpPr>
            <a:spLocks noGrp="1"/>
          </p:cNvSpPr>
          <p:nvPr>
            <p:ph type="sldImg" idx="2"/>
          </p:nvPr>
        </p:nvSpPr>
        <p:spPr bwMode="auto"/>
      </p:sp>
      <p:sp>
        <p:nvSpPr>
          <p:cNvPr id="689747017" name="Notes Placeholder 2"/>
          <p:cNvSpPr>
            <a:spLocks noGrp="1"/>
          </p:cNvSpPr>
          <p:nvPr>
            <p:ph type="body" sz="quarter" idx="3"/>
          </p:nvPr>
        </p:nvSpPr>
        <p:spPr bwMode="auto"/>
        <p:txBody>
          <a:bodyPr/>
          <a:lstStyle/>
          <a:p>
            <a:pPr>
              <a:defRPr/>
            </a:pPr>
            <a:r>
              <a:rPr/>
              <a:t>L'espace client regroupe le profil et l'historique des commandes, avec le statut de chacune. Le point sécurité que je veux souligner : je vérifie toujours que la commande appartient bien à la personne connectée, sinon j'interdis l'accès. On ne peut pas voir la commande de quelqu'un d'autre en changeant l'URL.</a:t>
            </a:r>
            <a:endParaRPr/>
          </a:p>
        </p:txBody>
      </p:sp>
      <p:sp>
        <p:nvSpPr>
          <p:cNvPr id="1253330643" name="Slide Number Placeholder 3"/>
          <p:cNvSpPr>
            <a:spLocks noGrp="1"/>
          </p:cNvSpPr>
          <p:nvPr>
            <p:ph type="sldNum" sz="quarter" idx="5"/>
          </p:nvPr>
        </p:nvSpPr>
        <p:spPr bwMode="auto"/>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0213563" name="Slide Image Placeholder 1"/>
          <p:cNvSpPr>
            <a:spLocks noGrp="1"/>
          </p:cNvSpPr>
          <p:nvPr>
            <p:ph type="sldImg" idx="2"/>
          </p:nvPr>
        </p:nvSpPr>
        <p:spPr bwMode="auto"/>
      </p:sp>
      <p:sp>
        <p:nvSpPr>
          <p:cNvPr id="559982472" name="Notes Placeholder 2"/>
          <p:cNvSpPr>
            <a:spLocks noGrp="1"/>
          </p:cNvSpPr>
          <p:nvPr>
            <p:ph type="body" sz="quarter" idx="3"/>
          </p:nvPr>
        </p:nvSpPr>
        <p:spPr bwMode="auto"/>
        <p:txBody>
          <a:bodyPr/>
          <a:lstStyle/>
          <a:p>
            <a:pPr>
              <a:defRPr/>
            </a:pPr>
            <a:r>
              <a:rPr/>
              <a:t>Le back-office permet de tout gérer. Pour les produits, je peux mettre une image et plusieurs variantes de poids. Quand je change le statut d'une commande, ça se voit tout de suite côté client. Je gère aussi les utilisateurs, avec la possibilité de désactiver un compte, et je modère les avis. Tout est réservé à l'administrateur.</a:t>
            </a:r>
            <a:endParaRPr/>
          </a:p>
        </p:txBody>
      </p:sp>
      <p:sp>
        <p:nvSpPr>
          <p:cNvPr id="101902100" name="Slide Number Placeholder 3"/>
          <p:cNvSpPr>
            <a:spLocks noGrp="1"/>
          </p:cNvSpPr>
          <p:nvPr>
            <p:ph type="sldNum" sz="quarter" idx="5"/>
          </p:nvPr>
        </p:nvSpPr>
        <p:spPr bwMode="auto"/>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6081147" name="Slide Image Placeholder 1"/>
          <p:cNvSpPr>
            <a:spLocks noGrp="1"/>
          </p:cNvSpPr>
          <p:nvPr>
            <p:ph type="sldImg" idx="2"/>
          </p:nvPr>
        </p:nvSpPr>
        <p:spPr bwMode="auto"/>
      </p:sp>
      <p:sp>
        <p:nvSpPr>
          <p:cNvPr id="340083224" name="Notes Placeholder 2"/>
          <p:cNvSpPr>
            <a:spLocks noGrp="1"/>
          </p:cNvSpPr>
          <p:nvPr>
            <p:ph type="body" sz="quarter" idx="3"/>
          </p:nvPr>
        </p:nvSpPr>
        <p:spPr bwMode="auto"/>
        <p:txBody>
          <a:bodyPr/>
          <a:lstStyle/>
          <a:p>
            <a:pPr>
              <a:defRPr/>
            </a:pPr>
            <a:r>
              <a:rPr/>
              <a:t>Le site envoie cinq types d'e-mails, là aussi sans outil tout fait. En développement, je les vois dans Mailpit sans rien envoyer à de vraies adresses. Je peux montrer l'interface de Mailpit avec les mails reçus.</a:t>
            </a:r>
            <a:endParaRPr/>
          </a:p>
        </p:txBody>
      </p:sp>
      <p:sp>
        <p:nvSpPr>
          <p:cNvPr id="569605159" name="Slide Number Placeholder 3"/>
          <p:cNvSpPr>
            <a:spLocks noGrp="1"/>
          </p:cNvSpPr>
          <p:nvPr>
            <p:ph type="sldNum" sz="quarter" idx="5"/>
          </p:nvPr>
        </p:nvSpPr>
        <p:spPr bwMode="auto"/>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20525340" name="Slide Image Placeholder 1"/>
          <p:cNvSpPr>
            <a:spLocks noGrp="1"/>
          </p:cNvSpPr>
          <p:nvPr>
            <p:ph type="sldImg" idx="2"/>
          </p:nvPr>
        </p:nvSpPr>
        <p:spPr bwMode="auto"/>
      </p:sp>
      <p:sp>
        <p:nvSpPr>
          <p:cNvPr id="288101655" name="Notes Placeholder 2"/>
          <p:cNvSpPr>
            <a:spLocks noGrp="1"/>
          </p:cNvSpPr>
          <p:nvPr>
            <p:ph type="body" sz="quarter" idx="3"/>
          </p:nvPr>
        </p:nvSpPr>
        <p:spPr bwMode="auto"/>
        <p:txBody>
          <a:bodyPr/>
          <a:lstStyle/>
          <a:p>
            <a:pPr>
              <a:defRPr/>
            </a:pPr>
            <a:r>
              <a:rPr/>
              <a:t>Sur la sécurité : les injections SQL sont bloquées parce que Doctrine sépare la requête des données. Le XSS est géré par Twig qui échappe tout automatiquement. Et sur les actions sensibles, comme une suppression, je mets un jeton CSRF : une valeur secrète que je vérifie, pour qu'un site malveillant ne puisse pas faire l'action à ma place. C'est ce bout de code : si le jeton n'est pas bon, je bloque.</a:t>
            </a:r>
            <a:endParaRPr/>
          </a:p>
        </p:txBody>
      </p:sp>
      <p:sp>
        <p:nvSpPr>
          <p:cNvPr id="1043222231" name="Slide Number Placeholder 3"/>
          <p:cNvSpPr>
            <a:spLocks noGrp="1"/>
          </p:cNvSpPr>
          <p:nvPr>
            <p:ph type="sldNum" sz="quarter" idx="5"/>
          </p:nvPr>
        </p:nvSpPr>
        <p:spPr bwMode="auto"/>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6373901" name="Slide Image Placeholder 1"/>
          <p:cNvSpPr>
            <a:spLocks noGrp="1"/>
          </p:cNvSpPr>
          <p:nvPr>
            <p:ph type="sldImg" idx="2"/>
          </p:nvPr>
        </p:nvSpPr>
        <p:spPr bwMode="auto"/>
      </p:sp>
      <p:sp>
        <p:nvSpPr>
          <p:cNvPr id="2015184" name="Notes Placeholder 2"/>
          <p:cNvSpPr>
            <a:spLocks noGrp="1"/>
          </p:cNvSpPr>
          <p:nvPr>
            <p:ph type="body" sz="quarter" idx="3"/>
          </p:nvPr>
        </p:nvSpPr>
        <p:spPr bwMode="auto"/>
        <p:txBody>
          <a:bodyPr/>
          <a:lstStyle/>
          <a:p>
            <a:pPr>
              <a:defRPr/>
            </a:pPr>
            <a:r>
              <a:rPr/>
              <a:t>Pour le référencement, j'ai des URL propres, des balises meta par page, un sitemap généré automatiquement, et les balises pour le partage sur les réseaux. Le site est pensé mobile d'abord, avec un menu burger sur petit écran. Je peux réduire la fenêtre pour le montrer.</a:t>
            </a:r>
            <a:endParaRPr/>
          </a:p>
        </p:txBody>
      </p:sp>
      <p:sp>
        <p:nvSpPr>
          <p:cNvPr id="1451468310" name="Slide Number Placeholder 3"/>
          <p:cNvSpPr>
            <a:spLocks noGrp="1"/>
          </p:cNvSpPr>
          <p:nvPr>
            <p:ph type="sldNum" sz="quarter" idx="5"/>
          </p:nvPr>
        </p:nvSpPr>
        <p:spPr bwMode="auto"/>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3044247" name="Slide Image Placeholder 1"/>
          <p:cNvSpPr>
            <a:spLocks noGrp="1"/>
          </p:cNvSpPr>
          <p:nvPr>
            <p:ph type="sldImg" idx="2"/>
          </p:nvPr>
        </p:nvSpPr>
        <p:spPr bwMode="auto"/>
      </p:sp>
      <p:sp>
        <p:nvSpPr>
          <p:cNvPr id="488325191" name="Notes Placeholder 2"/>
          <p:cNvSpPr>
            <a:spLocks noGrp="1"/>
          </p:cNvSpPr>
          <p:nvPr>
            <p:ph type="body" sz="quarter" idx="3"/>
          </p:nvPr>
        </p:nvSpPr>
        <p:spPr bwMode="auto"/>
        <p:txBody>
          <a:bodyPr/>
          <a:lstStyle/>
          <a:p>
            <a:pPr>
              <a:defRPr/>
            </a:pPr>
            <a:r>
              <a:rPr/>
              <a:t>Pour finir sur la technique : tout est dockerisé, la base évolue proprement avec des migrations, et j'ai mis en place une intégration continue. Concrètement, dès que je pousse mon code sur GitHub, il vérifie tout seul que les templates compilent et que mes tests passent. Si quelque chose casse, je le vois tout de suite.</a:t>
            </a:r>
            <a:endParaRPr/>
          </a:p>
        </p:txBody>
      </p:sp>
      <p:sp>
        <p:nvSpPr>
          <p:cNvPr id="11768600" name="Slide Number Placeholder 3"/>
          <p:cNvSpPr>
            <a:spLocks noGrp="1"/>
          </p:cNvSpPr>
          <p:nvPr>
            <p:ph type="sldNum" sz="quarter" idx="5"/>
          </p:nvPr>
        </p:nvSpPr>
        <p:spPr bwMode="auto"/>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21006" name="Slide Image Placeholder 1"/>
          <p:cNvSpPr>
            <a:spLocks noGrp="1"/>
          </p:cNvSpPr>
          <p:nvPr>
            <p:ph type="sldImg" idx="2"/>
          </p:nvPr>
        </p:nvSpPr>
        <p:spPr bwMode="auto"/>
      </p:sp>
      <p:sp>
        <p:nvSpPr>
          <p:cNvPr id="1797828411" name="Notes Placeholder 2"/>
          <p:cNvSpPr>
            <a:spLocks noGrp="1"/>
          </p:cNvSpPr>
          <p:nvPr>
            <p:ph type="body" sz="quarter" idx="3"/>
          </p:nvPr>
        </p:nvSpPr>
        <p:spPr bwMode="auto"/>
        <p:txBody>
          <a:bodyPr/>
          <a:lstStyle/>
          <a:p>
            <a:pPr>
              <a:defRPr/>
            </a:pPr>
            <a:r>
              <a:rPr/>
              <a:t>Pour résumer, voilà tout ce que j'ai réalisé : l'authentification, le catalogue, le panier, la commande, les factures, l'espace client, le back-office, les e-mails, la sécurité, le référencement et la partie Docker. Et je suis honnête sur ce que je n'ai pas fait : la version installable façon application, le vrai paiement en ligne, et l'intégration d'une API externe. C'était par manque de temps.</a:t>
            </a:r>
            <a:endParaRPr/>
          </a:p>
        </p:txBody>
      </p:sp>
      <p:sp>
        <p:nvSpPr>
          <p:cNvPr id="1291720215" name="Slide Number Placeholder 3"/>
          <p:cNvSpPr>
            <a:spLocks noGrp="1"/>
          </p:cNvSpPr>
          <p:nvPr>
            <p:ph type="sldNum" sz="quarter" idx="5"/>
          </p:nvPr>
        </p:nvSpPr>
        <p:spPr bwMode="auto"/>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72255711" name="Slide Image Placeholder 1"/>
          <p:cNvSpPr>
            <a:spLocks noGrp="1"/>
          </p:cNvSpPr>
          <p:nvPr>
            <p:ph type="sldImg" idx="2"/>
          </p:nvPr>
        </p:nvSpPr>
        <p:spPr bwMode="auto"/>
      </p:sp>
      <p:sp>
        <p:nvSpPr>
          <p:cNvPr id="1623242470" name="Notes Placeholder 2"/>
          <p:cNvSpPr>
            <a:spLocks noGrp="1"/>
          </p:cNvSpPr>
          <p:nvPr>
            <p:ph type="body" sz="quarter" idx="3"/>
          </p:nvPr>
        </p:nvSpPr>
        <p:spPr bwMode="auto"/>
        <p:txBody>
          <a:bodyPr/>
          <a:lstStyle/>
          <a:p>
            <a:pPr>
              <a:defRPr/>
            </a:pPr>
            <a:r>
              <a:rPr/>
              <a:t>Pour le chiffrage : j'estime le développement à peu près à 20-25 jours de travail, ce qui ferait une prestation autour de 6 000 à 7 500 euros. Et si on veut vraiment le mettre en ligne, il faut penser à plein de choses en plus : l'hébergement, le nom de domaine, le HTTPS qui lui est gratuit, un vrai service d'e-mails, une solution de paiement comme Stripe, des sauvegardes, le côté légal avec les CGV et les cookies, et la maintenance dans le temps, surtout les mises à jour de sécurité.</a:t>
            </a:r>
            <a:endParaRPr/>
          </a:p>
        </p:txBody>
      </p:sp>
      <p:sp>
        <p:nvSpPr>
          <p:cNvPr id="801041838" name="Slide Number Placeholder 3"/>
          <p:cNvSpPr>
            <a:spLocks noGrp="1"/>
          </p:cNvSpPr>
          <p:nvPr>
            <p:ph type="sldNum" sz="quarter" idx="5"/>
          </p:nvPr>
        </p:nvSpPr>
        <p:spPr bwMode="auto"/>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3481044" name="Slide Image Placeholder 1"/>
          <p:cNvSpPr>
            <a:spLocks noGrp="1"/>
          </p:cNvSpPr>
          <p:nvPr>
            <p:ph type="sldImg" idx="2"/>
          </p:nvPr>
        </p:nvSpPr>
        <p:spPr bwMode="auto"/>
      </p:sp>
      <p:sp>
        <p:nvSpPr>
          <p:cNvPr id="830484573" name="Notes Placeholder 2"/>
          <p:cNvSpPr>
            <a:spLocks noGrp="1"/>
          </p:cNvSpPr>
          <p:nvPr>
            <p:ph type="body" sz="quarter" idx="3"/>
          </p:nvPr>
        </p:nvSpPr>
        <p:spPr bwMode="auto"/>
        <p:txBody>
          <a:bodyPr/>
          <a:lstStyle/>
          <a:p>
            <a:pPr>
              <a:defRPr/>
            </a:pPr>
            <a:r>
              <a:rPr/>
              <a:t>Pour le code, j'ai choisi quelques morceaux que je trouve représentatifs : le service du panier, la création de commande, la génération du PDF et le mot de passe oublié. Pour chacun je vais vous expliquer ce que ça fait et pourquoi j'ai fait ces choix-là.</a:t>
            </a:r>
            <a:endParaRPr/>
          </a:p>
        </p:txBody>
      </p:sp>
      <p:sp>
        <p:nvSpPr>
          <p:cNvPr id="1459845145" name="Slide Number Placeholder 3"/>
          <p:cNvSpPr>
            <a:spLocks noGrp="1"/>
          </p:cNvSpPr>
          <p:nvPr>
            <p:ph type="sldNum" sz="quarter" idx="5"/>
          </p:nvPr>
        </p:nvSpPr>
        <p:spPr bwMode="auto"/>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2316924" name="Slide Image Placeholder 1"/>
          <p:cNvSpPr>
            <a:spLocks noGrp="1"/>
          </p:cNvSpPr>
          <p:nvPr>
            <p:ph type="sldImg" idx="2"/>
          </p:nvPr>
        </p:nvSpPr>
        <p:spPr bwMode="auto"/>
      </p:sp>
      <p:sp>
        <p:nvSpPr>
          <p:cNvPr id="2044881777" name="Notes Placeholder 2"/>
          <p:cNvSpPr>
            <a:spLocks noGrp="1"/>
          </p:cNvSpPr>
          <p:nvPr>
            <p:ph type="body" sz="quarter" idx="3"/>
          </p:nvPr>
        </p:nvSpPr>
        <p:spPr bwMode="auto"/>
        <p:txBody>
          <a:bodyPr/>
          <a:lstStyle/>
          <a:p>
            <a:pPr>
              <a:defRPr/>
            </a:pPr>
            <a:r>
              <a:rPr/>
              <a:t>Voilà, merci de m'avoir écouté, je suis prêt pour vos questions.</a:t>
            </a:r>
            <a:endParaRPr/>
          </a:p>
        </p:txBody>
      </p:sp>
      <p:sp>
        <p:nvSpPr>
          <p:cNvPr id="50660911" name="Slide Number Placeholder 3"/>
          <p:cNvSpPr>
            <a:spLocks noGrp="1"/>
          </p:cNvSpPr>
          <p:nvPr>
            <p:ph type="sldNum" sz="quarter" idx="5"/>
          </p:nvPr>
        </p:nvSpPr>
        <p:spPr bwMode="auto"/>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884357496"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959027134"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864707968"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963338356" name="Footer Placeholder 4"/>
          <p:cNvSpPr>
            <a:spLocks noGrp="1"/>
          </p:cNvSpPr>
          <p:nvPr>
            <p:ph type="ftr" sz="quarter" idx="11"/>
          </p:nvPr>
        </p:nvSpPr>
        <p:spPr bwMode="auto"/>
        <p:txBody>
          <a:bodyPr/>
          <a:lstStyle/>
          <a:p>
            <a:pPr>
              <a:defRPr/>
            </a:pPr>
            <a:endParaRPr lang="en-US"/>
          </a:p>
        </p:txBody>
      </p:sp>
      <p:sp>
        <p:nvSpPr>
          <p:cNvPr id="1627846280"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855468777" name="Title 1"/>
          <p:cNvSpPr>
            <a:spLocks noGrp="1"/>
          </p:cNvSpPr>
          <p:nvPr>
            <p:ph type="title"/>
          </p:nvPr>
        </p:nvSpPr>
        <p:spPr bwMode="auto"/>
        <p:txBody>
          <a:bodyPr/>
          <a:lstStyle/>
          <a:p>
            <a:pPr>
              <a:defRPr/>
            </a:pPr>
            <a:r>
              <a:rPr lang="en-US"/>
              <a:t>Click to edit Master title style</a:t>
            </a:r>
            <a:endParaRPr lang="en-US"/>
          </a:p>
        </p:txBody>
      </p:sp>
      <p:sp>
        <p:nvSpPr>
          <p:cNvPr id="79337554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19506506"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629472790" name="Footer Placeholder 4"/>
          <p:cNvSpPr>
            <a:spLocks noGrp="1"/>
          </p:cNvSpPr>
          <p:nvPr>
            <p:ph type="ftr" sz="quarter" idx="11"/>
          </p:nvPr>
        </p:nvSpPr>
        <p:spPr bwMode="auto"/>
        <p:txBody>
          <a:bodyPr/>
          <a:lstStyle/>
          <a:p>
            <a:pPr>
              <a:defRPr/>
            </a:pPr>
            <a:endParaRPr lang="en-US"/>
          </a:p>
        </p:txBody>
      </p:sp>
      <p:sp>
        <p:nvSpPr>
          <p:cNvPr id="3180049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712472786"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471959782"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531618653"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87280105" name="Footer Placeholder 4"/>
          <p:cNvSpPr>
            <a:spLocks noGrp="1"/>
          </p:cNvSpPr>
          <p:nvPr>
            <p:ph type="ftr" sz="quarter" idx="11"/>
          </p:nvPr>
        </p:nvSpPr>
        <p:spPr bwMode="auto"/>
        <p:txBody>
          <a:bodyPr/>
          <a:lstStyle/>
          <a:p>
            <a:pPr>
              <a:defRPr/>
            </a:pPr>
            <a:endParaRPr lang="en-US"/>
          </a:p>
        </p:txBody>
      </p:sp>
      <p:sp>
        <p:nvSpPr>
          <p:cNvPr id="979937526"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52908888" name="Title 1"/>
          <p:cNvSpPr>
            <a:spLocks noGrp="1"/>
          </p:cNvSpPr>
          <p:nvPr>
            <p:ph type="title"/>
          </p:nvPr>
        </p:nvSpPr>
        <p:spPr bwMode="auto"/>
        <p:txBody>
          <a:bodyPr/>
          <a:lstStyle/>
          <a:p>
            <a:pPr>
              <a:defRPr/>
            </a:pPr>
            <a:r>
              <a:rPr lang="en-US"/>
              <a:t>Click to edit Master title style</a:t>
            </a:r>
            <a:endParaRPr lang="en-US"/>
          </a:p>
        </p:txBody>
      </p:sp>
      <p:sp>
        <p:nvSpPr>
          <p:cNvPr id="1377222741"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11390360"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4282076"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545744541" name="Footer Placeholder 5"/>
          <p:cNvSpPr>
            <a:spLocks noGrp="1"/>
          </p:cNvSpPr>
          <p:nvPr>
            <p:ph type="ftr" sz="quarter" idx="11"/>
          </p:nvPr>
        </p:nvSpPr>
        <p:spPr bwMode="auto"/>
        <p:txBody>
          <a:bodyPr/>
          <a:lstStyle/>
          <a:p>
            <a:pPr>
              <a:defRPr/>
            </a:pPr>
            <a:endParaRPr lang="en-US"/>
          </a:p>
        </p:txBody>
      </p:sp>
      <p:sp>
        <p:nvSpPr>
          <p:cNvPr id="1987851251"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203979810"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356286870"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398707681"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96598793"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23870368"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122491100"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740309325" name="Footer Placeholder 7"/>
          <p:cNvSpPr>
            <a:spLocks noGrp="1"/>
          </p:cNvSpPr>
          <p:nvPr>
            <p:ph type="ftr" sz="quarter" idx="11"/>
          </p:nvPr>
        </p:nvSpPr>
        <p:spPr bwMode="auto"/>
        <p:txBody>
          <a:bodyPr/>
          <a:lstStyle/>
          <a:p>
            <a:pPr>
              <a:defRPr/>
            </a:pPr>
            <a:endParaRPr lang="en-US"/>
          </a:p>
        </p:txBody>
      </p:sp>
      <p:sp>
        <p:nvSpPr>
          <p:cNvPr id="1811014379"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601649928" name="Title 1"/>
          <p:cNvSpPr>
            <a:spLocks noGrp="1"/>
          </p:cNvSpPr>
          <p:nvPr>
            <p:ph type="title"/>
          </p:nvPr>
        </p:nvSpPr>
        <p:spPr bwMode="auto"/>
        <p:txBody>
          <a:bodyPr/>
          <a:lstStyle/>
          <a:p>
            <a:pPr>
              <a:defRPr/>
            </a:pPr>
            <a:r>
              <a:rPr lang="en-US"/>
              <a:t>Click to edit Master title style</a:t>
            </a:r>
            <a:endParaRPr lang="en-US"/>
          </a:p>
        </p:txBody>
      </p:sp>
      <p:sp>
        <p:nvSpPr>
          <p:cNvPr id="1019781759"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93432541" name="Footer Placeholder 3"/>
          <p:cNvSpPr>
            <a:spLocks noGrp="1"/>
          </p:cNvSpPr>
          <p:nvPr>
            <p:ph type="ftr" sz="quarter" idx="11"/>
          </p:nvPr>
        </p:nvSpPr>
        <p:spPr bwMode="auto"/>
        <p:txBody>
          <a:bodyPr/>
          <a:lstStyle/>
          <a:p>
            <a:pPr>
              <a:defRPr/>
            </a:pPr>
            <a:endParaRPr lang="en-US"/>
          </a:p>
        </p:txBody>
      </p:sp>
      <p:sp>
        <p:nvSpPr>
          <p:cNvPr id="2118775468"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597162877"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034202789" name="Footer Placeholder 2"/>
          <p:cNvSpPr>
            <a:spLocks noGrp="1"/>
          </p:cNvSpPr>
          <p:nvPr>
            <p:ph type="ftr" sz="quarter" idx="11"/>
          </p:nvPr>
        </p:nvSpPr>
        <p:spPr bwMode="auto"/>
        <p:txBody>
          <a:bodyPr/>
          <a:lstStyle/>
          <a:p>
            <a:pPr>
              <a:defRPr/>
            </a:pPr>
            <a:endParaRPr lang="en-US"/>
          </a:p>
        </p:txBody>
      </p:sp>
      <p:sp>
        <p:nvSpPr>
          <p:cNvPr id="1842532444"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813540328"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01929233"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71182683"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300017880"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348708043" name="Footer Placeholder 5"/>
          <p:cNvSpPr>
            <a:spLocks noGrp="1"/>
          </p:cNvSpPr>
          <p:nvPr>
            <p:ph type="ftr" sz="quarter" idx="11"/>
          </p:nvPr>
        </p:nvSpPr>
        <p:spPr bwMode="auto"/>
        <p:txBody>
          <a:bodyPr/>
          <a:lstStyle/>
          <a:p>
            <a:pPr>
              <a:defRPr/>
            </a:pPr>
            <a:endParaRPr lang="en-US"/>
          </a:p>
        </p:txBody>
      </p:sp>
      <p:sp>
        <p:nvSpPr>
          <p:cNvPr id="1109565929"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857750758"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1994146236"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841917284"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2078972248"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330317058" name="Footer Placeholder 5"/>
          <p:cNvSpPr>
            <a:spLocks noGrp="1"/>
          </p:cNvSpPr>
          <p:nvPr>
            <p:ph type="ftr" sz="quarter" idx="11"/>
          </p:nvPr>
        </p:nvSpPr>
        <p:spPr bwMode="auto"/>
        <p:txBody>
          <a:bodyPr/>
          <a:lstStyle/>
          <a:p>
            <a:pPr>
              <a:defRPr/>
            </a:pPr>
            <a:endParaRPr lang="en-US"/>
          </a:p>
        </p:txBody>
      </p:sp>
      <p:sp>
        <p:nvSpPr>
          <p:cNvPr id="506889582"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023843291" name="Title 1"/>
          <p:cNvSpPr>
            <a:spLocks noGrp="1"/>
          </p:cNvSpPr>
          <p:nvPr>
            <p:ph type="title"/>
          </p:nvPr>
        </p:nvSpPr>
        <p:spPr bwMode="auto"/>
        <p:txBody>
          <a:bodyPr/>
          <a:lstStyle/>
          <a:p>
            <a:pPr>
              <a:defRPr/>
            </a:pPr>
            <a:r>
              <a:rPr lang="en-US"/>
              <a:t>Click to edit Master title style</a:t>
            </a:r>
            <a:endParaRPr lang="en-US"/>
          </a:p>
        </p:txBody>
      </p:sp>
      <p:sp>
        <p:nvSpPr>
          <p:cNvPr id="1554652150"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74482115"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371111968" name="Footer Placeholder 4"/>
          <p:cNvSpPr>
            <a:spLocks noGrp="1"/>
          </p:cNvSpPr>
          <p:nvPr>
            <p:ph type="ftr" sz="quarter" idx="11"/>
          </p:nvPr>
        </p:nvSpPr>
        <p:spPr bwMode="auto"/>
        <p:txBody>
          <a:bodyPr/>
          <a:lstStyle/>
          <a:p>
            <a:pPr>
              <a:defRPr/>
            </a:pPr>
            <a:endParaRPr lang="en-US"/>
          </a:p>
        </p:txBody>
      </p:sp>
      <p:sp>
        <p:nvSpPr>
          <p:cNvPr id="29224120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549761282"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317168773"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15728212"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434826732" name="Footer Placeholder 4"/>
          <p:cNvSpPr>
            <a:spLocks noGrp="1"/>
          </p:cNvSpPr>
          <p:nvPr>
            <p:ph type="ftr" sz="quarter" idx="11"/>
          </p:nvPr>
        </p:nvSpPr>
        <p:spPr bwMode="auto"/>
        <p:txBody>
          <a:bodyPr/>
          <a:lstStyle/>
          <a:p>
            <a:pPr>
              <a:defRPr/>
            </a:pPr>
            <a:endParaRPr lang="en-US"/>
          </a:p>
        </p:txBody>
      </p:sp>
      <p:sp>
        <p:nvSpPr>
          <p:cNvPr id="46926455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403023670"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002587803"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12931101"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1777495582"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308841496"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F2937"/>
        </a:solidFill>
      </p:bgPr>
    </p:bg>
    <p:spTree>
      <p:nvGrpSpPr>
        <p:cNvPr id="1" name=""/>
        <p:cNvGrpSpPr/>
        <p:nvPr/>
      </p:nvGrpSpPr>
      <p:grpSpPr bwMode="auto">
        <a:xfrm>
          <a:off x="0" y="0"/>
          <a:ext cx="0" cy="0"/>
          <a:chOff x="0" y="0"/>
          <a:chExt cx="0" cy="0"/>
        </a:xfrm>
      </p:grpSpPr>
      <p:sp>
        <p:nvSpPr>
          <p:cNvPr id="2066841148" name="Rectangle 1"/>
          <p:cNvSpPr/>
          <p:nvPr/>
        </p:nvSpPr>
        <p:spPr bwMode="auto">
          <a:xfrm>
            <a:off x="0" y="2331720"/>
            <a:ext cx="12191695" cy="2194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5655111" name="TextBox 2"/>
          <p:cNvSpPr txBox="1"/>
          <p:nvPr/>
        </p:nvSpPr>
        <p:spPr bwMode="auto">
          <a:xfrm>
            <a:off x="548640" y="640080"/>
            <a:ext cx="10972800" cy="914400"/>
          </a:xfrm>
          <a:prstGeom prst="rect">
            <a:avLst/>
          </a:prstGeom>
          <a:noFill/>
        </p:spPr>
        <p:txBody>
          <a:bodyPr wrap="square" anchor="t">
            <a:spAutoFit/>
          </a:bodyPr>
          <a:lstStyle/>
          <a:p>
            <a:pPr algn="ctr">
              <a:spcAft>
                <a:spcPts val="600"/>
              </a:spcAft>
              <a:defRPr/>
            </a:pPr>
            <a:r>
              <a:rPr sz="5400" b="1">
                <a:solidFill>
                  <a:srgbClr val="FFFFFF"/>
                </a:solidFill>
                <a:latin typeface="Calibri"/>
              </a:rPr>
              <a:t>🐝</a:t>
            </a:r>
            <a:endParaRPr/>
          </a:p>
        </p:txBody>
      </p:sp>
      <p:sp>
        <p:nvSpPr>
          <p:cNvPr id="490484214" name="TextBox 3"/>
          <p:cNvSpPr txBox="1"/>
          <p:nvPr/>
        </p:nvSpPr>
        <p:spPr bwMode="auto">
          <a:xfrm>
            <a:off x="914400" y="2514600"/>
            <a:ext cx="10332720" cy="1005840"/>
          </a:xfrm>
          <a:prstGeom prst="rect">
            <a:avLst/>
          </a:prstGeom>
          <a:noFill/>
        </p:spPr>
        <p:txBody>
          <a:bodyPr wrap="square" anchor="ctr">
            <a:spAutoFit/>
          </a:bodyPr>
          <a:lstStyle/>
          <a:p>
            <a:pPr algn="ctr">
              <a:spcAft>
                <a:spcPts val="600"/>
              </a:spcAft>
              <a:defRPr/>
            </a:pPr>
            <a:r>
              <a:rPr sz="4800" b="1">
                <a:solidFill>
                  <a:srgbClr val="FFFFFF"/>
                </a:solidFill>
                <a:latin typeface="Calibri"/>
              </a:rPr>
              <a:t>MIEL APICOLE</a:t>
            </a:r>
            <a:endParaRPr/>
          </a:p>
        </p:txBody>
      </p:sp>
      <p:sp>
        <p:nvSpPr>
          <p:cNvPr id="1603617349" name="TextBox 4"/>
          <p:cNvSpPr txBox="1"/>
          <p:nvPr/>
        </p:nvSpPr>
        <p:spPr bwMode="auto">
          <a:xfrm>
            <a:off x="914400" y="3429000"/>
            <a:ext cx="10332720" cy="640080"/>
          </a:xfrm>
          <a:prstGeom prst="rect">
            <a:avLst/>
          </a:prstGeom>
          <a:noFill/>
        </p:spPr>
        <p:txBody>
          <a:bodyPr wrap="square" anchor="t">
            <a:spAutoFit/>
          </a:bodyPr>
          <a:lstStyle/>
          <a:p>
            <a:pPr algn="ctr">
              <a:spcAft>
                <a:spcPts val="600"/>
              </a:spcAft>
              <a:defRPr/>
            </a:pPr>
            <a:r>
              <a:rPr sz="2200" b="0">
                <a:solidFill>
                  <a:srgbClr val="FFFFFF"/>
                </a:solidFill>
                <a:latin typeface="Calibri"/>
              </a:rPr>
              <a:t>Site e-commerce de vente de miel artisanal</a:t>
            </a:r>
            <a:endParaRPr/>
          </a:p>
        </p:txBody>
      </p:sp>
      <p:sp>
        <p:nvSpPr>
          <p:cNvPr id="1879110006" name="TextBox 5"/>
          <p:cNvSpPr txBox="1"/>
          <p:nvPr/>
        </p:nvSpPr>
        <p:spPr bwMode="auto">
          <a:xfrm>
            <a:off x="914400" y="4800600"/>
            <a:ext cx="10332720" cy="1097280"/>
          </a:xfrm>
          <a:prstGeom prst="rect">
            <a:avLst/>
          </a:prstGeom>
          <a:noFill/>
        </p:spPr>
        <p:txBody>
          <a:bodyPr wrap="square" anchor="t">
            <a:spAutoFit/>
          </a:bodyPr>
          <a:lstStyle/>
          <a:p>
            <a:pPr algn="ctr">
              <a:spcAft>
                <a:spcPts val="1000"/>
              </a:spcAft>
              <a:defRPr/>
            </a:pPr>
            <a:r>
              <a:rPr sz="1800" b="0">
                <a:solidFill>
                  <a:srgbClr val="FFFBEB"/>
                </a:solidFill>
                <a:latin typeface="Calibri"/>
              </a:rPr>
              <a:t>Projet de fin de module — Soutenance</a:t>
            </a:r>
            <a:endParaRPr/>
          </a:p>
          <a:p>
            <a:pPr algn="ctr">
              <a:spcAft>
                <a:spcPts val="1000"/>
              </a:spcAft>
              <a:defRPr/>
            </a:pPr>
            <a:r>
              <a:rPr sz="1500" b="0">
                <a:solidFill>
                  <a:srgbClr val="9CA3AF"/>
                </a:solidFill>
                <a:latin typeface="Calibri"/>
              </a:rPr>
              <a:t>Symfony 7 · PHP · MySQL · Docker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597802792"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95545805"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1486047"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Présentation du projet</a:t>
            </a:r>
            <a:endParaRPr/>
          </a:p>
        </p:txBody>
      </p:sp>
      <p:sp>
        <p:nvSpPr>
          <p:cNvPr id="1809587314"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Contexte · objectifs · rôles</a:t>
            </a:r>
            <a:endParaRPr/>
          </a:p>
        </p:txBody>
      </p:sp>
      <p:sp>
        <p:nvSpPr>
          <p:cNvPr id="1032839968" name="TextBox 5"/>
          <p:cNvSpPr txBox="1"/>
          <p:nvPr/>
        </p:nvSpPr>
        <p:spPr bwMode="auto">
          <a:xfrm>
            <a:off x="548640" y="1371600"/>
            <a:ext cx="11064240" cy="1097280"/>
          </a:xfrm>
          <a:prstGeom prst="rect">
            <a:avLst/>
          </a:prstGeom>
          <a:noFill/>
        </p:spPr>
        <p:txBody>
          <a:bodyPr wrap="square" anchor="t">
            <a:spAutoFit/>
          </a:bodyPr>
          <a:lstStyle/>
          <a:p>
            <a:pPr algn="l">
              <a:spcAft>
                <a:spcPts val="600"/>
              </a:spcAft>
              <a:defRPr/>
            </a:pPr>
            <a:r>
              <a:rPr sz="1800" b="0">
                <a:solidFill>
                  <a:srgbClr val="4B5563"/>
                </a:solidFill>
                <a:latin typeface="Calibri"/>
              </a:rPr>
              <a:t>L'idée : un apiculteur qui veut vendre son miel en ligne tout seul, sans passer par une grosse plateforme. Il doit pouvoir présenter ses produits, gérer ses commandes et garder ses clients.</a:t>
            </a:r>
            <a:endParaRPr/>
          </a:p>
        </p:txBody>
      </p:sp>
      <p:sp>
        <p:nvSpPr>
          <p:cNvPr id="1420984649" name="TextBox 6"/>
          <p:cNvSpPr txBox="1"/>
          <p:nvPr/>
        </p:nvSpPr>
        <p:spPr bwMode="auto">
          <a:xfrm>
            <a:off x="548640" y="2560320"/>
            <a:ext cx="5486400" cy="457200"/>
          </a:xfrm>
          <a:prstGeom prst="rect">
            <a:avLst/>
          </a:prstGeom>
          <a:noFill/>
        </p:spPr>
        <p:txBody>
          <a:bodyPr wrap="square" anchor="t">
            <a:spAutoFit/>
          </a:bodyPr>
          <a:lstStyle/>
          <a:p>
            <a:pPr algn="l">
              <a:spcAft>
                <a:spcPts val="600"/>
              </a:spcAft>
              <a:defRPr/>
            </a:pPr>
            <a:r>
              <a:rPr sz="2000" b="1">
                <a:solidFill>
                  <a:srgbClr val="92400E"/>
                </a:solidFill>
                <a:latin typeface="Calibri"/>
              </a:rPr>
              <a:t>Ce que le site doit faire</a:t>
            </a:r>
            <a:endParaRPr/>
          </a:p>
        </p:txBody>
      </p:sp>
      <p:sp>
        <p:nvSpPr>
          <p:cNvPr id="1119272948" name="TextBox 7"/>
          <p:cNvSpPr txBox="1"/>
          <p:nvPr/>
        </p:nvSpPr>
        <p:spPr bwMode="auto">
          <a:xfrm>
            <a:off x="548640" y="3017519"/>
            <a:ext cx="5577840" cy="2743200"/>
          </a:xfrm>
          <a:prstGeom prst="rect">
            <a:avLst/>
          </a:prstGeom>
          <a:noFill/>
        </p:spPr>
        <p:txBody>
          <a:bodyPr wrap="square" anchor="t">
            <a:spAutoFit/>
          </a:bodyPr>
          <a:lstStyle/>
          <a:p>
            <a:pPr algn="l">
              <a:spcAft>
                <a:spcPts val="1000"/>
              </a:spcAft>
              <a:defRPr/>
            </a:pPr>
            <a:r>
              <a:rPr sz="1600" b="0">
                <a:solidFill>
                  <a:srgbClr val="4B5563"/>
                </a:solidFill>
                <a:latin typeface="Calibri"/>
              </a:rPr>
              <a:t>•  Montrer les produits joliment</a:t>
            </a:r>
            <a:endParaRPr/>
          </a:p>
          <a:p>
            <a:pPr algn="l">
              <a:spcAft>
                <a:spcPts val="1000"/>
              </a:spcAft>
              <a:defRPr/>
            </a:pPr>
            <a:r>
              <a:rPr sz="1600" b="0">
                <a:solidFill>
                  <a:srgbClr val="4B5563"/>
                </a:solidFill>
                <a:latin typeface="Calibri"/>
              </a:rPr>
              <a:t>•  Tout le parcours d'achat : panier → commande → facture</a:t>
            </a:r>
            <a:endParaRPr/>
          </a:p>
          <a:p>
            <a:pPr algn="l">
              <a:spcAft>
                <a:spcPts val="1000"/>
              </a:spcAft>
              <a:defRPr/>
            </a:pPr>
            <a:r>
              <a:rPr sz="1600" b="0">
                <a:solidFill>
                  <a:srgbClr val="4B5563"/>
                </a:solidFill>
                <a:latin typeface="Calibri"/>
              </a:rPr>
              <a:t>•  Une partie admin pour tout gérer</a:t>
            </a:r>
            <a:endParaRPr/>
          </a:p>
          <a:p>
            <a:pPr algn="l">
              <a:spcAft>
                <a:spcPts val="1000"/>
              </a:spcAft>
              <a:defRPr/>
            </a:pPr>
            <a:r>
              <a:rPr sz="1600" b="0">
                <a:solidFill>
                  <a:srgbClr val="4B5563"/>
                </a:solidFill>
                <a:latin typeface="Calibri"/>
              </a:rPr>
              <a:t>•  Des comptes clients (connexion, etc.)</a:t>
            </a:r>
            <a:endParaRPr/>
          </a:p>
          <a:p>
            <a:pPr algn="l">
              <a:spcAft>
                <a:spcPts val="1000"/>
              </a:spcAft>
              <a:defRPr/>
            </a:pPr>
            <a:r>
              <a:rPr sz="1600" b="0">
                <a:solidFill>
                  <a:srgbClr val="4B5563"/>
                </a:solidFill>
                <a:latin typeface="Calibri"/>
              </a:rPr>
              <a:t>•  Des avis clients, validés par l'admin</a:t>
            </a:r>
            <a:endParaRPr/>
          </a:p>
        </p:txBody>
      </p:sp>
      <p:sp>
        <p:nvSpPr>
          <p:cNvPr id="2138466321" name="TextBox 8"/>
          <p:cNvSpPr txBox="1"/>
          <p:nvPr/>
        </p:nvSpPr>
        <p:spPr bwMode="auto">
          <a:xfrm>
            <a:off x="6309360" y="2560320"/>
            <a:ext cx="5486400" cy="457200"/>
          </a:xfrm>
          <a:prstGeom prst="rect">
            <a:avLst/>
          </a:prstGeom>
          <a:noFill/>
        </p:spPr>
        <p:txBody>
          <a:bodyPr wrap="square" anchor="t">
            <a:spAutoFit/>
          </a:bodyPr>
          <a:lstStyle/>
          <a:p>
            <a:pPr algn="l">
              <a:spcAft>
                <a:spcPts val="600"/>
              </a:spcAft>
              <a:defRPr/>
            </a:pPr>
            <a:r>
              <a:rPr sz="2000" b="1">
                <a:solidFill>
                  <a:srgbClr val="92400E"/>
                </a:solidFill>
                <a:latin typeface="Calibri"/>
              </a:rPr>
              <a:t>Deux types d'utilisateurs</a:t>
            </a:r>
            <a:endParaRPr/>
          </a:p>
        </p:txBody>
      </p:sp>
      <p:sp>
        <p:nvSpPr>
          <p:cNvPr id="238612668" name="TextBox 9"/>
          <p:cNvSpPr txBox="1"/>
          <p:nvPr/>
        </p:nvSpPr>
        <p:spPr bwMode="auto">
          <a:xfrm>
            <a:off x="6309360" y="3017519"/>
            <a:ext cx="5303520" cy="2743200"/>
          </a:xfrm>
          <a:prstGeom prst="rect">
            <a:avLst/>
          </a:prstGeom>
          <a:noFill/>
        </p:spPr>
        <p:txBody>
          <a:bodyPr wrap="square" anchor="t">
            <a:spAutoFit/>
          </a:bodyPr>
          <a:lstStyle/>
          <a:p>
            <a:pPr algn="l">
              <a:spcAft>
                <a:spcPts val="800"/>
              </a:spcAft>
              <a:defRPr/>
            </a:pPr>
            <a:r>
              <a:rPr sz="1600" b="1">
                <a:solidFill>
                  <a:srgbClr val="1F2937"/>
                </a:solidFill>
                <a:latin typeface="Calibri"/>
              </a:rPr>
              <a:t>Le CLIENT</a:t>
            </a:r>
            <a:endParaRPr/>
          </a:p>
          <a:p>
            <a:pPr algn="l">
              <a:spcAft>
                <a:spcPts val="800"/>
              </a:spcAft>
              <a:defRPr/>
            </a:pPr>
            <a:r>
              <a:rPr sz="1500" b="0">
                <a:solidFill>
                  <a:srgbClr val="4B5563"/>
                </a:solidFill>
                <a:latin typeface="Calibri"/>
              </a:rPr>
              <a:t>–  il commande, gère son compte, télécharge ses factures, laisse des avis</a:t>
            </a:r>
            <a:endParaRPr/>
          </a:p>
          <a:p>
            <a:pPr algn="l">
              <a:spcAft>
                <a:spcPts val="800"/>
              </a:spcAft>
              <a:defRPr/>
            </a:pPr>
            <a:r>
              <a:rPr sz="1600" b="1">
                <a:solidFill>
                  <a:srgbClr val="1F2937"/>
                </a:solidFill>
                <a:latin typeface="Calibri"/>
              </a:rPr>
              <a:t>L'ADMIN</a:t>
            </a:r>
            <a:endParaRPr/>
          </a:p>
          <a:p>
            <a:pPr algn="l">
              <a:spcAft>
                <a:spcPts val="800"/>
              </a:spcAft>
              <a:defRPr/>
            </a:pPr>
            <a:r>
              <a:rPr sz="1500" b="0">
                <a:solidFill>
                  <a:srgbClr val="4B5563"/>
                </a:solidFill>
                <a:latin typeface="Calibri"/>
              </a:rPr>
              <a:t>–  il gère les produits, les commandes, les utilisateurs et les avis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033217024"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7446311"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75992543"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Tour rapide des fonctionnalités</a:t>
            </a:r>
            <a:endParaRPr/>
          </a:p>
        </p:txBody>
      </p:sp>
      <p:sp>
        <p:nvSpPr>
          <p:cNvPr id="1580602250"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Avant la démo</a:t>
            </a:r>
            <a:endParaRPr/>
          </a:p>
        </p:txBody>
      </p:sp>
      <p:sp>
        <p:nvSpPr>
          <p:cNvPr id="1396654179" name="Rectangle 5"/>
          <p:cNvSpPr/>
          <p:nvPr/>
        </p:nvSpPr>
        <p:spPr bwMode="auto">
          <a:xfrm>
            <a:off x="548640" y="1325880"/>
            <a:ext cx="3611880" cy="512064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65851154" name="TextBox 6"/>
          <p:cNvSpPr txBox="1"/>
          <p:nvPr/>
        </p:nvSpPr>
        <p:spPr bwMode="auto">
          <a:xfrm>
            <a:off x="731520" y="1463040"/>
            <a:ext cx="3291840" cy="457200"/>
          </a:xfrm>
          <a:prstGeom prst="rect">
            <a:avLst/>
          </a:prstGeom>
          <a:noFill/>
        </p:spPr>
        <p:txBody>
          <a:bodyPr wrap="square" anchor="t">
            <a:spAutoFit/>
          </a:bodyPr>
          <a:lstStyle/>
          <a:p>
            <a:pPr algn="l">
              <a:spcAft>
                <a:spcPts val="600"/>
              </a:spcAft>
              <a:defRPr/>
            </a:pPr>
            <a:r>
              <a:rPr sz="1500" b="1">
                <a:solidFill>
                  <a:srgbClr val="92400E"/>
                </a:solidFill>
                <a:latin typeface="Calibri"/>
              </a:rPr>
              <a:t>CÔTÉ CLIENT</a:t>
            </a:r>
            <a:endParaRPr/>
          </a:p>
        </p:txBody>
      </p:sp>
      <p:sp>
        <p:nvSpPr>
          <p:cNvPr id="1930547952" name="TextBox 7"/>
          <p:cNvSpPr txBox="1"/>
          <p:nvPr/>
        </p:nvSpPr>
        <p:spPr bwMode="auto">
          <a:xfrm>
            <a:off x="731520" y="2011680"/>
            <a:ext cx="3291840" cy="4297680"/>
          </a:xfrm>
          <a:prstGeom prst="rect">
            <a:avLst/>
          </a:prstGeom>
          <a:noFill/>
        </p:spPr>
        <p:txBody>
          <a:bodyPr wrap="square" anchor="t">
            <a:spAutoFit/>
          </a:bodyPr>
          <a:lstStyle/>
          <a:p>
            <a:pPr algn="l">
              <a:spcAft>
                <a:spcPts val="700"/>
              </a:spcAft>
              <a:defRPr/>
            </a:pPr>
            <a:r>
              <a:rPr sz="1350" b="0">
                <a:solidFill>
                  <a:srgbClr val="4B5563"/>
                </a:solidFill>
                <a:latin typeface="Calibri"/>
              </a:rPr>
              <a:t>•  Accueil (best-sellers, promos, histoire)</a:t>
            </a:r>
            <a:endParaRPr/>
          </a:p>
          <a:p>
            <a:pPr algn="l">
              <a:spcAft>
                <a:spcPts val="700"/>
              </a:spcAft>
              <a:defRPr/>
            </a:pPr>
            <a:r>
              <a:rPr sz="1350" b="0">
                <a:solidFill>
                  <a:srgbClr val="4B5563"/>
                </a:solidFill>
                <a:latin typeface="Calibri"/>
              </a:rPr>
              <a:t>•  Catalogue + filtres + tri</a:t>
            </a:r>
            <a:endParaRPr/>
          </a:p>
          <a:p>
            <a:pPr algn="l">
              <a:spcAft>
                <a:spcPts val="700"/>
              </a:spcAft>
              <a:defRPr/>
            </a:pPr>
            <a:r>
              <a:rPr sz="1350" b="0">
                <a:solidFill>
                  <a:srgbClr val="4B5563"/>
                </a:solidFill>
                <a:latin typeface="Calibri"/>
              </a:rPr>
              <a:t>•  Fiche produit (variantes, stock, avis)</a:t>
            </a:r>
            <a:endParaRPr/>
          </a:p>
          <a:p>
            <a:pPr algn="l">
              <a:spcAft>
                <a:spcPts val="700"/>
              </a:spcAft>
              <a:defRPr/>
            </a:pPr>
            <a:r>
              <a:rPr sz="1350" b="0">
                <a:solidFill>
                  <a:srgbClr val="4B5563"/>
                </a:solidFill>
                <a:latin typeface="Calibri"/>
              </a:rPr>
              <a:t>•  Panier</a:t>
            </a:r>
            <a:endParaRPr/>
          </a:p>
          <a:p>
            <a:pPr algn="l">
              <a:spcAft>
                <a:spcPts val="700"/>
              </a:spcAft>
              <a:defRPr/>
            </a:pPr>
            <a:r>
              <a:rPr sz="1350" b="0">
                <a:solidFill>
                  <a:srgbClr val="4B5563"/>
                </a:solidFill>
                <a:latin typeface="Calibri"/>
              </a:rPr>
              <a:t>•  Commande + facture PDF</a:t>
            </a:r>
            <a:endParaRPr/>
          </a:p>
          <a:p>
            <a:pPr algn="l">
              <a:spcAft>
                <a:spcPts val="700"/>
              </a:spcAft>
              <a:defRPr/>
            </a:pPr>
            <a:r>
              <a:rPr sz="1350" b="0">
                <a:solidFill>
                  <a:srgbClr val="4B5563"/>
                </a:solidFill>
                <a:latin typeface="Calibri"/>
              </a:rPr>
              <a:t>•  Espace client (profil, commandes)</a:t>
            </a:r>
            <a:endParaRPr/>
          </a:p>
          <a:p>
            <a:pPr algn="l">
              <a:spcAft>
                <a:spcPts val="700"/>
              </a:spcAft>
              <a:defRPr/>
            </a:pPr>
            <a:r>
              <a:rPr sz="1350" b="0">
                <a:solidFill>
                  <a:srgbClr val="4B5563"/>
                </a:solidFill>
                <a:latin typeface="Calibri"/>
              </a:rPr>
              <a:t>•  Avis produits</a:t>
            </a:r>
            <a:endParaRPr/>
          </a:p>
          <a:p>
            <a:pPr algn="l">
              <a:spcAft>
                <a:spcPts val="700"/>
              </a:spcAft>
              <a:defRPr/>
            </a:pPr>
            <a:r>
              <a:rPr sz="1350" b="0">
                <a:solidFill>
                  <a:srgbClr val="4B5563"/>
                </a:solidFill>
                <a:latin typeface="Calibri"/>
              </a:rPr>
              <a:t>•  À propos / Contact</a:t>
            </a:r>
            <a:endParaRPr/>
          </a:p>
        </p:txBody>
      </p:sp>
      <p:sp>
        <p:nvSpPr>
          <p:cNvPr id="1999621389" name="Rectangle 8"/>
          <p:cNvSpPr/>
          <p:nvPr/>
        </p:nvSpPr>
        <p:spPr bwMode="auto">
          <a:xfrm>
            <a:off x="4325112" y="1325880"/>
            <a:ext cx="3611880" cy="512064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75541312" name="TextBox 9"/>
          <p:cNvSpPr txBox="1"/>
          <p:nvPr/>
        </p:nvSpPr>
        <p:spPr bwMode="auto">
          <a:xfrm>
            <a:off x="4507992" y="1463040"/>
            <a:ext cx="3291840" cy="457200"/>
          </a:xfrm>
          <a:prstGeom prst="rect">
            <a:avLst/>
          </a:prstGeom>
          <a:noFill/>
        </p:spPr>
        <p:txBody>
          <a:bodyPr wrap="square" anchor="t">
            <a:spAutoFit/>
          </a:bodyPr>
          <a:lstStyle/>
          <a:p>
            <a:pPr algn="l">
              <a:spcAft>
                <a:spcPts val="600"/>
              </a:spcAft>
              <a:defRPr/>
            </a:pPr>
            <a:r>
              <a:rPr sz="1500" b="1">
                <a:solidFill>
                  <a:srgbClr val="92400E"/>
                </a:solidFill>
                <a:latin typeface="Calibri"/>
              </a:rPr>
              <a:t>CÔTÉ ADMIN</a:t>
            </a:r>
            <a:endParaRPr/>
          </a:p>
        </p:txBody>
      </p:sp>
      <p:sp>
        <p:nvSpPr>
          <p:cNvPr id="851954263" name="TextBox 10"/>
          <p:cNvSpPr txBox="1"/>
          <p:nvPr/>
        </p:nvSpPr>
        <p:spPr bwMode="auto">
          <a:xfrm>
            <a:off x="4507992" y="2011680"/>
            <a:ext cx="3291840" cy="4297680"/>
          </a:xfrm>
          <a:prstGeom prst="rect">
            <a:avLst/>
          </a:prstGeom>
          <a:noFill/>
        </p:spPr>
        <p:txBody>
          <a:bodyPr wrap="square" anchor="t">
            <a:spAutoFit/>
          </a:bodyPr>
          <a:lstStyle/>
          <a:p>
            <a:pPr algn="l">
              <a:spcAft>
                <a:spcPts val="700"/>
              </a:spcAft>
              <a:defRPr/>
            </a:pPr>
            <a:r>
              <a:rPr sz="1350" b="0">
                <a:solidFill>
                  <a:srgbClr val="4B5563"/>
                </a:solidFill>
                <a:latin typeface="Calibri"/>
              </a:rPr>
              <a:t>•  Tableau de bord</a:t>
            </a:r>
            <a:endParaRPr/>
          </a:p>
          <a:p>
            <a:pPr algn="l">
              <a:spcAft>
                <a:spcPts val="700"/>
              </a:spcAft>
              <a:defRPr/>
            </a:pPr>
            <a:r>
              <a:rPr sz="1350" b="0">
                <a:solidFill>
                  <a:srgbClr val="4B5563"/>
                </a:solidFill>
                <a:latin typeface="Calibri"/>
              </a:rPr>
              <a:t>•  Produits (images, variantes)</a:t>
            </a:r>
            <a:endParaRPr/>
          </a:p>
          <a:p>
            <a:pPr algn="l">
              <a:spcAft>
                <a:spcPts val="700"/>
              </a:spcAft>
              <a:defRPr/>
            </a:pPr>
            <a:r>
              <a:rPr sz="1350" b="0">
                <a:solidFill>
                  <a:srgbClr val="4B5563"/>
                </a:solidFill>
                <a:latin typeface="Calibri"/>
              </a:rPr>
              <a:t>•  Catégories</a:t>
            </a:r>
            <a:endParaRPr/>
          </a:p>
          <a:p>
            <a:pPr algn="l">
              <a:spcAft>
                <a:spcPts val="700"/>
              </a:spcAft>
              <a:defRPr/>
            </a:pPr>
            <a:r>
              <a:rPr sz="1350" b="0">
                <a:solidFill>
                  <a:srgbClr val="4B5563"/>
                </a:solidFill>
                <a:latin typeface="Calibri"/>
              </a:rPr>
              <a:t>•  Commandes (statuts)</a:t>
            </a:r>
            <a:endParaRPr/>
          </a:p>
          <a:p>
            <a:pPr algn="l">
              <a:spcAft>
                <a:spcPts val="700"/>
              </a:spcAft>
              <a:defRPr/>
            </a:pPr>
            <a:r>
              <a:rPr sz="1350" b="0">
                <a:solidFill>
                  <a:srgbClr val="4B5563"/>
                </a:solidFill>
                <a:latin typeface="Calibri"/>
              </a:rPr>
              <a:t>•  Utilisateurs</a:t>
            </a:r>
            <a:endParaRPr/>
          </a:p>
          <a:p>
            <a:pPr algn="l">
              <a:spcAft>
                <a:spcPts val="700"/>
              </a:spcAft>
              <a:defRPr/>
            </a:pPr>
            <a:r>
              <a:rPr sz="1350" b="0">
                <a:solidFill>
                  <a:srgbClr val="4B5563"/>
                </a:solidFill>
                <a:latin typeface="Calibri"/>
              </a:rPr>
              <a:t>•  Modération des avis</a:t>
            </a:r>
            <a:endParaRPr/>
          </a:p>
          <a:p>
            <a:pPr algn="l">
              <a:spcAft>
                <a:spcPts val="700"/>
              </a:spcAft>
              <a:defRPr/>
            </a:pPr>
            <a:r>
              <a:rPr sz="1350" b="0">
                <a:solidFill>
                  <a:srgbClr val="4B5563"/>
                </a:solidFill>
                <a:latin typeface="Calibri"/>
              </a:rPr>
              <a:t>•  Factures</a:t>
            </a:r>
            <a:endParaRPr/>
          </a:p>
        </p:txBody>
      </p:sp>
      <p:sp>
        <p:nvSpPr>
          <p:cNvPr id="175964359" name="Rectangle 11"/>
          <p:cNvSpPr/>
          <p:nvPr/>
        </p:nvSpPr>
        <p:spPr bwMode="auto">
          <a:xfrm>
            <a:off x="8101584" y="1325880"/>
            <a:ext cx="3611880" cy="512064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53702231" name="TextBox 12"/>
          <p:cNvSpPr txBox="1"/>
          <p:nvPr/>
        </p:nvSpPr>
        <p:spPr bwMode="auto">
          <a:xfrm>
            <a:off x="8284464" y="1463040"/>
            <a:ext cx="3291840" cy="457200"/>
          </a:xfrm>
          <a:prstGeom prst="rect">
            <a:avLst/>
          </a:prstGeom>
          <a:noFill/>
        </p:spPr>
        <p:txBody>
          <a:bodyPr wrap="square" anchor="t">
            <a:spAutoFit/>
          </a:bodyPr>
          <a:lstStyle/>
          <a:p>
            <a:pPr algn="l">
              <a:spcAft>
                <a:spcPts val="600"/>
              </a:spcAft>
              <a:defRPr/>
            </a:pPr>
            <a:r>
              <a:rPr sz="1500" b="1">
                <a:solidFill>
                  <a:srgbClr val="92400E"/>
                </a:solidFill>
                <a:latin typeface="Calibri"/>
              </a:rPr>
              <a:t>TECHNIQUE</a:t>
            </a:r>
            <a:endParaRPr/>
          </a:p>
        </p:txBody>
      </p:sp>
      <p:sp>
        <p:nvSpPr>
          <p:cNvPr id="1077421517" name="TextBox 13"/>
          <p:cNvSpPr txBox="1"/>
          <p:nvPr/>
        </p:nvSpPr>
        <p:spPr bwMode="auto">
          <a:xfrm>
            <a:off x="8284464" y="2011680"/>
            <a:ext cx="3291840" cy="4297680"/>
          </a:xfrm>
          <a:prstGeom prst="rect">
            <a:avLst/>
          </a:prstGeom>
          <a:noFill/>
        </p:spPr>
        <p:txBody>
          <a:bodyPr wrap="square" anchor="t">
            <a:spAutoFit/>
          </a:bodyPr>
          <a:lstStyle/>
          <a:p>
            <a:pPr algn="l">
              <a:spcAft>
                <a:spcPts val="700"/>
              </a:spcAft>
              <a:defRPr/>
            </a:pPr>
            <a:r>
              <a:rPr sz="1350" b="0">
                <a:solidFill>
                  <a:srgbClr val="4B5563"/>
                </a:solidFill>
                <a:latin typeface="Calibri"/>
              </a:rPr>
              <a:t>•  Connexion / inscription maison</a:t>
            </a:r>
            <a:endParaRPr/>
          </a:p>
          <a:p>
            <a:pPr algn="l">
              <a:spcAft>
                <a:spcPts val="700"/>
              </a:spcAft>
              <a:defRPr/>
            </a:pPr>
            <a:r>
              <a:rPr sz="1350" b="0">
                <a:solidFill>
                  <a:srgbClr val="4B5563"/>
                </a:solidFill>
                <a:latin typeface="Calibri"/>
              </a:rPr>
              <a:t>•  5 e-mails automatiques</a:t>
            </a:r>
            <a:endParaRPr/>
          </a:p>
          <a:p>
            <a:pPr algn="l">
              <a:spcAft>
                <a:spcPts val="700"/>
              </a:spcAft>
              <a:defRPr/>
            </a:pPr>
            <a:r>
              <a:rPr sz="1350" b="0">
                <a:solidFill>
                  <a:srgbClr val="4B5563"/>
                </a:solidFill>
                <a:latin typeface="Calibri"/>
              </a:rPr>
              <a:t>•  Sécurité (CSRF, SQL, XSS…)</a:t>
            </a:r>
            <a:endParaRPr/>
          </a:p>
          <a:p>
            <a:pPr algn="l">
              <a:spcAft>
                <a:spcPts val="700"/>
              </a:spcAft>
              <a:defRPr/>
            </a:pPr>
            <a:r>
              <a:rPr sz="1350" b="0">
                <a:solidFill>
                  <a:srgbClr val="4B5563"/>
                </a:solidFill>
                <a:latin typeface="Calibri"/>
              </a:rPr>
              <a:t>•  SEO (sitemap, partage)</a:t>
            </a:r>
            <a:endParaRPr/>
          </a:p>
          <a:p>
            <a:pPr algn="l">
              <a:spcAft>
                <a:spcPts val="700"/>
              </a:spcAft>
              <a:defRPr/>
            </a:pPr>
            <a:r>
              <a:rPr sz="1350" b="0">
                <a:solidFill>
                  <a:srgbClr val="4B5563"/>
                </a:solidFill>
                <a:latin typeface="Calibri"/>
              </a:rPr>
              <a:t>•  Responsive mobile</a:t>
            </a:r>
            <a:endParaRPr/>
          </a:p>
          <a:p>
            <a:pPr algn="l">
              <a:spcAft>
                <a:spcPts val="700"/>
              </a:spcAft>
              <a:defRPr/>
            </a:pPr>
            <a:r>
              <a:rPr sz="1350" b="0">
                <a:solidFill>
                  <a:srgbClr val="4B5563"/>
                </a:solidFill>
                <a:latin typeface="Calibri"/>
              </a:rPr>
              <a:t>•  Docker + intégration continue</a:t>
            </a:r>
            <a:endParaRPr/>
          </a:p>
          <a:p>
            <a:pPr algn="l">
              <a:spcAft>
                <a:spcPts val="700"/>
              </a:spcAft>
              <a:defRPr/>
            </a:pPr>
            <a:r>
              <a:rPr sz="1350" b="0">
                <a:solidFill>
                  <a:srgbClr val="4B5563"/>
                </a:solidFill>
                <a:latin typeface="Calibri"/>
              </a:rPr>
              <a:t>•  Tests automatisés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396326857"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84587493"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46442420"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Technologies utilisées</a:t>
            </a:r>
            <a:endParaRPr/>
          </a:p>
        </p:txBody>
      </p:sp>
      <p:sp>
        <p:nvSpPr>
          <p:cNvPr id="1317228222"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La stack</a:t>
            </a:r>
            <a:endParaRPr/>
          </a:p>
        </p:txBody>
      </p:sp>
      <p:sp>
        <p:nvSpPr>
          <p:cNvPr id="765964067" name="Rectangle 5"/>
          <p:cNvSpPr/>
          <p:nvPr/>
        </p:nvSpPr>
        <p:spPr bwMode="auto">
          <a:xfrm>
            <a:off x="548640" y="1280160"/>
            <a:ext cx="1106424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70595047" name="TextBox 6"/>
          <p:cNvSpPr txBox="1"/>
          <p:nvPr/>
        </p:nvSpPr>
        <p:spPr bwMode="auto">
          <a:xfrm>
            <a:off x="685800" y="1280160"/>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Backend</a:t>
            </a:r>
            <a:endParaRPr/>
          </a:p>
        </p:txBody>
      </p:sp>
      <p:sp>
        <p:nvSpPr>
          <p:cNvPr id="1528655747" name="TextBox 7"/>
          <p:cNvSpPr txBox="1"/>
          <p:nvPr/>
        </p:nvSpPr>
        <p:spPr bwMode="auto">
          <a:xfrm>
            <a:off x="3200400" y="1280160"/>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PHP 8.3 · Symfony 7</a:t>
            </a:r>
            <a:endParaRPr/>
          </a:p>
        </p:txBody>
      </p:sp>
      <p:sp>
        <p:nvSpPr>
          <p:cNvPr id="831498928" name="TextBox 8"/>
          <p:cNvSpPr txBox="1"/>
          <p:nvPr/>
        </p:nvSpPr>
        <p:spPr bwMode="auto">
          <a:xfrm>
            <a:off x="6400800" y="1280160"/>
            <a:ext cx="5120640" cy="603504"/>
          </a:xfrm>
          <a:prstGeom prst="rect">
            <a:avLst/>
          </a:prstGeom>
          <a:noFill/>
        </p:spPr>
        <p:txBody>
          <a:bodyPr wrap="square" anchor="ctr">
            <a:spAutoFit/>
          </a:bodyPr>
          <a:lstStyle/>
          <a:p>
            <a:pPr algn="l">
              <a:spcAft>
                <a:spcPts val="600"/>
              </a:spcAft>
              <a:defRPr/>
            </a:pPr>
            <a:r>
              <a:rPr sz="1200" b="0">
                <a:solidFill>
                  <a:srgbClr val="4B5563"/>
                </a:solidFill>
                <a:latin typeface="Calibri"/>
              </a:rPr>
              <a:t>Le framework, il impose une organisation MVC propre</a:t>
            </a:r>
            <a:endParaRPr/>
          </a:p>
        </p:txBody>
      </p:sp>
      <p:sp>
        <p:nvSpPr>
          <p:cNvPr id="1569865174" name="Rectangle 9"/>
          <p:cNvSpPr/>
          <p:nvPr/>
        </p:nvSpPr>
        <p:spPr bwMode="auto">
          <a:xfrm>
            <a:off x="548640" y="1901952"/>
            <a:ext cx="11064240" cy="603504"/>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5901122" name="TextBox 10"/>
          <p:cNvSpPr txBox="1"/>
          <p:nvPr/>
        </p:nvSpPr>
        <p:spPr bwMode="auto">
          <a:xfrm>
            <a:off x="685800" y="1901952"/>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Base de données</a:t>
            </a:r>
            <a:endParaRPr/>
          </a:p>
        </p:txBody>
      </p:sp>
      <p:sp>
        <p:nvSpPr>
          <p:cNvPr id="1744495549" name="TextBox 11"/>
          <p:cNvSpPr txBox="1"/>
          <p:nvPr/>
        </p:nvSpPr>
        <p:spPr bwMode="auto">
          <a:xfrm>
            <a:off x="3200400" y="1901952"/>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MySQL 8 · Doctrine</a:t>
            </a:r>
            <a:endParaRPr/>
          </a:p>
        </p:txBody>
      </p:sp>
      <p:sp>
        <p:nvSpPr>
          <p:cNvPr id="1142400318" name="TextBox 12"/>
          <p:cNvSpPr txBox="1"/>
          <p:nvPr/>
        </p:nvSpPr>
        <p:spPr bwMode="auto">
          <a:xfrm>
            <a:off x="6400800" y="1901952"/>
            <a:ext cx="5120640" cy="603504"/>
          </a:xfrm>
          <a:prstGeom prst="rect">
            <a:avLst/>
          </a:prstGeom>
          <a:noFill/>
        </p:spPr>
        <p:txBody>
          <a:bodyPr wrap="square" anchor="ctr">
            <a:spAutoFit/>
          </a:bodyPr>
          <a:lstStyle/>
          <a:p>
            <a:pPr algn="l">
              <a:spcAft>
                <a:spcPts val="600"/>
              </a:spcAft>
              <a:defRPr/>
            </a:pPr>
            <a:r>
              <a:rPr sz="1200" b="0">
                <a:solidFill>
                  <a:srgbClr val="4B5563"/>
                </a:solidFill>
                <a:latin typeface="Calibri"/>
              </a:rPr>
              <a:t>Doctrine = l'ORM, il sécurise et simplifie les requêtes</a:t>
            </a:r>
            <a:endParaRPr/>
          </a:p>
        </p:txBody>
      </p:sp>
      <p:sp>
        <p:nvSpPr>
          <p:cNvPr id="1758310279" name="Rectangle 13"/>
          <p:cNvSpPr/>
          <p:nvPr/>
        </p:nvSpPr>
        <p:spPr bwMode="auto">
          <a:xfrm>
            <a:off x="548640" y="2523744"/>
            <a:ext cx="1106424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85238995" name="TextBox 14"/>
          <p:cNvSpPr txBox="1"/>
          <p:nvPr/>
        </p:nvSpPr>
        <p:spPr bwMode="auto">
          <a:xfrm>
            <a:off x="685800" y="2523744"/>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Templates</a:t>
            </a:r>
            <a:endParaRPr/>
          </a:p>
        </p:txBody>
      </p:sp>
      <p:sp>
        <p:nvSpPr>
          <p:cNvPr id="745500462" name="TextBox 15"/>
          <p:cNvSpPr txBox="1"/>
          <p:nvPr/>
        </p:nvSpPr>
        <p:spPr bwMode="auto">
          <a:xfrm>
            <a:off x="3200400" y="2523744"/>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Twig</a:t>
            </a:r>
            <a:endParaRPr/>
          </a:p>
        </p:txBody>
      </p:sp>
      <p:sp>
        <p:nvSpPr>
          <p:cNvPr id="968981907" name="TextBox 16"/>
          <p:cNvSpPr txBox="1"/>
          <p:nvPr/>
        </p:nvSpPr>
        <p:spPr bwMode="auto">
          <a:xfrm>
            <a:off x="6400800" y="2523744"/>
            <a:ext cx="5120640" cy="603504"/>
          </a:xfrm>
          <a:prstGeom prst="rect">
            <a:avLst/>
          </a:prstGeom>
          <a:noFill/>
        </p:spPr>
        <p:txBody>
          <a:bodyPr wrap="square" anchor="ctr">
            <a:spAutoFit/>
          </a:bodyPr>
          <a:lstStyle/>
          <a:p>
            <a:pPr algn="l">
              <a:spcAft>
                <a:spcPts val="600"/>
              </a:spcAft>
              <a:defRPr/>
            </a:pPr>
            <a:r>
              <a:rPr sz="1200" b="0">
                <a:solidFill>
                  <a:srgbClr val="4B5563"/>
                </a:solidFill>
                <a:latin typeface="Calibri"/>
              </a:rPr>
              <a:t>Le moteur des pages HTML, protège du XSS</a:t>
            </a:r>
            <a:endParaRPr/>
          </a:p>
        </p:txBody>
      </p:sp>
      <p:sp>
        <p:nvSpPr>
          <p:cNvPr id="388831430" name="Rectangle 17"/>
          <p:cNvSpPr/>
          <p:nvPr/>
        </p:nvSpPr>
        <p:spPr bwMode="auto">
          <a:xfrm>
            <a:off x="548640" y="3145536"/>
            <a:ext cx="11064240" cy="603504"/>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33806974" name="TextBox 18"/>
          <p:cNvSpPr txBox="1"/>
          <p:nvPr/>
        </p:nvSpPr>
        <p:spPr bwMode="auto">
          <a:xfrm>
            <a:off x="685800" y="3145536"/>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Front / CSS</a:t>
            </a:r>
            <a:endParaRPr/>
          </a:p>
        </p:txBody>
      </p:sp>
      <p:sp>
        <p:nvSpPr>
          <p:cNvPr id="1355695335" name="TextBox 19"/>
          <p:cNvSpPr txBox="1"/>
          <p:nvPr/>
        </p:nvSpPr>
        <p:spPr bwMode="auto">
          <a:xfrm>
            <a:off x="3200400" y="3145536"/>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Tailwind · AssetMapper</a:t>
            </a:r>
            <a:endParaRPr/>
          </a:p>
        </p:txBody>
      </p:sp>
      <p:sp>
        <p:nvSpPr>
          <p:cNvPr id="374017862" name="TextBox 20"/>
          <p:cNvSpPr txBox="1"/>
          <p:nvPr/>
        </p:nvSpPr>
        <p:spPr bwMode="auto">
          <a:xfrm>
            <a:off x="6400800" y="3145536"/>
            <a:ext cx="5120640" cy="603504"/>
          </a:xfrm>
          <a:prstGeom prst="rect">
            <a:avLst/>
          </a:prstGeom>
          <a:noFill/>
        </p:spPr>
        <p:txBody>
          <a:bodyPr wrap="square" anchor="ctr">
            <a:spAutoFit/>
          </a:bodyPr>
          <a:lstStyle/>
          <a:p>
            <a:pPr algn="l">
              <a:spcAft>
                <a:spcPts val="600"/>
              </a:spcAft>
              <a:defRPr/>
            </a:pPr>
            <a:r>
              <a:rPr sz="1200" b="0">
                <a:solidFill>
                  <a:srgbClr val="4B5563"/>
                </a:solidFill>
                <a:latin typeface="Calibri"/>
              </a:rPr>
              <a:t>Tailwind pour le style, AssetMapper pour le JS (sans Node)</a:t>
            </a:r>
            <a:endParaRPr/>
          </a:p>
        </p:txBody>
      </p:sp>
      <p:sp>
        <p:nvSpPr>
          <p:cNvPr id="944516295" name="Rectangle 21"/>
          <p:cNvSpPr/>
          <p:nvPr/>
        </p:nvSpPr>
        <p:spPr bwMode="auto">
          <a:xfrm>
            <a:off x="548640" y="3767328"/>
            <a:ext cx="1106424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1850371" name="TextBox 22"/>
          <p:cNvSpPr txBox="1"/>
          <p:nvPr/>
        </p:nvSpPr>
        <p:spPr bwMode="auto">
          <a:xfrm>
            <a:off x="685800" y="3767328"/>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PDF</a:t>
            </a:r>
            <a:endParaRPr/>
          </a:p>
        </p:txBody>
      </p:sp>
      <p:sp>
        <p:nvSpPr>
          <p:cNvPr id="1817535724" name="TextBox 23"/>
          <p:cNvSpPr txBox="1"/>
          <p:nvPr/>
        </p:nvSpPr>
        <p:spPr bwMode="auto">
          <a:xfrm>
            <a:off x="3200400" y="3767328"/>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dompdf</a:t>
            </a:r>
            <a:endParaRPr/>
          </a:p>
        </p:txBody>
      </p:sp>
      <p:sp>
        <p:nvSpPr>
          <p:cNvPr id="479482344" name="TextBox 24"/>
          <p:cNvSpPr txBox="1"/>
          <p:nvPr/>
        </p:nvSpPr>
        <p:spPr bwMode="auto">
          <a:xfrm>
            <a:off x="6400800" y="3767328"/>
            <a:ext cx="5120640" cy="603504"/>
          </a:xfrm>
          <a:prstGeom prst="rect">
            <a:avLst/>
          </a:prstGeom>
          <a:noFill/>
        </p:spPr>
        <p:txBody>
          <a:bodyPr wrap="square" anchor="ctr">
            <a:spAutoFit/>
          </a:bodyPr>
          <a:lstStyle/>
          <a:p>
            <a:pPr algn="l">
              <a:spcAft>
                <a:spcPts val="600"/>
              </a:spcAft>
              <a:defRPr/>
            </a:pPr>
            <a:r>
              <a:rPr sz="1200" b="0">
                <a:solidFill>
                  <a:srgbClr val="4B5563"/>
                </a:solidFill>
                <a:latin typeface="Calibri"/>
              </a:rPr>
              <a:t>Pour générer les factures</a:t>
            </a:r>
            <a:endParaRPr/>
          </a:p>
        </p:txBody>
      </p:sp>
      <p:sp>
        <p:nvSpPr>
          <p:cNvPr id="284689320" name="Rectangle 25"/>
          <p:cNvSpPr/>
          <p:nvPr/>
        </p:nvSpPr>
        <p:spPr bwMode="auto">
          <a:xfrm>
            <a:off x="548640" y="4389120"/>
            <a:ext cx="11064240" cy="603504"/>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05098" name="TextBox 26"/>
          <p:cNvSpPr txBox="1"/>
          <p:nvPr/>
        </p:nvSpPr>
        <p:spPr bwMode="auto">
          <a:xfrm>
            <a:off x="685800" y="4389120"/>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E-mails</a:t>
            </a:r>
            <a:endParaRPr/>
          </a:p>
        </p:txBody>
      </p:sp>
      <p:sp>
        <p:nvSpPr>
          <p:cNvPr id="173263822" name="TextBox 27"/>
          <p:cNvSpPr txBox="1"/>
          <p:nvPr/>
        </p:nvSpPr>
        <p:spPr bwMode="auto">
          <a:xfrm>
            <a:off x="3200400" y="4389120"/>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Symfony Mailer · Mailpit</a:t>
            </a:r>
            <a:endParaRPr/>
          </a:p>
        </p:txBody>
      </p:sp>
      <p:sp>
        <p:nvSpPr>
          <p:cNvPr id="132713062" name="TextBox 28"/>
          <p:cNvSpPr txBox="1"/>
          <p:nvPr/>
        </p:nvSpPr>
        <p:spPr bwMode="auto">
          <a:xfrm>
            <a:off x="6400800" y="4389120"/>
            <a:ext cx="5120640" cy="603504"/>
          </a:xfrm>
          <a:prstGeom prst="rect">
            <a:avLst/>
          </a:prstGeom>
          <a:noFill/>
        </p:spPr>
        <p:txBody>
          <a:bodyPr wrap="square" anchor="ctr">
            <a:spAutoFit/>
          </a:bodyPr>
          <a:lstStyle/>
          <a:p>
            <a:pPr algn="l">
              <a:spcAft>
                <a:spcPts val="600"/>
              </a:spcAft>
              <a:defRPr/>
            </a:pPr>
            <a:r>
              <a:rPr sz="1200" b="0">
                <a:solidFill>
                  <a:srgbClr val="4B5563"/>
                </a:solidFill>
                <a:latin typeface="Calibri"/>
              </a:rPr>
              <a:t>Mailpit = fausse boîte mail pour tester</a:t>
            </a:r>
            <a:endParaRPr/>
          </a:p>
        </p:txBody>
      </p:sp>
      <p:sp>
        <p:nvSpPr>
          <p:cNvPr id="70254683" name="Rectangle 29"/>
          <p:cNvSpPr/>
          <p:nvPr/>
        </p:nvSpPr>
        <p:spPr bwMode="auto">
          <a:xfrm>
            <a:off x="548640" y="5010912"/>
            <a:ext cx="1106424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74981134" name="TextBox 30"/>
          <p:cNvSpPr txBox="1"/>
          <p:nvPr/>
        </p:nvSpPr>
        <p:spPr bwMode="auto">
          <a:xfrm>
            <a:off x="685800" y="5010912"/>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Conteneurs</a:t>
            </a:r>
            <a:endParaRPr/>
          </a:p>
        </p:txBody>
      </p:sp>
      <p:sp>
        <p:nvSpPr>
          <p:cNvPr id="1411376056" name="TextBox 31"/>
          <p:cNvSpPr txBox="1"/>
          <p:nvPr/>
        </p:nvSpPr>
        <p:spPr bwMode="auto">
          <a:xfrm>
            <a:off x="3200400" y="5010912"/>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Docker / Podman</a:t>
            </a:r>
            <a:endParaRPr/>
          </a:p>
        </p:txBody>
      </p:sp>
      <p:sp>
        <p:nvSpPr>
          <p:cNvPr id="1464992916" name="TextBox 32"/>
          <p:cNvSpPr txBox="1"/>
          <p:nvPr/>
        </p:nvSpPr>
        <p:spPr bwMode="auto">
          <a:xfrm>
            <a:off x="6400800" y="5010912"/>
            <a:ext cx="5120640" cy="603504"/>
          </a:xfrm>
          <a:prstGeom prst="rect">
            <a:avLst/>
          </a:prstGeom>
          <a:noFill/>
        </p:spPr>
        <p:txBody>
          <a:bodyPr wrap="square" anchor="ctr">
            <a:spAutoFit/>
          </a:bodyPr>
          <a:lstStyle/>
          <a:p>
            <a:pPr algn="l">
              <a:spcAft>
                <a:spcPts val="600"/>
              </a:spcAft>
              <a:defRPr/>
            </a:pPr>
            <a:r>
              <a:rPr sz="1200" b="0">
                <a:solidFill>
                  <a:srgbClr val="4B5563"/>
                </a:solidFill>
                <a:latin typeface="Calibri"/>
              </a:rPr>
              <a:t>Nginx, PHP, MySQL, phpMyAdmin, Mailpit</a:t>
            </a:r>
            <a:endParaRPr/>
          </a:p>
        </p:txBody>
      </p:sp>
      <p:sp>
        <p:nvSpPr>
          <p:cNvPr id="2096831470" name="Rectangle 33"/>
          <p:cNvSpPr/>
          <p:nvPr/>
        </p:nvSpPr>
        <p:spPr bwMode="auto">
          <a:xfrm>
            <a:off x="548640" y="5632704"/>
            <a:ext cx="11064240" cy="603504"/>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31782875" name="TextBox 34"/>
          <p:cNvSpPr txBox="1"/>
          <p:nvPr/>
        </p:nvSpPr>
        <p:spPr bwMode="auto">
          <a:xfrm>
            <a:off x="685800" y="5632704"/>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Qualité</a:t>
            </a:r>
            <a:endParaRPr/>
          </a:p>
        </p:txBody>
      </p:sp>
      <p:sp>
        <p:nvSpPr>
          <p:cNvPr id="1283325943" name="TextBox 35"/>
          <p:cNvSpPr txBox="1"/>
          <p:nvPr/>
        </p:nvSpPr>
        <p:spPr bwMode="auto">
          <a:xfrm>
            <a:off x="3200400" y="5632704"/>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PHPUnit · GitHub Actions</a:t>
            </a:r>
            <a:endParaRPr/>
          </a:p>
        </p:txBody>
      </p:sp>
      <p:sp>
        <p:nvSpPr>
          <p:cNvPr id="228567976" name="TextBox 36"/>
          <p:cNvSpPr txBox="1"/>
          <p:nvPr/>
        </p:nvSpPr>
        <p:spPr bwMode="auto">
          <a:xfrm>
            <a:off x="6400800" y="5632704"/>
            <a:ext cx="5120640" cy="603504"/>
          </a:xfrm>
          <a:prstGeom prst="rect">
            <a:avLst/>
          </a:prstGeom>
          <a:noFill/>
        </p:spPr>
        <p:txBody>
          <a:bodyPr wrap="square" anchor="ctr">
            <a:spAutoFit/>
          </a:bodyPr>
          <a:lstStyle/>
          <a:p>
            <a:pPr algn="l">
              <a:spcAft>
                <a:spcPts val="600"/>
              </a:spcAft>
              <a:defRPr/>
            </a:pPr>
            <a:r>
              <a:rPr sz="1200" b="0">
                <a:solidFill>
                  <a:srgbClr val="4B5563"/>
                </a:solidFill>
                <a:latin typeface="Calibri"/>
              </a:rPr>
              <a:t>Tests + vérifications automatiques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44073517"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62459142"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12299278"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Comment c'est organisé : le MVC</a:t>
            </a:r>
            <a:endParaRPr/>
          </a:p>
        </p:txBody>
      </p:sp>
      <p:sp>
        <p:nvSpPr>
          <p:cNvPr id="1954511093"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Le trajet d'une requête</a:t>
            </a:r>
            <a:endParaRPr/>
          </a:p>
        </p:txBody>
      </p:sp>
      <p:sp>
        <p:nvSpPr>
          <p:cNvPr id="432825134" name="TextBox 5"/>
          <p:cNvSpPr txBox="1"/>
          <p:nvPr/>
        </p:nvSpPr>
        <p:spPr bwMode="auto">
          <a:xfrm>
            <a:off x="548640" y="1325880"/>
            <a:ext cx="10972800" cy="2103120"/>
          </a:xfrm>
          <a:prstGeom prst="rect">
            <a:avLst/>
          </a:prstGeom>
          <a:noFill/>
        </p:spPr>
        <p:txBody>
          <a:bodyPr wrap="square" anchor="t">
            <a:spAutoFit/>
          </a:bodyPr>
          <a:lstStyle/>
          <a:p>
            <a:pPr algn="l">
              <a:spcAft>
                <a:spcPts val="700"/>
              </a:spcAft>
              <a:defRPr/>
            </a:pPr>
            <a:r>
              <a:rPr sz="1600" b="1">
                <a:solidFill>
                  <a:srgbClr val="1F2937"/>
                </a:solidFill>
                <a:latin typeface="Calibri"/>
              </a:rPr>
              <a:t>Quand on va sur une page, ça se passe en 4 temps :</a:t>
            </a:r>
            <a:endParaRPr/>
          </a:p>
          <a:p>
            <a:pPr algn="l">
              <a:spcAft>
                <a:spcPts val="700"/>
              </a:spcAft>
              <a:defRPr/>
            </a:pPr>
            <a:r>
              <a:rPr sz="1500" b="0">
                <a:solidFill>
                  <a:srgbClr val="4B5563"/>
                </a:solidFill>
                <a:latin typeface="Calibri"/>
              </a:rPr>
              <a:t>•  Le routing regarde l'URL et trouve le bon contrôleur</a:t>
            </a:r>
            <a:endParaRPr/>
          </a:p>
          <a:p>
            <a:pPr algn="l">
              <a:spcAft>
                <a:spcPts val="700"/>
              </a:spcAft>
              <a:defRPr/>
            </a:pPr>
            <a:r>
              <a:rPr sz="1500" b="0">
                <a:solidFill>
                  <a:srgbClr val="4B5563"/>
                </a:solidFill>
                <a:latin typeface="Calibri"/>
              </a:rPr>
              <a:t>•  Le contrôleur demande les données au modèle (Doctrine)</a:t>
            </a:r>
            <a:endParaRPr/>
          </a:p>
          <a:p>
            <a:pPr algn="l">
              <a:spcAft>
                <a:spcPts val="700"/>
              </a:spcAft>
              <a:defRPr/>
            </a:pPr>
            <a:r>
              <a:rPr sz="1500" b="0">
                <a:solidFill>
                  <a:srgbClr val="4B5563"/>
                </a:solidFill>
                <a:latin typeface="Calibri"/>
              </a:rPr>
              <a:t>•  Il passe ces données à la vue</a:t>
            </a:r>
            <a:endParaRPr/>
          </a:p>
          <a:p>
            <a:pPr algn="l">
              <a:spcAft>
                <a:spcPts val="700"/>
              </a:spcAft>
              <a:defRPr/>
            </a:pPr>
            <a:r>
              <a:rPr sz="1500" b="0">
                <a:solidFill>
                  <a:srgbClr val="4B5563"/>
                </a:solidFill>
                <a:latin typeface="Calibri"/>
              </a:rPr>
              <a:t>•  La vue (Twig) construit le HTML renvoyé au navigateur</a:t>
            </a:r>
            <a:endParaRPr/>
          </a:p>
        </p:txBody>
      </p:sp>
      <p:sp>
        <p:nvSpPr>
          <p:cNvPr id="1796368715" name="TextBox 6"/>
          <p:cNvSpPr txBox="1"/>
          <p:nvPr/>
        </p:nvSpPr>
        <p:spPr bwMode="auto">
          <a:xfrm>
            <a:off x="548640" y="3685031"/>
            <a:ext cx="11064240" cy="274320"/>
          </a:xfrm>
          <a:prstGeom prst="rect">
            <a:avLst/>
          </a:prstGeom>
          <a:noFill/>
        </p:spPr>
        <p:txBody>
          <a:bodyPr wrap="square" anchor="t">
            <a:spAutoFit/>
          </a:bodyPr>
          <a:lstStyle/>
          <a:p>
            <a:pPr algn="l">
              <a:spcAft>
                <a:spcPts val="600"/>
              </a:spcAft>
              <a:defRPr/>
            </a:pPr>
            <a:r>
              <a:rPr sz="1200" b="1">
                <a:solidFill>
                  <a:srgbClr val="92400E"/>
                </a:solidFill>
                <a:latin typeface="Calibri"/>
              </a:rPr>
              <a:t>ShopController.php — la page catalogue</a:t>
            </a:r>
            <a:endParaRPr/>
          </a:p>
        </p:txBody>
      </p:sp>
      <p:sp>
        <p:nvSpPr>
          <p:cNvPr id="1158238477" name="Rectangle 7"/>
          <p:cNvSpPr/>
          <p:nvPr/>
        </p:nvSpPr>
        <p:spPr bwMode="auto">
          <a:xfrm>
            <a:off x="548640" y="3977639"/>
            <a:ext cx="11064240" cy="22402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65914045" name="TextBox 8"/>
          <p:cNvSpPr txBox="1"/>
          <p:nvPr/>
        </p:nvSpPr>
        <p:spPr bwMode="auto">
          <a:xfrm>
            <a:off x="713232" y="4087367"/>
            <a:ext cx="10735056" cy="2020824"/>
          </a:xfrm>
          <a:prstGeom prst="rect">
            <a:avLst/>
          </a:prstGeom>
          <a:noFill/>
        </p:spPr>
        <p:txBody>
          <a:bodyPr wrap="square">
            <a:spAutoFit/>
          </a:bodyPr>
          <a:lstStyle/>
          <a:p>
            <a:pPr>
              <a:spcAft>
                <a:spcPts val="200"/>
              </a:spcAft>
              <a:defRPr/>
            </a:pPr>
            <a:r>
              <a:rPr sz="1200">
                <a:solidFill>
                  <a:srgbClr val="E5E7EB"/>
                </a:solidFill>
                <a:latin typeface="Consolas"/>
              </a:rPr>
              <a:t>#[Route('/nos-miels', name: 'app_shop_index')]</a:t>
            </a:r>
            <a:endParaRPr/>
          </a:p>
          <a:p>
            <a:pPr>
              <a:spcAft>
                <a:spcPts val="200"/>
              </a:spcAft>
              <a:defRPr/>
            </a:pPr>
            <a:r>
              <a:rPr sz="1200">
                <a:solidFill>
                  <a:srgbClr val="E5E7EB"/>
                </a:solidFill>
                <a:latin typeface="Consolas"/>
              </a:rPr>
              <a:t>public function index(ProductRepository $repo): Response</a:t>
            </a:r>
            <a:endParaRPr/>
          </a:p>
          <a:p>
            <a:pPr>
              <a:spcAft>
                <a:spcPts val="200"/>
              </a:spcAft>
              <a:defRPr/>
            </a:pPr>
            <a:r>
              <a:rPr sz="1200">
                <a:solidFill>
                  <a:srgbClr val="E5E7EB"/>
                </a:solidFill>
                <a:latin typeface="Consolas"/>
              </a:rPr>
              <a:t>{</a:t>
            </a:r>
            <a:endParaRPr/>
          </a:p>
          <a:p>
            <a:pPr>
              <a:spcAft>
                <a:spcPts val="200"/>
              </a:spcAft>
              <a:defRPr/>
            </a:pPr>
            <a:r>
              <a:rPr sz="1200">
                <a:solidFill>
                  <a:srgbClr val="9CA3AF"/>
                </a:solidFill>
                <a:latin typeface="Consolas"/>
              </a:rPr>
              <a:t>    // on recupere les produits puis on les donne a la vue</a:t>
            </a:r>
            <a:endParaRPr/>
          </a:p>
          <a:p>
            <a:pPr>
              <a:spcAft>
                <a:spcPts val="200"/>
              </a:spcAft>
              <a:defRPr/>
            </a:pPr>
            <a:r>
              <a:rPr sz="1200">
                <a:solidFill>
                  <a:srgbClr val="E5E7EB"/>
                </a:solidFill>
                <a:latin typeface="Consolas"/>
              </a:rPr>
              <a:t>    return $this-&gt;render('shop/index.html.twig', [</a:t>
            </a:r>
            <a:endParaRPr/>
          </a:p>
          <a:p>
            <a:pPr>
              <a:spcAft>
                <a:spcPts val="200"/>
              </a:spcAft>
              <a:defRPr/>
            </a:pPr>
            <a:r>
              <a:rPr sz="1200">
                <a:solidFill>
                  <a:srgbClr val="E5E7EB"/>
                </a:solidFill>
                <a:latin typeface="Consolas"/>
              </a:rPr>
              <a:t>        'products' =&gt; $repo-&gt;findForCatalogue(),</a:t>
            </a:r>
            <a:endParaRPr/>
          </a:p>
          <a:p>
            <a:pPr>
              <a:spcAft>
                <a:spcPts val="200"/>
              </a:spcAft>
              <a:defRPr/>
            </a:pPr>
            <a:r>
              <a:rPr sz="1200">
                <a:solidFill>
                  <a:srgbClr val="E5E7EB"/>
                </a:solidFill>
                <a:latin typeface="Consolas"/>
              </a:rPr>
              <a:t>    ]);</a:t>
            </a:r>
            <a:endParaRPr/>
          </a:p>
          <a:p>
            <a:pPr>
              <a:spcAft>
                <a:spcPts val="200"/>
              </a:spcAft>
              <a:defRPr/>
            </a:pPr>
            <a:r>
              <a:rPr sz="1200">
                <a:solidFill>
                  <a:srgbClr val="E5E7EB"/>
                </a:solidFill>
                <a:latin typeface="Consolas"/>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526832195"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9014514"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51962029"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Les conteneurs Docker</a:t>
            </a:r>
            <a:endParaRPr/>
          </a:p>
        </p:txBody>
      </p:sp>
      <p:sp>
        <p:nvSpPr>
          <p:cNvPr id="1760773807"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L'architecture physique</a:t>
            </a:r>
            <a:endParaRPr/>
          </a:p>
        </p:txBody>
      </p:sp>
      <p:sp>
        <p:nvSpPr>
          <p:cNvPr id="1950737813" name="Rectangle 5"/>
          <p:cNvSpPr/>
          <p:nvPr/>
        </p:nvSpPr>
        <p:spPr bwMode="auto">
          <a:xfrm>
            <a:off x="548640" y="1371600"/>
            <a:ext cx="11064240" cy="493776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0164192" name="TextBox 6"/>
          <p:cNvSpPr txBox="1"/>
          <p:nvPr/>
        </p:nvSpPr>
        <p:spPr bwMode="auto">
          <a:xfrm>
            <a:off x="731520" y="1481328"/>
            <a:ext cx="5486400" cy="365760"/>
          </a:xfrm>
          <a:prstGeom prst="rect">
            <a:avLst/>
          </a:prstGeom>
          <a:noFill/>
        </p:spPr>
        <p:txBody>
          <a:bodyPr wrap="square" anchor="t">
            <a:spAutoFit/>
          </a:bodyPr>
          <a:lstStyle/>
          <a:p>
            <a:pPr algn="l">
              <a:spcAft>
                <a:spcPts val="600"/>
              </a:spcAft>
              <a:defRPr/>
            </a:pPr>
            <a:r>
              <a:rPr sz="1400" b="1">
                <a:solidFill>
                  <a:srgbClr val="4B5563"/>
                </a:solidFill>
                <a:latin typeface="Calibri"/>
              </a:rPr>
              <a:t>Navigateur  →  port 8000</a:t>
            </a:r>
            <a:endParaRPr/>
          </a:p>
        </p:txBody>
      </p:sp>
      <p:sp>
        <p:nvSpPr>
          <p:cNvPr id="1581611366" name="Rectangle 7"/>
          <p:cNvSpPr/>
          <p:nvPr/>
        </p:nvSpPr>
        <p:spPr bwMode="auto">
          <a:xfrm>
            <a:off x="914400" y="2011680"/>
            <a:ext cx="2743200" cy="100584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02042796" name="TextBox 8"/>
          <p:cNvSpPr txBox="1"/>
          <p:nvPr/>
        </p:nvSpPr>
        <p:spPr bwMode="auto">
          <a:xfrm>
            <a:off x="914400" y="2084832"/>
            <a:ext cx="2743200" cy="914400"/>
          </a:xfrm>
          <a:prstGeom prst="rect">
            <a:avLst/>
          </a:prstGeom>
          <a:noFill/>
        </p:spPr>
        <p:txBody>
          <a:bodyPr wrap="square" anchor="ctr">
            <a:spAutoFit/>
          </a:bodyPr>
          <a:lstStyle/>
          <a:p>
            <a:pPr algn="ctr">
              <a:spcAft>
                <a:spcPts val="300"/>
              </a:spcAft>
              <a:defRPr/>
            </a:pPr>
            <a:r>
              <a:rPr sz="1500" b="1">
                <a:solidFill>
                  <a:srgbClr val="FFFFFF"/>
                </a:solidFill>
                <a:latin typeface="Calibri"/>
              </a:rPr>
              <a:t>NGINX</a:t>
            </a:r>
            <a:endParaRPr/>
          </a:p>
          <a:p>
            <a:pPr algn="ctr">
              <a:spcAft>
                <a:spcPts val="300"/>
              </a:spcAft>
              <a:defRPr/>
            </a:pPr>
            <a:r>
              <a:rPr sz="1100" b="0">
                <a:solidFill>
                  <a:srgbClr val="FFFFFF"/>
                </a:solidFill>
                <a:latin typeface="Calibri"/>
              </a:rPr>
              <a:t>serveur web</a:t>
            </a:r>
            <a:endParaRPr/>
          </a:p>
        </p:txBody>
      </p:sp>
      <p:sp>
        <p:nvSpPr>
          <p:cNvPr id="629373886" name="Rectangle 9"/>
          <p:cNvSpPr/>
          <p:nvPr/>
        </p:nvSpPr>
        <p:spPr bwMode="auto">
          <a:xfrm>
            <a:off x="4572000" y="2011680"/>
            <a:ext cx="2743200" cy="10058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50583848" name="TextBox 10"/>
          <p:cNvSpPr txBox="1"/>
          <p:nvPr/>
        </p:nvSpPr>
        <p:spPr bwMode="auto">
          <a:xfrm>
            <a:off x="4572000" y="2084832"/>
            <a:ext cx="2743200" cy="914400"/>
          </a:xfrm>
          <a:prstGeom prst="rect">
            <a:avLst/>
          </a:prstGeom>
          <a:noFill/>
        </p:spPr>
        <p:txBody>
          <a:bodyPr wrap="square" anchor="ctr">
            <a:spAutoFit/>
          </a:bodyPr>
          <a:lstStyle/>
          <a:p>
            <a:pPr algn="ctr">
              <a:spcAft>
                <a:spcPts val="300"/>
              </a:spcAft>
              <a:defRPr/>
            </a:pPr>
            <a:r>
              <a:rPr sz="1500" b="1">
                <a:solidFill>
                  <a:srgbClr val="FFFFFF"/>
                </a:solidFill>
                <a:latin typeface="Calibri"/>
              </a:rPr>
              <a:t>PHP-FPM</a:t>
            </a:r>
            <a:endParaRPr/>
          </a:p>
          <a:p>
            <a:pPr algn="ctr">
              <a:spcAft>
                <a:spcPts val="300"/>
              </a:spcAft>
              <a:defRPr/>
            </a:pPr>
            <a:r>
              <a:rPr sz="1100" b="0">
                <a:solidFill>
                  <a:srgbClr val="FFFFFF"/>
                </a:solidFill>
                <a:latin typeface="Calibri"/>
              </a:rPr>
              <a:t>exécute Symfony</a:t>
            </a:r>
            <a:endParaRPr/>
          </a:p>
        </p:txBody>
      </p:sp>
      <p:sp>
        <p:nvSpPr>
          <p:cNvPr id="747801013" name="Rectangle 11"/>
          <p:cNvSpPr/>
          <p:nvPr/>
        </p:nvSpPr>
        <p:spPr bwMode="auto">
          <a:xfrm>
            <a:off x="8229600" y="2011680"/>
            <a:ext cx="2926080" cy="100584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60515188" name="TextBox 12"/>
          <p:cNvSpPr txBox="1"/>
          <p:nvPr/>
        </p:nvSpPr>
        <p:spPr bwMode="auto">
          <a:xfrm>
            <a:off x="8229600" y="2084832"/>
            <a:ext cx="2926080" cy="914400"/>
          </a:xfrm>
          <a:prstGeom prst="rect">
            <a:avLst/>
          </a:prstGeom>
          <a:noFill/>
        </p:spPr>
        <p:txBody>
          <a:bodyPr wrap="square" anchor="ctr">
            <a:spAutoFit/>
          </a:bodyPr>
          <a:lstStyle/>
          <a:p>
            <a:pPr algn="ctr">
              <a:spcAft>
                <a:spcPts val="300"/>
              </a:spcAft>
              <a:defRPr/>
            </a:pPr>
            <a:r>
              <a:rPr sz="1500" b="1">
                <a:solidFill>
                  <a:srgbClr val="FFFFFF"/>
                </a:solidFill>
                <a:latin typeface="Calibri"/>
              </a:rPr>
              <a:t>MySQL</a:t>
            </a:r>
            <a:endParaRPr/>
          </a:p>
          <a:p>
            <a:pPr algn="ctr">
              <a:spcAft>
                <a:spcPts val="300"/>
              </a:spcAft>
              <a:defRPr/>
            </a:pPr>
            <a:r>
              <a:rPr sz="1100" b="0">
                <a:solidFill>
                  <a:srgbClr val="FFFFFF"/>
                </a:solidFill>
                <a:latin typeface="Calibri"/>
              </a:rPr>
              <a:t>la base de données</a:t>
            </a:r>
            <a:endParaRPr/>
          </a:p>
        </p:txBody>
      </p:sp>
      <p:sp>
        <p:nvSpPr>
          <p:cNvPr id="1655072859" name="Rectangle 13"/>
          <p:cNvSpPr/>
          <p:nvPr/>
        </p:nvSpPr>
        <p:spPr bwMode="auto">
          <a:xfrm>
            <a:off x="914400" y="3840480"/>
            <a:ext cx="2743200" cy="1005840"/>
          </a:xfrm>
          <a:prstGeom prst="rect">
            <a:avLst/>
          </a:prstGeom>
          <a:solidFill>
            <a:srgbClr val="4B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68906442" name="TextBox 14"/>
          <p:cNvSpPr txBox="1"/>
          <p:nvPr/>
        </p:nvSpPr>
        <p:spPr bwMode="auto">
          <a:xfrm>
            <a:off x="914400" y="3913632"/>
            <a:ext cx="2743200" cy="914400"/>
          </a:xfrm>
          <a:prstGeom prst="rect">
            <a:avLst/>
          </a:prstGeom>
          <a:noFill/>
        </p:spPr>
        <p:txBody>
          <a:bodyPr wrap="square" anchor="ctr">
            <a:spAutoFit/>
          </a:bodyPr>
          <a:lstStyle/>
          <a:p>
            <a:pPr algn="ctr">
              <a:spcAft>
                <a:spcPts val="300"/>
              </a:spcAft>
              <a:defRPr/>
            </a:pPr>
            <a:r>
              <a:rPr sz="1500" b="1">
                <a:solidFill>
                  <a:srgbClr val="FFFFFF"/>
                </a:solidFill>
                <a:latin typeface="Calibri"/>
              </a:rPr>
              <a:t>phpMyAdmin</a:t>
            </a:r>
            <a:endParaRPr/>
          </a:p>
          <a:p>
            <a:pPr algn="ctr">
              <a:spcAft>
                <a:spcPts val="300"/>
              </a:spcAft>
              <a:defRPr/>
            </a:pPr>
            <a:r>
              <a:rPr sz="1100" b="0">
                <a:solidFill>
                  <a:srgbClr val="FFFFFF"/>
                </a:solidFill>
                <a:latin typeface="Calibri"/>
              </a:rPr>
              <a:t>voir la base</a:t>
            </a:r>
            <a:endParaRPr/>
          </a:p>
        </p:txBody>
      </p:sp>
      <p:sp>
        <p:nvSpPr>
          <p:cNvPr id="684676905" name="Rectangle 15"/>
          <p:cNvSpPr/>
          <p:nvPr/>
        </p:nvSpPr>
        <p:spPr bwMode="auto">
          <a:xfrm>
            <a:off x="4572000" y="3840480"/>
            <a:ext cx="2743200" cy="1005840"/>
          </a:xfrm>
          <a:prstGeom prst="rect">
            <a:avLst/>
          </a:prstGeom>
          <a:solidFill>
            <a:srgbClr val="16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47050828" name="TextBox 16"/>
          <p:cNvSpPr txBox="1"/>
          <p:nvPr/>
        </p:nvSpPr>
        <p:spPr bwMode="auto">
          <a:xfrm>
            <a:off x="4572000" y="3913632"/>
            <a:ext cx="2743200" cy="914400"/>
          </a:xfrm>
          <a:prstGeom prst="rect">
            <a:avLst/>
          </a:prstGeom>
          <a:noFill/>
        </p:spPr>
        <p:txBody>
          <a:bodyPr wrap="square" anchor="ctr">
            <a:spAutoFit/>
          </a:bodyPr>
          <a:lstStyle/>
          <a:p>
            <a:pPr algn="ctr">
              <a:spcAft>
                <a:spcPts val="300"/>
              </a:spcAft>
              <a:defRPr/>
            </a:pPr>
            <a:r>
              <a:rPr sz="1500" b="1">
                <a:solidFill>
                  <a:srgbClr val="FFFFFF"/>
                </a:solidFill>
                <a:latin typeface="Calibri"/>
              </a:rPr>
              <a:t>Mailpit</a:t>
            </a:r>
            <a:endParaRPr/>
          </a:p>
          <a:p>
            <a:pPr algn="ctr">
              <a:spcAft>
                <a:spcPts val="300"/>
              </a:spcAft>
              <a:defRPr/>
            </a:pPr>
            <a:r>
              <a:rPr sz="1100" b="0">
                <a:solidFill>
                  <a:srgbClr val="FFFFFF"/>
                </a:solidFill>
                <a:latin typeface="Calibri"/>
              </a:rPr>
              <a:t>voir les e-mails</a:t>
            </a:r>
            <a:endParaRPr/>
          </a:p>
        </p:txBody>
      </p:sp>
      <p:sp>
        <p:nvSpPr>
          <p:cNvPr id="1111911697" name="Rectangle 17"/>
          <p:cNvSpPr/>
          <p:nvPr/>
        </p:nvSpPr>
        <p:spPr bwMode="auto">
          <a:xfrm>
            <a:off x="8229600" y="3840480"/>
            <a:ext cx="2926080" cy="1005840"/>
          </a:xfrm>
          <a:prstGeom prst="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16260140" name="TextBox 18"/>
          <p:cNvSpPr txBox="1"/>
          <p:nvPr/>
        </p:nvSpPr>
        <p:spPr bwMode="auto">
          <a:xfrm>
            <a:off x="8229600" y="3931920"/>
            <a:ext cx="2926080" cy="868680"/>
          </a:xfrm>
          <a:prstGeom prst="rect">
            <a:avLst/>
          </a:prstGeom>
          <a:noFill/>
        </p:spPr>
        <p:txBody>
          <a:bodyPr wrap="square" anchor="ctr">
            <a:spAutoFit/>
          </a:bodyPr>
          <a:lstStyle/>
          <a:p>
            <a:pPr algn="ctr">
              <a:spcAft>
                <a:spcPts val="300"/>
              </a:spcAft>
              <a:defRPr/>
            </a:pPr>
            <a:r>
              <a:rPr sz="1300" b="1">
                <a:solidFill>
                  <a:srgbClr val="92400E"/>
                </a:solidFill>
                <a:latin typeface="Calibri"/>
              </a:rPr>
              <a:t>Volume MySQL</a:t>
            </a:r>
            <a:endParaRPr/>
          </a:p>
          <a:p>
            <a:pPr algn="ctr">
              <a:spcAft>
                <a:spcPts val="300"/>
              </a:spcAft>
              <a:defRPr/>
            </a:pPr>
            <a:r>
              <a:rPr sz="1100" b="0">
                <a:solidFill>
                  <a:srgbClr val="4B5563"/>
                </a:solidFill>
                <a:latin typeface="Calibri"/>
              </a:rPr>
              <a:t>garde les données</a:t>
            </a:r>
            <a:endParaRPr/>
          </a:p>
        </p:txBody>
      </p:sp>
      <p:sp>
        <p:nvSpPr>
          <p:cNvPr id="801422018" name="TextBox 19"/>
          <p:cNvSpPr txBox="1"/>
          <p:nvPr/>
        </p:nvSpPr>
        <p:spPr bwMode="auto">
          <a:xfrm>
            <a:off x="914400" y="5212080"/>
            <a:ext cx="10058400" cy="914400"/>
          </a:xfrm>
          <a:prstGeom prst="rect">
            <a:avLst/>
          </a:prstGeom>
          <a:noFill/>
        </p:spPr>
        <p:txBody>
          <a:bodyPr wrap="square" anchor="t">
            <a:spAutoFit/>
          </a:bodyPr>
          <a:lstStyle/>
          <a:p>
            <a:pPr algn="l">
              <a:spcAft>
                <a:spcPts val="600"/>
              </a:spcAft>
              <a:defRPr/>
            </a:pPr>
            <a:r>
              <a:rPr sz="1350" b="0">
                <a:solidFill>
                  <a:srgbClr val="4B5563"/>
                </a:solidFill>
                <a:latin typeface="Calibri"/>
              </a:rPr>
              <a:t>Chaque service est dans son propre conteneur, ils se parlent sur un réseau privé. L'image PHP est construite avec un Dockerfile que j'ai écrit.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F2937"/>
        </a:solidFill>
      </p:bgPr>
    </p:bg>
    <p:spTree>
      <p:nvGrpSpPr>
        <p:cNvPr id="1" name=""/>
        <p:cNvGrpSpPr/>
        <p:nvPr/>
      </p:nvGrpSpPr>
      <p:grpSpPr bwMode="auto">
        <a:xfrm>
          <a:off x="0" y="0"/>
          <a:ext cx="0" cy="0"/>
          <a:chOff x="0" y="0"/>
          <a:chExt cx="0" cy="0"/>
        </a:xfrm>
      </p:grpSpPr>
      <p:sp>
        <p:nvSpPr>
          <p:cNvPr id="755332511" name="Rectangle 1"/>
          <p:cNvSpPr/>
          <p:nvPr/>
        </p:nvSpPr>
        <p:spPr bwMode="auto">
          <a:xfrm>
            <a:off x="0" y="2743200"/>
            <a:ext cx="12191695" cy="13716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67341652" name="TextBox 2"/>
          <p:cNvSpPr txBox="1"/>
          <p:nvPr/>
        </p:nvSpPr>
        <p:spPr bwMode="auto">
          <a:xfrm>
            <a:off x="914400" y="2834640"/>
            <a:ext cx="10332720" cy="1188720"/>
          </a:xfrm>
          <a:prstGeom prst="rect">
            <a:avLst/>
          </a:prstGeom>
          <a:noFill/>
        </p:spPr>
        <p:txBody>
          <a:bodyPr wrap="square" anchor="ctr">
            <a:spAutoFit/>
          </a:bodyPr>
          <a:lstStyle/>
          <a:p>
            <a:pPr algn="ctr">
              <a:spcAft>
                <a:spcPts val="600"/>
              </a:spcAft>
              <a:defRPr/>
            </a:pPr>
            <a:r>
              <a:rPr sz="3400" b="1">
                <a:solidFill>
                  <a:srgbClr val="FFFFFF"/>
                </a:solidFill>
                <a:latin typeface="Calibri"/>
              </a:rPr>
              <a:t>Démonstration du site</a:t>
            </a:r>
            <a:endParaRPr/>
          </a:p>
        </p:txBody>
      </p:sp>
      <p:sp>
        <p:nvSpPr>
          <p:cNvPr id="511347830" name="TextBox 3"/>
          <p:cNvSpPr txBox="1"/>
          <p:nvPr/>
        </p:nvSpPr>
        <p:spPr bwMode="auto">
          <a:xfrm>
            <a:off x="914400" y="4297680"/>
            <a:ext cx="10332720" cy="548640"/>
          </a:xfrm>
          <a:prstGeom prst="rect">
            <a:avLst/>
          </a:prstGeom>
          <a:noFill/>
        </p:spPr>
        <p:txBody>
          <a:bodyPr wrap="square" anchor="t">
            <a:spAutoFit/>
          </a:bodyPr>
          <a:lstStyle/>
          <a:p>
            <a:pPr algn="ctr">
              <a:spcAft>
                <a:spcPts val="600"/>
              </a:spcAft>
              <a:defRPr/>
            </a:pPr>
            <a:r>
              <a:rPr sz="1800" b="0">
                <a:solidFill>
                  <a:srgbClr val="FFFBEB"/>
                </a:solidFill>
                <a:latin typeface="Calibri"/>
              </a:rPr>
              <a:t>Je montre les fonctionnalités en direct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578431021"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4051002"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81177427"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Connexion &amp; comptes</a:t>
            </a:r>
            <a:endParaRPr/>
          </a:p>
        </p:txBody>
      </p:sp>
      <p:sp>
        <p:nvSpPr>
          <p:cNvPr id="2084883080"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Fait à la main, sans librairie</a:t>
            </a:r>
            <a:endParaRPr/>
          </a:p>
        </p:txBody>
      </p:sp>
      <p:sp>
        <p:nvSpPr>
          <p:cNvPr id="409635653" name="TextBox 5"/>
          <p:cNvSpPr txBox="1"/>
          <p:nvPr/>
        </p:nvSpPr>
        <p:spPr bwMode="auto">
          <a:xfrm>
            <a:off x="548640" y="1371600"/>
            <a:ext cx="11064240" cy="2377440"/>
          </a:xfrm>
          <a:prstGeom prst="rect">
            <a:avLst/>
          </a:prstGeom>
          <a:noFill/>
        </p:spPr>
        <p:txBody>
          <a:bodyPr wrap="square" anchor="t">
            <a:spAutoFit/>
          </a:bodyPr>
          <a:lstStyle/>
          <a:p>
            <a:pPr algn="l">
              <a:spcAft>
                <a:spcPts val="800"/>
              </a:spcAft>
              <a:defRPr/>
            </a:pPr>
            <a:r>
              <a:rPr sz="1500" b="0">
                <a:solidFill>
                  <a:srgbClr val="4B5563"/>
                </a:solidFill>
                <a:latin typeface="Calibri"/>
              </a:rPr>
              <a:t>•  Inscription, connexion, déconnexion, mot de passe oublié</a:t>
            </a:r>
            <a:endParaRPr/>
          </a:p>
          <a:p>
            <a:pPr algn="l">
              <a:spcAft>
                <a:spcPts val="800"/>
              </a:spcAft>
              <a:defRPr/>
            </a:pPr>
            <a:r>
              <a:rPr sz="1500" b="0">
                <a:solidFill>
                  <a:srgbClr val="4B5563"/>
                </a:solidFill>
                <a:latin typeface="Calibri"/>
              </a:rPr>
              <a:t>•  Le mot de passe n'est jamais stocké en clair : il est hashé</a:t>
            </a:r>
            <a:endParaRPr/>
          </a:p>
          <a:p>
            <a:pPr algn="l">
              <a:spcAft>
                <a:spcPts val="800"/>
              </a:spcAft>
              <a:defRPr/>
            </a:pPr>
            <a:r>
              <a:rPr sz="1500" b="0">
                <a:solidFill>
                  <a:srgbClr val="4B5563"/>
                </a:solidFill>
                <a:latin typeface="Calibri"/>
              </a:rPr>
              <a:t>•  Mot de passe oublié : un lien unique envoyé par mail, valable 1h</a:t>
            </a:r>
            <a:endParaRPr/>
          </a:p>
          <a:p>
            <a:pPr algn="l">
              <a:spcAft>
                <a:spcPts val="800"/>
              </a:spcAft>
              <a:defRPr/>
            </a:pPr>
            <a:r>
              <a:rPr sz="1500" b="0">
                <a:solidFill>
                  <a:srgbClr val="4B5563"/>
                </a:solidFill>
                <a:latin typeface="Calibri"/>
              </a:rPr>
              <a:t>•  Deux rôles : client et admin. L'espace admin est bloqué aux clients</a:t>
            </a:r>
            <a:endParaRPr/>
          </a:p>
          <a:p>
            <a:pPr algn="l">
              <a:spcAft>
                <a:spcPts val="800"/>
              </a:spcAft>
              <a:defRPr/>
            </a:pPr>
            <a:r>
              <a:rPr sz="1500" b="0">
                <a:solidFill>
                  <a:srgbClr val="4B5563"/>
                </a:solidFill>
                <a:latin typeface="Calibri"/>
              </a:rPr>
              <a:t>•  Un compte désactivé ne peut plus se connecter</a:t>
            </a:r>
            <a:endParaRPr/>
          </a:p>
        </p:txBody>
      </p:sp>
      <p:sp>
        <p:nvSpPr>
          <p:cNvPr id="468181679" name="TextBox 6"/>
          <p:cNvSpPr txBox="1"/>
          <p:nvPr/>
        </p:nvSpPr>
        <p:spPr bwMode="auto">
          <a:xfrm>
            <a:off x="548640" y="3867911"/>
            <a:ext cx="11064240" cy="274320"/>
          </a:xfrm>
          <a:prstGeom prst="rect">
            <a:avLst/>
          </a:prstGeom>
          <a:noFill/>
        </p:spPr>
        <p:txBody>
          <a:bodyPr wrap="square" anchor="t">
            <a:spAutoFit/>
          </a:bodyPr>
          <a:lstStyle/>
          <a:p>
            <a:pPr algn="l">
              <a:spcAft>
                <a:spcPts val="600"/>
              </a:spcAft>
              <a:defRPr/>
            </a:pPr>
            <a:r>
              <a:rPr sz="1200" b="1">
                <a:solidFill>
                  <a:srgbClr val="92400E"/>
                </a:solidFill>
                <a:latin typeface="Calibri"/>
              </a:rPr>
              <a:t>RegistrationController.php — à l'inscription</a:t>
            </a:r>
            <a:endParaRPr/>
          </a:p>
        </p:txBody>
      </p:sp>
      <p:sp>
        <p:nvSpPr>
          <p:cNvPr id="751349294" name="Rectangle 7"/>
          <p:cNvSpPr/>
          <p:nvPr/>
        </p:nvSpPr>
        <p:spPr bwMode="auto">
          <a:xfrm>
            <a:off x="548640" y="4160519"/>
            <a:ext cx="11064240" cy="210312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20063585" name="TextBox 8"/>
          <p:cNvSpPr txBox="1"/>
          <p:nvPr/>
        </p:nvSpPr>
        <p:spPr bwMode="auto">
          <a:xfrm>
            <a:off x="713232" y="4270248"/>
            <a:ext cx="10735056" cy="1883664"/>
          </a:xfrm>
          <a:prstGeom prst="rect">
            <a:avLst/>
          </a:prstGeom>
          <a:noFill/>
        </p:spPr>
        <p:txBody>
          <a:bodyPr wrap="square">
            <a:spAutoFit/>
          </a:bodyPr>
          <a:lstStyle/>
          <a:p>
            <a:pPr>
              <a:spcAft>
                <a:spcPts val="200"/>
              </a:spcAft>
              <a:defRPr/>
            </a:pPr>
            <a:r>
              <a:rPr sz="1200">
                <a:solidFill>
                  <a:srgbClr val="9CA3AF"/>
                </a:solidFill>
                <a:latin typeface="Consolas"/>
              </a:rPr>
              <a:t>// on hash le mot de passe avant de l'enregistrer</a:t>
            </a:r>
            <a:endParaRPr/>
          </a:p>
          <a:p>
            <a:pPr>
              <a:spcAft>
                <a:spcPts val="200"/>
              </a:spcAft>
              <a:defRPr/>
            </a:pPr>
            <a:r>
              <a:rPr sz="1200">
                <a:solidFill>
                  <a:srgbClr val="E5E7EB"/>
                </a:solidFill>
                <a:latin typeface="Consolas"/>
              </a:rPr>
              <a:t>$user-&gt;setPassword(</a:t>
            </a:r>
            <a:endParaRPr/>
          </a:p>
          <a:p>
            <a:pPr>
              <a:spcAft>
                <a:spcPts val="200"/>
              </a:spcAft>
              <a:defRPr/>
            </a:pPr>
            <a:r>
              <a:rPr sz="1200">
                <a:solidFill>
                  <a:srgbClr val="E5E7EB"/>
                </a:solidFill>
                <a:latin typeface="Consolas"/>
              </a:rPr>
              <a:t>    $hasher-&gt;hashPassword($user, $data['password'])</a:t>
            </a:r>
            <a:endParaRPr/>
          </a:p>
          <a:p>
            <a:pPr>
              <a:spcAft>
                <a:spcPts val="200"/>
              </a:spcAft>
              <a:defRPr/>
            </a:pPr>
            <a:r>
              <a:rPr sz="1200">
                <a:solidFill>
                  <a:srgbClr val="E5E7EB"/>
                </a:solidFill>
                <a:latin typeface="Consolas"/>
              </a:rPr>
              <a:t>);</a:t>
            </a:r>
            <a:endParaRPr/>
          </a:p>
          <a:p>
            <a:pPr>
              <a:spcAft>
                <a:spcPts val="200"/>
              </a:spcAft>
              <a:defRPr/>
            </a:pPr>
            <a:r>
              <a:rPr sz="1200">
                <a:solidFill>
                  <a:srgbClr val="E5E7EB"/>
                </a:solidFill>
                <a:latin typeface="Consolas"/>
              </a:rPr>
              <a:t>$em-&gt;persist($user);</a:t>
            </a:r>
            <a:endParaRPr/>
          </a:p>
          <a:p>
            <a:pPr>
              <a:spcAft>
                <a:spcPts val="200"/>
              </a:spcAft>
              <a:defRPr/>
            </a:pPr>
            <a:r>
              <a:rPr sz="1200">
                <a:solidFill>
                  <a:srgbClr val="E5E7EB"/>
                </a:solidFill>
                <a:latin typeface="Consolas"/>
              </a:rPr>
              <a:t>$em-&gt;flush();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2036931274"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81353617"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07378466"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Catalogue &amp; fiche produit</a:t>
            </a:r>
            <a:endParaRPr/>
          </a:p>
        </p:txBody>
      </p:sp>
      <p:sp>
        <p:nvSpPr>
          <p:cNvPr id="1182579820"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Voir les produits</a:t>
            </a:r>
            <a:endParaRPr/>
          </a:p>
        </p:txBody>
      </p:sp>
      <p:sp>
        <p:nvSpPr>
          <p:cNvPr id="776654287" name="TextBox 5"/>
          <p:cNvSpPr txBox="1"/>
          <p:nvPr/>
        </p:nvSpPr>
        <p:spPr bwMode="auto">
          <a:xfrm>
            <a:off x="548640" y="1417320"/>
            <a:ext cx="11064240" cy="4754880"/>
          </a:xfrm>
          <a:prstGeom prst="rect">
            <a:avLst/>
          </a:prstGeom>
          <a:noFill/>
        </p:spPr>
        <p:txBody>
          <a:bodyPr wrap="square" anchor="t">
            <a:spAutoFit/>
          </a:bodyPr>
          <a:lstStyle/>
          <a:p>
            <a:pPr algn="l">
              <a:spcAft>
                <a:spcPts val="1000"/>
              </a:spcAft>
              <a:defRPr/>
            </a:pPr>
            <a:r>
              <a:rPr sz="1500" b="0">
                <a:solidFill>
                  <a:srgbClr val="4B5563"/>
                </a:solidFill>
                <a:latin typeface="Calibri"/>
              </a:rPr>
              <a:t>•  Le catalogue liste les miels, avec des filtres par catégorie et un tri</a:t>
            </a:r>
            <a:endParaRPr/>
          </a:p>
          <a:p>
            <a:pPr algn="l">
              <a:spcAft>
                <a:spcPts val="1000"/>
              </a:spcAft>
              <a:defRPr/>
            </a:pPr>
            <a:r>
              <a:rPr sz="1500" b="0">
                <a:solidFill>
                  <a:srgbClr val="4B5563"/>
                </a:solidFill>
                <a:latin typeface="Calibri"/>
              </a:rPr>
              <a:t>•  La fiche produit montre la photo, la description, les allergènes</a:t>
            </a:r>
            <a:endParaRPr/>
          </a:p>
          <a:p>
            <a:pPr algn="l">
              <a:spcAft>
                <a:spcPts val="1000"/>
              </a:spcAft>
              <a:defRPr/>
            </a:pPr>
            <a:r>
              <a:rPr sz="1500" b="0">
                <a:solidFill>
                  <a:srgbClr val="4B5563"/>
                </a:solidFill>
                <a:latin typeface="Calibri"/>
              </a:rPr>
              <a:t>•  Chaque miel a des variantes de poids (250g, 500g…), avec prix et stock</a:t>
            </a:r>
            <a:endParaRPr/>
          </a:p>
          <a:p>
            <a:pPr algn="l">
              <a:spcAft>
                <a:spcPts val="1000"/>
              </a:spcAft>
              <a:defRPr/>
            </a:pPr>
            <a:r>
              <a:rPr sz="1500" b="0">
                <a:solidFill>
                  <a:srgbClr val="4B5563"/>
                </a:solidFill>
                <a:latin typeface="Calibri"/>
              </a:rPr>
              <a:t>•  Quand on change de format, le prix se met à jour (petit script JS)</a:t>
            </a:r>
            <a:endParaRPr/>
          </a:p>
          <a:p>
            <a:pPr algn="l">
              <a:spcAft>
                <a:spcPts val="1000"/>
              </a:spcAft>
              <a:defRPr/>
            </a:pPr>
            <a:r>
              <a:rPr sz="1500" b="0">
                <a:solidFill>
                  <a:srgbClr val="4B5563"/>
                </a:solidFill>
                <a:latin typeface="Calibri"/>
              </a:rPr>
              <a:t>•  On voit la note moyenne et les avis validés</a:t>
            </a:r>
            <a:endParaRPr/>
          </a:p>
          <a:p>
            <a:pPr algn="l">
              <a:spcAft>
                <a:spcPts val="1000"/>
              </a:spcAft>
              <a:defRPr/>
            </a:pPr>
            <a:r>
              <a:rPr sz="1500" b="0">
                <a:solidFill>
                  <a:srgbClr val="4B5563"/>
                </a:solidFill>
                <a:latin typeface="Calibri"/>
              </a:rPr>
              <a:t>•  Les adresses sont propres : /nos-miels/miel-toute-fleur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598481833"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10462940"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9025036"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Le panier</a:t>
            </a:r>
            <a:endParaRPr/>
          </a:p>
        </p:txBody>
      </p:sp>
      <p:sp>
        <p:nvSpPr>
          <p:cNvPr id="165553302"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Stocké en session</a:t>
            </a:r>
            <a:endParaRPr/>
          </a:p>
        </p:txBody>
      </p:sp>
      <p:sp>
        <p:nvSpPr>
          <p:cNvPr id="638285795" name="TextBox 5"/>
          <p:cNvSpPr txBox="1"/>
          <p:nvPr/>
        </p:nvSpPr>
        <p:spPr bwMode="auto">
          <a:xfrm>
            <a:off x="548640" y="1371600"/>
            <a:ext cx="11064240" cy="2377440"/>
          </a:xfrm>
          <a:prstGeom prst="rect">
            <a:avLst/>
          </a:prstGeom>
          <a:noFill/>
        </p:spPr>
        <p:txBody>
          <a:bodyPr wrap="square" anchor="t">
            <a:spAutoFit/>
          </a:bodyPr>
          <a:lstStyle/>
          <a:p>
            <a:pPr algn="l">
              <a:spcAft>
                <a:spcPts val="800"/>
              </a:spcAft>
              <a:defRPr/>
            </a:pPr>
            <a:r>
              <a:rPr sz="1500" b="0">
                <a:solidFill>
                  <a:srgbClr val="4B5563"/>
                </a:solidFill>
                <a:latin typeface="Calibri"/>
              </a:rPr>
              <a:t>•  Le panier est gardé en session, pas en base</a:t>
            </a:r>
            <a:endParaRPr/>
          </a:p>
          <a:p>
            <a:pPr algn="l">
              <a:spcAft>
                <a:spcPts val="800"/>
              </a:spcAft>
              <a:defRPr/>
            </a:pPr>
            <a:r>
              <a:rPr sz="1500" b="0">
                <a:solidFill>
                  <a:srgbClr val="4B5563"/>
                </a:solidFill>
                <a:latin typeface="Calibri"/>
              </a:rPr>
              <a:t>•  C'est juste une liste : quelle variante, quelle quantité</a:t>
            </a:r>
            <a:endParaRPr/>
          </a:p>
          <a:p>
            <a:pPr algn="l">
              <a:spcAft>
                <a:spcPts val="800"/>
              </a:spcAft>
              <a:defRPr/>
            </a:pPr>
            <a:r>
              <a:rPr sz="1500" b="0">
                <a:solidFill>
                  <a:srgbClr val="4B5563"/>
                </a:solidFill>
                <a:latin typeface="Calibri"/>
              </a:rPr>
              <a:t>•  On peut ajouter, changer la quantité, retirer, vider</a:t>
            </a:r>
            <a:endParaRPr/>
          </a:p>
          <a:p>
            <a:pPr algn="l">
              <a:spcAft>
                <a:spcPts val="800"/>
              </a:spcAft>
              <a:defRPr/>
            </a:pPr>
            <a:r>
              <a:rPr sz="1500" b="0">
                <a:solidFill>
                  <a:srgbClr val="4B5563"/>
                </a:solidFill>
                <a:latin typeface="Calibri"/>
              </a:rPr>
              <a:t>•  Le nombre d'articles s'affiche dans le menu en haut</a:t>
            </a:r>
            <a:endParaRPr/>
          </a:p>
        </p:txBody>
      </p:sp>
      <p:sp>
        <p:nvSpPr>
          <p:cNvPr id="1173984098" name="TextBox 6"/>
          <p:cNvSpPr txBox="1"/>
          <p:nvPr/>
        </p:nvSpPr>
        <p:spPr bwMode="auto">
          <a:xfrm>
            <a:off x="548640" y="3867911"/>
            <a:ext cx="11064240" cy="274320"/>
          </a:xfrm>
          <a:prstGeom prst="rect">
            <a:avLst/>
          </a:prstGeom>
          <a:noFill/>
        </p:spPr>
        <p:txBody>
          <a:bodyPr wrap="square" anchor="t">
            <a:spAutoFit/>
          </a:bodyPr>
          <a:lstStyle/>
          <a:p>
            <a:pPr algn="l">
              <a:spcAft>
                <a:spcPts val="600"/>
              </a:spcAft>
              <a:defRPr/>
            </a:pPr>
            <a:r>
              <a:rPr sz="1200" b="1">
                <a:solidFill>
                  <a:srgbClr val="92400E"/>
                </a:solidFill>
                <a:latin typeface="Calibri"/>
              </a:rPr>
              <a:t>CartService.php — ajouter au panier</a:t>
            </a:r>
            <a:endParaRPr/>
          </a:p>
        </p:txBody>
      </p:sp>
      <p:sp>
        <p:nvSpPr>
          <p:cNvPr id="2077076227" name="Rectangle 7"/>
          <p:cNvSpPr/>
          <p:nvPr/>
        </p:nvSpPr>
        <p:spPr bwMode="auto">
          <a:xfrm>
            <a:off x="548640" y="4160519"/>
            <a:ext cx="11064240" cy="210312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59431071" name="TextBox 8"/>
          <p:cNvSpPr txBox="1"/>
          <p:nvPr/>
        </p:nvSpPr>
        <p:spPr bwMode="auto">
          <a:xfrm>
            <a:off x="685799" y="4270248"/>
            <a:ext cx="10737215" cy="1316079"/>
          </a:xfrm>
          <a:prstGeom prst="rect">
            <a:avLst/>
          </a:prstGeom>
          <a:noFill/>
        </p:spPr>
        <p:txBody>
          <a:bodyPr wrap="square">
            <a:spAutoFit/>
          </a:bodyPr>
          <a:lstStyle/>
          <a:p>
            <a:pPr>
              <a:spcAft>
                <a:spcPts val="200"/>
              </a:spcAft>
              <a:defRPr/>
            </a:pPr>
            <a:r>
              <a:rPr sz="1200">
                <a:solidFill>
                  <a:srgbClr val="E5E7EB"/>
                </a:solidFill>
                <a:latin typeface="Consolas"/>
              </a:rPr>
              <a:t>public function add(int $variantId, int $qty = 1): void</a:t>
            </a:r>
            <a:endParaRPr/>
          </a:p>
          <a:p>
            <a:pPr>
              <a:spcAft>
                <a:spcPts val="200"/>
              </a:spcAft>
              <a:defRPr/>
            </a:pPr>
            <a:r>
              <a:rPr sz="1200">
                <a:solidFill>
                  <a:srgbClr val="E5E7EB"/>
                </a:solidFill>
                <a:latin typeface="Consolas"/>
              </a:rPr>
              <a:t>{</a:t>
            </a:r>
            <a:endParaRPr/>
          </a:p>
          <a:p>
            <a:pPr>
              <a:spcAft>
                <a:spcPts val="200"/>
              </a:spcAft>
              <a:defRPr/>
            </a:pPr>
            <a:r>
              <a:rPr sz="1200">
                <a:solidFill>
                  <a:srgbClr val="E5E7EB"/>
                </a:solidFill>
                <a:latin typeface="Consolas"/>
              </a:rPr>
              <a:t>    $cart = $this-&gt;getRawCart();</a:t>
            </a:r>
            <a:endParaRPr/>
          </a:p>
          <a:p>
            <a:pPr>
              <a:spcAft>
                <a:spcPts val="200"/>
              </a:spcAft>
              <a:defRPr/>
            </a:pPr>
            <a:r>
              <a:rPr sz="1200">
                <a:solidFill>
                  <a:srgbClr val="E5E7EB"/>
                </a:solidFill>
                <a:latin typeface="Consolas"/>
              </a:rPr>
              <a:t>    $cart[$variantId] = ($cart[$variantId] ?? 0) + $qty;</a:t>
            </a:r>
            <a:endParaRPr/>
          </a:p>
          <a:p>
            <a:pPr>
              <a:spcAft>
                <a:spcPts val="200"/>
              </a:spcAft>
              <a:defRPr/>
            </a:pPr>
            <a:r>
              <a:rPr sz="1200">
                <a:solidFill>
                  <a:srgbClr val="E5E7EB"/>
                </a:solidFill>
                <a:latin typeface="Consolas"/>
              </a:rPr>
              <a:t>    $this-&gt;save($cart);</a:t>
            </a:r>
            <a:endParaRPr/>
          </a:p>
          <a:p>
            <a:pPr>
              <a:spcAft>
                <a:spcPts val="200"/>
              </a:spcAft>
              <a:defRPr/>
            </a:pPr>
            <a:r>
              <a:rPr sz="1200">
                <a:solidFill>
                  <a:srgbClr val="E5E7EB"/>
                </a:solidFill>
                <a:latin typeface="Consolas"/>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475495400"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42289255"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7862142"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La commande</a:t>
            </a:r>
            <a:endParaRPr/>
          </a:p>
        </p:txBody>
      </p:sp>
      <p:sp>
        <p:nvSpPr>
          <p:cNvPr id="1823128172"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Le passage en caisse</a:t>
            </a:r>
            <a:endParaRPr/>
          </a:p>
        </p:txBody>
      </p:sp>
      <p:sp>
        <p:nvSpPr>
          <p:cNvPr id="328478562" name="TextBox 5"/>
          <p:cNvSpPr txBox="1"/>
          <p:nvPr/>
        </p:nvSpPr>
        <p:spPr bwMode="auto">
          <a:xfrm>
            <a:off x="548640" y="1371600"/>
            <a:ext cx="11064240" cy="2377440"/>
          </a:xfrm>
          <a:prstGeom prst="rect">
            <a:avLst/>
          </a:prstGeom>
          <a:noFill/>
        </p:spPr>
        <p:txBody>
          <a:bodyPr wrap="square" anchor="t">
            <a:spAutoFit/>
          </a:bodyPr>
          <a:lstStyle/>
          <a:p>
            <a:pPr algn="l">
              <a:spcAft>
                <a:spcPts val="800"/>
              </a:spcAft>
              <a:defRPr/>
            </a:pPr>
            <a:r>
              <a:rPr sz="1500" b="0">
                <a:solidFill>
                  <a:srgbClr val="4B5563"/>
                </a:solidFill>
                <a:latin typeface="Calibri"/>
              </a:rPr>
              <a:t>•  Le client saisit son adresse de livraison</a:t>
            </a:r>
            <a:endParaRPr/>
          </a:p>
          <a:p>
            <a:pPr algn="l">
              <a:spcAft>
                <a:spcPts val="800"/>
              </a:spcAft>
              <a:defRPr/>
            </a:pPr>
            <a:r>
              <a:rPr sz="1500" b="0">
                <a:solidFill>
                  <a:srgbClr val="4B5563"/>
                </a:solidFill>
                <a:latin typeface="Calibri"/>
              </a:rPr>
              <a:t>•  Je crée la commande et ses lignes à partir du panier</a:t>
            </a:r>
            <a:endParaRPr/>
          </a:p>
          <a:p>
            <a:pPr algn="l">
              <a:spcAft>
                <a:spcPts val="800"/>
              </a:spcAft>
              <a:defRPr/>
            </a:pPr>
            <a:r>
              <a:rPr sz="1500" b="0">
                <a:solidFill>
                  <a:srgbClr val="4B5563"/>
                </a:solidFill>
                <a:latin typeface="Calibri"/>
              </a:rPr>
              <a:t>•  Je baisse le stock et je vide le panier</a:t>
            </a:r>
            <a:endParaRPr/>
          </a:p>
          <a:p>
            <a:pPr algn="l">
              <a:spcAft>
                <a:spcPts val="800"/>
              </a:spcAft>
              <a:defRPr/>
            </a:pPr>
            <a:r>
              <a:rPr sz="1500" b="0">
                <a:solidFill>
                  <a:srgbClr val="4B5563"/>
                </a:solidFill>
                <a:latin typeface="Calibri"/>
              </a:rPr>
              <a:t>•  Une page de confirmation + un e-mail récap avec la facture</a:t>
            </a:r>
            <a:endParaRPr/>
          </a:p>
        </p:txBody>
      </p:sp>
      <p:sp>
        <p:nvSpPr>
          <p:cNvPr id="1531367591" name="TextBox 6"/>
          <p:cNvSpPr txBox="1"/>
          <p:nvPr/>
        </p:nvSpPr>
        <p:spPr bwMode="auto">
          <a:xfrm>
            <a:off x="548640" y="3867911"/>
            <a:ext cx="11064240" cy="274320"/>
          </a:xfrm>
          <a:prstGeom prst="rect">
            <a:avLst/>
          </a:prstGeom>
          <a:noFill/>
        </p:spPr>
        <p:txBody>
          <a:bodyPr wrap="square" anchor="t">
            <a:spAutoFit/>
          </a:bodyPr>
          <a:lstStyle/>
          <a:p>
            <a:pPr algn="l">
              <a:spcAft>
                <a:spcPts val="600"/>
              </a:spcAft>
              <a:defRPr/>
            </a:pPr>
            <a:r>
              <a:rPr sz="1200" b="1">
                <a:solidFill>
                  <a:srgbClr val="92400E"/>
                </a:solidFill>
                <a:latin typeface="Calibri"/>
              </a:rPr>
              <a:t>CheckoutController.php — création de la commande</a:t>
            </a:r>
            <a:endParaRPr/>
          </a:p>
        </p:txBody>
      </p:sp>
      <p:sp>
        <p:nvSpPr>
          <p:cNvPr id="603737834" name="Rectangle 7"/>
          <p:cNvSpPr/>
          <p:nvPr/>
        </p:nvSpPr>
        <p:spPr bwMode="auto">
          <a:xfrm>
            <a:off x="548640" y="4160519"/>
            <a:ext cx="11064240" cy="210312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49961365" name="TextBox 8"/>
          <p:cNvSpPr txBox="1"/>
          <p:nvPr/>
        </p:nvSpPr>
        <p:spPr bwMode="auto">
          <a:xfrm>
            <a:off x="713232" y="4270248"/>
            <a:ext cx="10735776" cy="1107799"/>
          </a:xfrm>
          <a:prstGeom prst="rect">
            <a:avLst/>
          </a:prstGeom>
          <a:noFill/>
        </p:spPr>
        <p:txBody>
          <a:bodyPr wrap="square">
            <a:spAutoFit/>
          </a:bodyPr>
          <a:lstStyle/>
          <a:p>
            <a:pPr>
              <a:spcAft>
                <a:spcPts val="200"/>
              </a:spcAft>
              <a:defRPr/>
            </a:pPr>
            <a:r>
              <a:rPr sz="1200">
                <a:solidFill>
                  <a:srgbClr val="E5E7EB"/>
                </a:solidFill>
                <a:latin typeface="Consolas"/>
              </a:rPr>
              <a:t>$order = new Order();</a:t>
            </a:r>
            <a:endParaRPr/>
          </a:p>
          <a:p>
            <a:pPr>
              <a:spcAft>
                <a:spcPts val="200"/>
              </a:spcAft>
              <a:defRPr/>
            </a:pPr>
            <a:r>
              <a:rPr sz="1200">
                <a:solidFill>
                  <a:srgbClr val="E5E7EB"/>
                </a:solidFill>
                <a:latin typeface="Consolas"/>
              </a:rPr>
              <a:t>$order-&gt;setUser($this-&gt;getUser());</a:t>
            </a:r>
            <a:endParaRPr/>
          </a:p>
          <a:p>
            <a:pPr>
              <a:spcAft>
                <a:spcPts val="200"/>
              </a:spcAft>
              <a:defRPr/>
            </a:pPr>
            <a:r>
              <a:rPr sz="1200">
                <a:solidFill>
                  <a:srgbClr val="E5E7EB"/>
                </a:solidFill>
                <a:latin typeface="Consolas"/>
              </a:rPr>
              <a:t>$order-&gt;setStatus('pending');</a:t>
            </a:r>
            <a:endParaRPr/>
          </a:p>
          <a:p>
            <a:pPr>
              <a:spcAft>
                <a:spcPts val="200"/>
              </a:spcAft>
              <a:defRPr/>
            </a:pPr>
            <a:r>
              <a:rPr sz="1200">
                <a:solidFill>
                  <a:srgbClr val="E5E7EB"/>
                </a:solidFill>
                <a:latin typeface="Consolas"/>
              </a:rPr>
              <a:t>$em-&gt;persist($order);</a:t>
            </a:r>
            <a:endParaRPr/>
          </a:p>
          <a:p>
            <a:pPr>
              <a:spcAft>
                <a:spcPts val="200"/>
              </a:spcAft>
              <a:defRPr/>
            </a:pPr>
            <a:r>
              <a:rPr sz="1200">
                <a:solidFill>
                  <a:srgbClr val="E5E7EB"/>
                </a:solidFill>
                <a:latin typeface="Consolas"/>
              </a:rPr>
              <a:t>$em-&gt;flush();   // la ça part vraiment en base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68573828"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99611946"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13031040"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La facture PDF</a:t>
            </a:r>
            <a:endParaRPr/>
          </a:p>
        </p:txBody>
      </p:sp>
      <p:sp>
        <p:nvSpPr>
          <p:cNvPr id="2116908227"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Un vrai document téléchargeable</a:t>
            </a:r>
            <a:endParaRPr/>
          </a:p>
        </p:txBody>
      </p:sp>
      <p:sp>
        <p:nvSpPr>
          <p:cNvPr id="1025897574" name="TextBox 5"/>
          <p:cNvSpPr txBox="1"/>
          <p:nvPr/>
        </p:nvSpPr>
        <p:spPr bwMode="auto">
          <a:xfrm>
            <a:off x="548640" y="1371600"/>
            <a:ext cx="11073599" cy="1310999"/>
          </a:xfrm>
          <a:prstGeom prst="rect">
            <a:avLst/>
          </a:prstGeom>
          <a:noFill/>
        </p:spPr>
        <p:txBody>
          <a:bodyPr wrap="square" anchor="t">
            <a:spAutoFit/>
          </a:bodyPr>
          <a:lstStyle/>
          <a:p>
            <a:pPr algn="l">
              <a:spcAft>
                <a:spcPts val="800"/>
              </a:spcAft>
              <a:defRPr/>
            </a:pPr>
            <a:r>
              <a:rPr sz="1500" b="0">
                <a:solidFill>
                  <a:srgbClr val="4B5563"/>
                </a:solidFill>
                <a:latin typeface="Calibri"/>
              </a:rPr>
              <a:t>•  </a:t>
            </a:r>
            <a:r>
              <a:rPr lang="fr-FR" sz="1500" b="0">
                <a:solidFill>
                  <a:srgbClr val="4B5563"/>
                </a:solidFill>
                <a:latin typeface="Calibri"/>
              </a:rPr>
              <a:t>Le</a:t>
            </a:r>
            <a:r>
              <a:rPr sz="1500" b="0">
                <a:solidFill>
                  <a:srgbClr val="4B5563"/>
                </a:solidFill>
                <a:latin typeface="Calibri"/>
              </a:rPr>
              <a:t> service dédié</a:t>
            </a:r>
            <a:r>
              <a:rPr lang="fr-FR" sz="1500" b="0">
                <a:solidFill>
                  <a:srgbClr val="4B5563"/>
                </a:solidFill>
                <a:latin typeface="Calibri"/>
              </a:rPr>
              <a:t> dompdf</a:t>
            </a:r>
            <a:r>
              <a:rPr sz="1500" b="0">
                <a:solidFill>
                  <a:srgbClr val="4B5563"/>
                </a:solidFill>
                <a:latin typeface="Calibri"/>
              </a:rPr>
              <a:t> s'occupe de générer la facture</a:t>
            </a:r>
            <a:endParaRPr/>
          </a:p>
          <a:p>
            <a:pPr algn="l">
              <a:spcAft>
                <a:spcPts val="800"/>
              </a:spcAft>
              <a:defRPr/>
            </a:pPr>
            <a:r>
              <a:rPr sz="1500" b="0">
                <a:solidFill>
                  <a:srgbClr val="4B5563"/>
                </a:solidFill>
                <a:latin typeface="Calibri"/>
              </a:rPr>
              <a:t>•  Je fais une page HTML , puis </a:t>
            </a:r>
            <a:r>
              <a:rPr lang="fr-FR" sz="1500" b="0">
                <a:solidFill>
                  <a:srgbClr val="4B5563"/>
                </a:solidFill>
                <a:latin typeface="Calibri"/>
              </a:rPr>
              <a:t>dompdf</a:t>
            </a:r>
            <a:r>
              <a:rPr sz="1500" b="0">
                <a:solidFill>
                  <a:srgbClr val="4B5563"/>
                </a:solidFill>
                <a:latin typeface="Calibri"/>
              </a:rPr>
              <a:t> la transforme en PDF</a:t>
            </a:r>
            <a:endParaRPr/>
          </a:p>
          <a:p>
            <a:pPr algn="l">
              <a:spcAft>
                <a:spcPts val="800"/>
              </a:spcAft>
              <a:defRPr/>
            </a:pPr>
            <a:r>
              <a:rPr sz="1500" b="0">
                <a:solidFill>
                  <a:srgbClr val="4B5563"/>
                </a:solidFill>
                <a:latin typeface="Calibri"/>
              </a:rPr>
              <a:t>•  Téléchargeable par le client et par l'admin</a:t>
            </a:r>
            <a:endParaRPr/>
          </a:p>
          <a:p>
            <a:pPr algn="l">
              <a:spcAft>
                <a:spcPts val="800"/>
              </a:spcAft>
              <a:defRPr/>
            </a:pPr>
            <a:r>
              <a:rPr sz="1500" b="0">
                <a:solidFill>
                  <a:srgbClr val="4B5563"/>
                </a:solidFill>
                <a:latin typeface="Calibri"/>
              </a:rPr>
              <a:t>•  Elle est même envoyée en pièce jointe de l'e-mail de commande</a:t>
            </a:r>
            <a:endParaRPr/>
          </a:p>
        </p:txBody>
      </p:sp>
      <p:sp>
        <p:nvSpPr>
          <p:cNvPr id="1296492937" name="TextBox 6"/>
          <p:cNvSpPr txBox="1"/>
          <p:nvPr/>
        </p:nvSpPr>
        <p:spPr bwMode="auto">
          <a:xfrm>
            <a:off x="548640" y="3867911"/>
            <a:ext cx="11064240" cy="274320"/>
          </a:xfrm>
          <a:prstGeom prst="rect">
            <a:avLst/>
          </a:prstGeom>
          <a:noFill/>
        </p:spPr>
        <p:txBody>
          <a:bodyPr wrap="square" anchor="t">
            <a:spAutoFit/>
          </a:bodyPr>
          <a:lstStyle/>
          <a:p>
            <a:pPr algn="l">
              <a:spcAft>
                <a:spcPts val="600"/>
              </a:spcAft>
              <a:defRPr/>
            </a:pPr>
            <a:r>
              <a:rPr sz="1200" b="1">
                <a:solidFill>
                  <a:srgbClr val="92400E"/>
                </a:solidFill>
                <a:latin typeface="Calibri"/>
              </a:rPr>
              <a:t>InvoiceGenerator.php — HTML puis PDF</a:t>
            </a:r>
            <a:endParaRPr/>
          </a:p>
        </p:txBody>
      </p:sp>
      <p:sp>
        <p:nvSpPr>
          <p:cNvPr id="2086019106" name="Rectangle 7"/>
          <p:cNvSpPr/>
          <p:nvPr/>
        </p:nvSpPr>
        <p:spPr bwMode="auto">
          <a:xfrm>
            <a:off x="548640" y="4160519"/>
            <a:ext cx="11064240" cy="210312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86949930" name="TextBox 8"/>
          <p:cNvSpPr txBox="1"/>
          <p:nvPr/>
        </p:nvSpPr>
        <p:spPr bwMode="auto">
          <a:xfrm>
            <a:off x="713232" y="4270248"/>
            <a:ext cx="10735056" cy="1883664"/>
          </a:xfrm>
          <a:prstGeom prst="rect">
            <a:avLst/>
          </a:prstGeom>
          <a:noFill/>
        </p:spPr>
        <p:txBody>
          <a:bodyPr wrap="square">
            <a:spAutoFit/>
          </a:bodyPr>
          <a:lstStyle/>
          <a:p>
            <a:pPr>
              <a:spcAft>
                <a:spcPts val="200"/>
              </a:spcAft>
              <a:defRPr/>
            </a:pPr>
            <a:r>
              <a:rPr sz="1200">
                <a:solidFill>
                  <a:srgbClr val="E5E7EB"/>
                </a:solidFill>
                <a:latin typeface="Consolas"/>
              </a:rPr>
              <a:t>$html = $this-&gt;twig-&gt;render('invoice/facture.html.twig', [</a:t>
            </a:r>
            <a:endParaRPr/>
          </a:p>
          <a:p>
            <a:pPr>
              <a:spcAft>
                <a:spcPts val="200"/>
              </a:spcAft>
              <a:defRPr/>
            </a:pPr>
            <a:r>
              <a:rPr sz="1200">
                <a:solidFill>
                  <a:srgbClr val="E5E7EB"/>
                </a:solidFill>
                <a:latin typeface="Consolas"/>
              </a:rPr>
              <a:t>    'order' =&gt; $order,</a:t>
            </a:r>
            <a:endParaRPr/>
          </a:p>
          <a:p>
            <a:pPr>
              <a:spcAft>
                <a:spcPts val="200"/>
              </a:spcAft>
              <a:defRPr/>
            </a:pPr>
            <a:r>
              <a:rPr sz="1200">
                <a:solidFill>
                  <a:srgbClr val="E5E7EB"/>
                </a:solidFill>
                <a:latin typeface="Consolas"/>
              </a:rPr>
              <a:t>]);</a:t>
            </a:r>
            <a:endParaRPr/>
          </a:p>
          <a:p>
            <a:pPr>
              <a:spcAft>
                <a:spcPts val="200"/>
              </a:spcAft>
              <a:defRPr/>
            </a:pPr>
            <a:r>
              <a:rPr sz="1200">
                <a:solidFill>
                  <a:srgbClr val="E5E7EB"/>
                </a:solidFill>
                <a:latin typeface="Consolas"/>
              </a:rPr>
              <a:t>$dompdf = new Dompdf();</a:t>
            </a:r>
            <a:endParaRPr/>
          </a:p>
          <a:p>
            <a:pPr>
              <a:spcAft>
                <a:spcPts val="200"/>
              </a:spcAft>
              <a:defRPr/>
            </a:pPr>
            <a:r>
              <a:rPr sz="1200">
                <a:solidFill>
                  <a:srgbClr val="E5E7EB"/>
                </a:solidFill>
                <a:latin typeface="Consolas"/>
              </a:rPr>
              <a:t>$dompdf-&gt;loadHtml($html);</a:t>
            </a:r>
            <a:endParaRPr/>
          </a:p>
          <a:p>
            <a:pPr>
              <a:spcAft>
                <a:spcPts val="200"/>
              </a:spcAft>
              <a:defRPr/>
            </a:pPr>
            <a:r>
              <a:rPr sz="1200">
                <a:solidFill>
                  <a:srgbClr val="E5E7EB"/>
                </a:solidFill>
                <a:latin typeface="Consolas"/>
              </a:rPr>
              <a:t>$dompdf-&gt;render();</a:t>
            </a:r>
            <a:endParaRPr/>
          </a:p>
          <a:p>
            <a:pPr>
              <a:spcAft>
                <a:spcPts val="200"/>
              </a:spcAft>
              <a:defRPr/>
            </a:pPr>
            <a:r>
              <a:rPr sz="1200">
                <a:solidFill>
                  <a:srgbClr val="E5E7EB"/>
                </a:solidFill>
                <a:latin typeface="Consolas"/>
              </a:rPr>
              <a:t>return $dompdf-&gt;output();   // le PDF en binaire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933194159"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83795393"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14768803"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L'espace client</a:t>
            </a:r>
            <a:endParaRPr/>
          </a:p>
        </p:txBody>
      </p:sp>
      <p:sp>
        <p:nvSpPr>
          <p:cNvPr id="169220755"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Réservé aux clients connectés</a:t>
            </a:r>
            <a:endParaRPr/>
          </a:p>
        </p:txBody>
      </p:sp>
      <p:sp>
        <p:nvSpPr>
          <p:cNvPr id="937550724" name="TextBox 5"/>
          <p:cNvSpPr txBox="1"/>
          <p:nvPr/>
        </p:nvSpPr>
        <p:spPr bwMode="auto">
          <a:xfrm>
            <a:off x="548640" y="1417319"/>
            <a:ext cx="11064599" cy="1432919"/>
          </a:xfrm>
          <a:prstGeom prst="rect">
            <a:avLst/>
          </a:prstGeom>
          <a:noFill/>
        </p:spPr>
        <p:txBody>
          <a:bodyPr wrap="square" anchor="t">
            <a:spAutoFit/>
          </a:bodyPr>
          <a:lstStyle/>
          <a:p>
            <a:pPr algn="l">
              <a:spcAft>
                <a:spcPts val="1000"/>
              </a:spcAft>
              <a:defRPr/>
            </a:pPr>
            <a:r>
              <a:rPr sz="1500" b="0">
                <a:solidFill>
                  <a:srgbClr val="4B5563"/>
                </a:solidFill>
                <a:latin typeface="Calibri"/>
              </a:rPr>
              <a:t>•  Un tableau de bord avec ses infos et ses commandes</a:t>
            </a:r>
            <a:endParaRPr/>
          </a:p>
          <a:p>
            <a:pPr algn="l">
              <a:spcAft>
                <a:spcPts val="1000"/>
              </a:spcAft>
              <a:defRPr/>
            </a:pPr>
            <a:r>
              <a:rPr sz="1500" b="0">
                <a:solidFill>
                  <a:srgbClr val="4B5563"/>
                </a:solidFill>
                <a:latin typeface="Calibri"/>
              </a:rPr>
              <a:t>•  L'historique complet, avec le statut de chaque commande</a:t>
            </a:r>
            <a:endParaRPr/>
          </a:p>
          <a:p>
            <a:pPr algn="l">
              <a:spcAft>
                <a:spcPts val="1000"/>
              </a:spcAft>
              <a:defRPr/>
            </a:pPr>
            <a:r>
              <a:rPr sz="1500" b="0">
                <a:solidFill>
                  <a:srgbClr val="4B5563"/>
                </a:solidFill>
                <a:latin typeface="Calibri"/>
              </a:rPr>
              <a:t>•  Le détail d'une commande + le téléchargement de la facture</a:t>
            </a:r>
            <a:endParaRPr/>
          </a:p>
          <a:p>
            <a:pPr algn="l">
              <a:spcAft>
                <a:spcPts val="1000"/>
              </a:spcAft>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221345754"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14401959"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98221676"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La partie admin</a:t>
            </a:r>
            <a:endParaRPr/>
          </a:p>
        </p:txBody>
      </p:sp>
      <p:sp>
        <p:nvSpPr>
          <p:cNvPr id="1859788286"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Le back-office</a:t>
            </a:r>
            <a:endParaRPr/>
          </a:p>
        </p:txBody>
      </p:sp>
      <p:sp>
        <p:nvSpPr>
          <p:cNvPr id="291196786" name="TextBox 5"/>
          <p:cNvSpPr txBox="1"/>
          <p:nvPr/>
        </p:nvSpPr>
        <p:spPr bwMode="auto">
          <a:xfrm>
            <a:off x="548640" y="1417319"/>
            <a:ext cx="11065679" cy="2144119"/>
          </a:xfrm>
          <a:prstGeom prst="rect">
            <a:avLst/>
          </a:prstGeom>
          <a:noFill/>
        </p:spPr>
        <p:txBody>
          <a:bodyPr wrap="square" anchor="t">
            <a:spAutoFit/>
          </a:bodyPr>
          <a:lstStyle/>
          <a:p>
            <a:pPr algn="l">
              <a:spcAft>
                <a:spcPts val="1000"/>
              </a:spcAft>
              <a:defRPr/>
            </a:pPr>
            <a:r>
              <a:rPr sz="1500" b="0">
                <a:solidFill>
                  <a:srgbClr val="4B5563"/>
                </a:solidFill>
                <a:latin typeface="Calibri"/>
              </a:rPr>
              <a:t>•  Produits : ajouter, modifier, supprimer + upload d'image + variantes</a:t>
            </a:r>
            <a:endParaRPr/>
          </a:p>
          <a:p>
            <a:pPr algn="l">
              <a:spcAft>
                <a:spcPts val="1000"/>
              </a:spcAft>
              <a:defRPr/>
            </a:pPr>
            <a:r>
              <a:rPr sz="1500" b="0">
                <a:solidFill>
                  <a:srgbClr val="4B5563"/>
                </a:solidFill>
                <a:latin typeface="Calibri"/>
              </a:rPr>
              <a:t>•  Catégories</a:t>
            </a:r>
            <a:endParaRPr/>
          </a:p>
          <a:p>
            <a:pPr algn="l">
              <a:spcAft>
                <a:spcPts val="1000"/>
              </a:spcAft>
              <a:defRPr/>
            </a:pPr>
            <a:r>
              <a:rPr sz="1500" b="0">
                <a:solidFill>
                  <a:srgbClr val="4B5563"/>
                </a:solidFill>
                <a:latin typeface="Calibri"/>
              </a:rPr>
              <a:t>•  Commandes : les voir, filtrer, et changer leur statut</a:t>
            </a:r>
            <a:endParaRPr/>
          </a:p>
          <a:p>
            <a:pPr algn="l">
              <a:spcAft>
                <a:spcPts val="1000"/>
              </a:spcAft>
              <a:defRPr/>
            </a:pPr>
            <a:r>
              <a:rPr sz="1500" b="0">
                <a:solidFill>
                  <a:srgbClr val="4B5563"/>
                </a:solidFill>
                <a:latin typeface="Calibri"/>
              </a:rPr>
              <a:t>•  Utilisateurs : les lister, changer le rôle, désactiver un compte</a:t>
            </a:r>
            <a:endParaRPr/>
          </a:p>
          <a:p>
            <a:pPr algn="l">
              <a:spcAft>
                <a:spcPts val="1000"/>
              </a:spcAft>
              <a:defRPr/>
            </a:pPr>
            <a:r>
              <a:rPr sz="1500" b="0">
                <a:solidFill>
                  <a:srgbClr val="4B5563"/>
                </a:solidFill>
                <a:latin typeface="Calibri"/>
              </a:rPr>
              <a:t>•  Avis : valider ou supprimer (modération)</a:t>
            </a:r>
            <a:endParaRPr/>
          </a:p>
          <a:p>
            <a:pPr algn="l">
              <a:spcAft>
                <a:spcPts val="1000"/>
              </a:spcAft>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558310843"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91558337"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30296528"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Les e-mails</a:t>
            </a:r>
            <a:endParaRPr/>
          </a:p>
        </p:txBody>
      </p:sp>
      <p:sp>
        <p:nvSpPr>
          <p:cNvPr id="251534996"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Envoyés automatiquement</a:t>
            </a:r>
            <a:endParaRPr/>
          </a:p>
        </p:txBody>
      </p:sp>
      <p:sp>
        <p:nvSpPr>
          <p:cNvPr id="1815480100" name="TextBox 5"/>
          <p:cNvSpPr txBox="1"/>
          <p:nvPr/>
        </p:nvSpPr>
        <p:spPr bwMode="auto">
          <a:xfrm>
            <a:off x="548640" y="1417320"/>
            <a:ext cx="11064240" cy="4754880"/>
          </a:xfrm>
          <a:prstGeom prst="rect">
            <a:avLst/>
          </a:prstGeom>
          <a:noFill/>
        </p:spPr>
        <p:txBody>
          <a:bodyPr wrap="square" anchor="t">
            <a:spAutoFit/>
          </a:bodyPr>
          <a:lstStyle/>
          <a:p>
            <a:pPr algn="l">
              <a:spcAft>
                <a:spcPts val="1000"/>
              </a:spcAft>
              <a:defRPr/>
            </a:pPr>
            <a:r>
              <a:rPr sz="1500" b="0">
                <a:solidFill>
                  <a:srgbClr val="4B5563"/>
                </a:solidFill>
                <a:latin typeface="Calibri"/>
              </a:rPr>
              <a:t>•  Bienvenue à l'inscription</a:t>
            </a:r>
            <a:endParaRPr/>
          </a:p>
          <a:p>
            <a:pPr algn="l">
              <a:spcAft>
                <a:spcPts val="1000"/>
              </a:spcAft>
              <a:defRPr/>
            </a:pPr>
            <a:r>
              <a:rPr sz="1500" b="0">
                <a:solidFill>
                  <a:srgbClr val="4B5563"/>
                </a:solidFill>
                <a:latin typeface="Calibri"/>
              </a:rPr>
              <a:t>•  Confirmation de commande, avec la facture en pièce jointe</a:t>
            </a:r>
            <a:endParaRPr/>
          </a:p>
          <a:p>
            <a:pPr algn="l">
              <a:spcAft>
                <a:spcPts val="1000"/>
              </a:spcAft>
              <a:defRPr/>
            </a:pPr>
            <a:r>
              <a:rPr sz="1500" b="0">
                <a:solidFill>
                  <a:srgbClr val="4B5563"/>
                </a:solidFill>
                <a:latin typeface="Calibri"/>
              </a:rPr>
              <a:t>•  Notification à l'admin quand il y a une nouvelle commande</a:t>
            </a:r>
            <a:endParaRPr/>
          </a:p>
          <a:p>
            <a:pPr algn="l">
              <a:spcAft>
                <a:spcPts val="1000"/>
              </a:spcAft>
              <a:defRPr/>
            </a:pPr>
            <a:r>
              <a:rPr sz="1500" b="0">
                <a:solidFill>
                  <a:srgbClr val="4B5563"/>
                </a:solidFill>
                <a:latin typeface="Calibri"/>
              </a:rPr>
              <a:t>•  Réinitialisation du mot de passe</a:t>
            </a:r>
            <a:endParaRPr/>
          </a:p>
          <a:p>
            <a:pPr algn="l">
              <a:spcAft>
                <a:spcPts val="1000"/>
              </a:spcAft>
              <a:defRPr/>
            </a:pPr>
            <a:r>
              <a:rPr sz="1500" b="0">
                <a:solidFill>
                  <a:srgbClr val="4B5563"/>
                </a:solidFill>
                <a:latin typeface="Calibri"/>
              </a:rPr>
              <a:t>•  Le message du formulaire de contact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034998278"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04810432"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04185425"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La sécurité</a:t>
            </a:r>
            <a:endParaRPr/>
          </a:p>
        </p:txBody>
      </p:sp>
      <p:sp>
        <p:nvSpPr>
          <p:cNvPr id="1599937265"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Les protections en place</a:t>
            </a:r>
            <a:endParaRPr/>
          </a:p>
        </p:txBody>
      </p:sp>
      <p:sp>
        <p:nvSpPr>
          <p:cNvPr id="342109818" name="TextBox 5"/>
          <p:cNvSpPr txBox="1"/>
          <p:nvPr/>
        </p:nvSpPr>
        <p:spPr bwMode="auto">
          <a:xfrm>
            <a:off x="548640" y="1371600"/>
            <a:ext cx="11070719" cy="1310999"/>
          </a:xfrm>
          <a:prstGeom prst="rect">
            <a:avLst/>
          </a:prstGeom>
          <a:noFill/>
        </p:spPr>
        <p:txBody>
          <a:bodyPr wrap="square" anchor="t">
            <a:spAutoFit/>
          </a:bodyPr>
          <a:lstStyle/>
          <a:p>
            <a:pPr algn="l">
              <a:spcAft>
                <a:spcPts val="800"/>
              </a:spcAft>
              <a:defRPr/>
            </a:pPr>
            <a:r>
              <a:rPr sz="1500" b="0">
                <a:solidFill>
                  <a:srgbClr val="4B5563"/>
                </a:solidFill>
                <a:latin typeface="Calibri"/>
              </a:rPr>
              <a:t>•  Injections SQL : </a:t>
            </a:r>
            <a:r>
              <a:rPr lang="fr-FR" sz="1500" b="0">
                <a:solidFill>
                  <a:srgbClr val="4B5563"/>
                </a:solidFill>
                <a:latin typeface="Calibri"/>
              </a:rPr>
              <a:t>utilisation de</a:t>
            </a:r>
            <a:r>
              <a:rPr sz="1500" b="0">
                <a:solidFill>
                  <a:srgbClr val="4B5563"/>
                </a:solidFill>
                <a:latin typeface="Calibri"/>
              </a:rPr>
              <a:t> Doctrine </a:t>
            </a:r>
            <a:endParaRPr/>
          </a:p>
          <a:p>
            <a:pPr algn="l">
              <a:spcAft>
                <a:spcPts val="800"/>
              </a:spcAft>
              <a:defRPr/>
            </a:pPr>
            <a:r>
              <a:rPr sz="1500" b="0">
                <a:solidFill>
                  <a:srgbClr val="4B5563"/>
                </a:solidFill>
                <a:latin typeface="Calibri"/>
              </a:rPr>
              <a:t>•  XSS : Twig échappe automatiquement ce qu'on affiche</a:t>
            </a:r>
            <a:endParaRPr/>
          </a:p>
          <a:p>
            <a:pPr algn="l">
              <a:spcAft>
                <a:spcPts val="800"/>
              </a:spcAft>
              <a:defRPr/>
            </a:pPr>
            <a:r>
              <a:rPr sz="1500" b="0">
                <a:solidFill>
                  <a:srgbClr val="4B5563"/>
                </a:solidFill>
                <a:latin typeface="Calibri"/>
              </a:rPr>
              <a:t>•  CSRF : un jeton secret sur chaque formulaire</a:t>
            </a:r>
            <a:endParaRPr/>
          </a:p>
          <a:p>
            <a:pPr algn="l">
              <a:spcAft>
                <a:spcPts val="800"/>
              </a:spcAft>
              <a:defRPr/>
            </a:pPr>
            <a:r>
              <a:rPr sz="1500" b="0">
                <a:solidFill>
                  <a:srgbClr val="4B5563"/>
                </a:solidFill>
                <a:latin typeface="Calibri"/>
              </a:rPr>
              <a:t>•  Mots de passe hashés</a:t>
            </a:r>
            <a:endParaRPr/>
          </a:p>
        </p:txBody>
      </p:sp>
      <p:sp>
        <p:nvSpPr>
          <p:cNvPr id="2035200859" name="TextBox 6"/>
          <p:cNvSpPr txBox="1"/>
          <p:nvPr/>
        </p:nvSpPr>
        <p:spPr bwMode="auto">
          <a:xfrm>
            <a:off x="548640" y="3867911"/>
            <a:ext cx="11064240" cy="274320"/>
          </a:xfrm>
          <a:prstGeom prst="rect">
            <a:avLst/>
          </a:prstGeom>
          <a:noFill/>
        </p:spPr>
        <p:txBody>
          <a:bodyPr wrap="square" anchor="t">
            <a:spAutoFit/>
          </a:bodyPr>
          <a:lstStyle/>
          <a:p>
            <a:pPr algn="l">
              <a:spcAft>
                <a:spcPts val="600"/>
              </a:spcAft>
              <a:defRPr/>
            </a:pPr>
            <a:r>
              <a:rPr sz="1200" b="1">
                <a:solidFill>
                  <a:srgbClr val="92400E"/>
                </a:solidFill>
                <a:latin typeface="Calibri"/>
              </a:rPr>
              <a:t>CategoryController.php — vérification du jeton CSRF</a:t>
            </a:r>
            <a:endParaRPr/>
          </a:p>
        </p:txBody>
      </p:sp>
      <p:sp>
        <p:nvSpPr>
          <p:cNvPr id="1227174620" name="Rectangle 7"/>
          <p:cNvSpPr/>
          <p:nvPr/>
        </p:nvSpPr>
        <p:spPr bwMode="auto">
          <a:xfrm>
            <a:off x="548640" y="4160519"/>
            <a:ext cx="11064240" cy="210312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40287440" name="TextBox 8"/>
          <p:cNvSpPr txBox="1"/>
          <p:nvPr/>
        </p:nvSpPr>
        <p:spPr bwMode="auto">
          <a:xfrm>
            <a:off x="713232" y="4270248"/>
            <a:ext cx="10737215" cy="1107799"/>
          </a:xfrm>
          <a:prstGeom prst="rect">
            <a:avLst/>
          </a:prstGeom>
          <a:noFill/>
        </p:spPr>
        <p:txBody>
          <a:bodyPr wrap="square">
            <a:spAutoFit/>
          </a:bodyPr>
          <a:lstStyle/>
          <a:p>
            <a:pPr>
              <a:spcAft>
                <a:spcPts val="200"/>
              </a:spcAft>
              <a:defRPr/>
            </a:pPr>
            <a:r>
              <a:rPr sz="1200">
                <a:solidFill>
                  <a:srgbClr val="E5E7EB"/>
                </a:solidFill>
                <a:latin typeface="Consolas"/>
              </a:rPr>
              <a:t>if (!$this-&gt;isCsrfTokenValid(</a:t>
            </a:r>
            <a:endParaRPr/>
          </a:p>
          <a:p>
            <a:pPr>
              <a:spcAft>
                <a:spcPts val="200"/>
              </a:spcAft>
              <a:defRPr/>
            </a:pPr>
            <a:r>
              <a:rPr sz="1200">
                <a:solidFill>
                  <a:srgbClr val="E5E7EB"/>
                </a:solidFill>
                <a:latin typeface="Consolas"/>
              </a:rPr>
              <a:t>        'delete_category_' . $id,</a:t>
            </a:r>
            <a:endParaRPr/>
          </a:p>
          <a:p>
            <a:pPr>
              <a:spcAft>
                <a:spcPts val="200"/>
              </a:spcAft>
              <a:defRPr/>
            </a:pPr>
            <a:r>
              <a:rPr sz="1200">
                <a:solidFill>
                  <a:srgbClr val="E5E7EB"/>
                </a:solidFill>
                <a:latin typeface="Consolas"/>
              </a:rPr>
              <a:t>        $request-&gt;request-&gt;get('_token'))) {</a:t>
            </a:r>
            <a:endParaRPr/>
          </a:p>
          <a:p>
            <a:pPr>
              <a:spcAft>
                <a:spcPts val="200"/>
              </a:spcAft>
              <a:defRPr/>
            </a:pPr>
            <a:r>
              <a:rPr sz="1200">
                <a:solidFill>
                  <a:srgbClr val="E5E7EB"/>
                </a:solidFill>
                <a:latin typeface="Consolas"/>
              </a:rPr>
              <a:t>    return $this-&gt;redirectToRoute('admin_category_index');</a:t>
            </a:r>
            <a:endParaRPr/>
          </a:p>
          <a:p>
            <a:pPr>
              <a:spcAft>
                <a:spcPts val="200"/>
              </a:spcAft>
              <a:defRPr/>
            </a:pPr>
            <a:r>
              <a:rPr sz="1200">
                <a:solidFill>
                  <a:srgbClr val="E5E7EB"/>
                </a:solidFill>
                <a:latin typeface="Consolas"/>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224787015"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73960015"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98471649"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Référencement &amp; mobile</a:t>
            </a:r>
            <a:endParaRPr/>
          </a:p>
        </p:txBody>
      </p:sp>
      <p:sp>
        <p:nvSpPr>
          <p:cNvPr id="1812909223"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SEO et responsive</a:t>
            </a:r>
            <a:endParaRPr/>
          </a:p>
        </p:txBody>
      </p:sp>
      <p:sp>
        <p:nvSpPr>
          <p:cNvPr id="511277017" name="TextBox 5"/>
          <p:cNvSpPr txBox="1"/>
          <p:nvPr/>
        </p:nvSpPr>
        <p:spPr bwMode="auto">
          <a:xfrm>
            <a:off x="548640" y="1417320"/>
            <a:ext cx="11064240" cy="4754880"/>
          </a:xfrm>
          <a:prstGeom prst="rect">
            <a:avLst/>
          </a:prstGeom>
          <a:noFill/>
        </p:spPr>
        <p:txBody>
          <a:bodyPr wrap="square" anchor="t">
            <a:spAutoFit/>
          </a:bodyPr>
          <a:lstStyle/>
          <a:p>
            <a:pPr algn="l">
              <a:spcAft>
                <a:spcPts val="1000"/>
              </a:spcAft>
              <a:defRPr/>
            </a:pPr>
            <a:r>
              <a:rPr sz="1500" b="0">
                <a:solidFill>
                  <a:srgbClr val="4B5563"/>
                </a:solidFill>
                <a:latin typeface="Calibri"/>
              </a:rPr>
              <a:t>•  Des URL propres et des balises meta sur chaque page</a:t>
            </a:r>
            <a:endParaRPr/>
          </a:p>
          <a:p>
            <a:pPr algn="l">
              <a:spcAft>
                <a:spcPts val="1000"/>
              </a:spcAft>
              <a:defRPr/>
            </a:pPr>
            <a:r>
              <a:rPr sz="1500" b="0">
                <a:solidFill>
                  <a:srgbClr val="4B5563"/>
                </a:solidFill>
                <a:latin typeface="Calibri"/>
              </a:rPr>
              <a:t>•  Un sitemap.xml généré tout seul à partir des produits</a:t>
            </a:r>
            <a:endParaRPr/>
          </a:p>
          <a:p>
            <a:pPr algn="l">
              <a:spcAft>
                <a:spcPts val="1000"/>
              </a:spcAft>
              <a:defRPr/>
            </a:pPr>
            <a:r>
              <a:rPr sz="1500" b="0">
                <a:solidFill>
                  <a:srgbClr val="4B5563"/>
                </a:solidFill>
                <a:latin typeface="Calibri"/>
              </a:rPr>
              <a:t>•  Les balises de partage (Open Graph) pour les réseaux sociaux</a:t>
            </a:r>
            <a:endParaRPr/>
          </a:p>
          <a:p>
            <a:pPr algn="l">
              <a:spcAft>
                <a:spcPts val="1000"/>
              </a:spcAft>
              <a:defRPr/>
            </a:pPr>
            <a:r>
              <a:rPr sz="1500" b="0">
                <a:solidFill>
                  <a:srgbClr val="4B5563"/>
                </a:solidFill>
                <a:latin typeface="Calibri"/>
              </a:rPr>
              <a:t>•  Le site s'adapte au mobile, avec un menu burger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272089259"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51071034"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94253571"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Docker, tests &amp; CI</a:t>
            </a:r>
            <a:endParaRPr/>
          </a:p>
        </p:txBody>
      </p:sp>
      <p:sp>
        <p:nvSpPr>
          <p:cNvPr id="195942386"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La mise en place technique</a:t>
            </a:r>
            <a:endParaRPr/>
          </a:p>
        </p:txBody>
      </p:sp>
      <p:sp>
        <p:nvSpPr>
          <p:cNvPr id="1411243019" name="TextBox 5"/>
          <p:cNvSpPr txBox="1"/>
          <p:nvPr/>
        </p:nvSpPr>
        <p:spPr bwMode="auto">
          <a:xfrm>
            <a:off x="548640" y="1417319"/>
            <a:ext cx="11075039" cy="1387199"/>
          </a:xfrm>
          <a:prstGeom prst="rect">
            <a:avLst/>
          </a:prstGeom>
          <a:noFill/>
        </p:spPr>
        <p:txBody>
          <a:bodyPr wrap="square" anchor="t">
            <a:spAutoFit/>
          </a:bodyPr>
          <a:lstStyle/>
          <a:p>
            <a:pPr algn="l">
              <a:spcAft>
                <a:spcPts val="1000"/>
              </a:spcAft>
              <a:defRPr/>
            </a:pPr>
            <a:r>
              <a:rPr sz="1500" b="0">
                <a:solidFill>
                  <a:srgbClr val="4B5563"/>
                </a:solidFill>
                <a:latin typeface="Calibri"/>
              </a:rPr>
              <a:t>•  Tout est dans des conteneurs Docker</a:t>
            </a:r>
            <a:endParaRPr/>
          </a:p>
          <a:p>
            <a:pPr algn="l">
              <a:spcAft>
                <a:spcPts val="1000"/>
              </a:spcAft>
              <a:defRPr/>
            </a:pPr>
            <a:r>
              <a:rPr sz="1500" b="0">
                <a:solidFill>
                  <a:srgbClr val="4B5563"/>
                </a:solidFill>
                <a:latin typeface="Calibri"/>
              </a:rPr>
              <a:t>•  La base évolue avec des migrations (fichiers versionnés)</a:t>
            </a:r>
            <a:endParaRPr/>
          </a:p>
          <a:p>
            <a:pPr algn="l">
              <a:spcAft>
                <a:spcPts val="1000"/>
              </a:spcAft>
              <a:defRPr/>
            </a:pPr>
            <a:r>
              <a:rPr sz="1500" b="0">
                <a:solidFill>
                  <a:srgbClr val="4B5563"/>
                </a:solidFill>
                <a:latin typeface="Calibri"/>
              </a:rPr>
              <a:t>•  J'ai des tests automatisés</a:t>
            </a:r>
            <a:endParaRPr/>
          </a:p>
          <a:p>
            <a:pPr algn="l">
              <a:spcAft>
                <a:spcPts val="1000"/>
              </a:spcAft>
              <a:defRPr/>
            </a:pPr>
            <a:r>
              <a:rPr sz="1500" b="0">
                <a:solidFill>
                  <a:srgbClr val="4B5563"/>
                </a:solidFill>
                <a:latin typeface="Calibri"/>
              </a:rPr>
              <a:t>•  À chaque fois que je pousse mon code, GitHub vérifie tout seul que ça compile et que les tests passent</a:t>
            </a:r>
            <a:r>
              <a:rPr lang="fr-FR" sz="1500" b="0">
                <a:solidFill>
                  <a:srgbClr val="4B5563"/>
                </a:solidFill>
                <a:latin typeface="Calibri"/>
              </a:rPr>
              <a:t> et envoie un mail du resultat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278539640"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32857261"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31688985"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Récapitulatif des fonctionnalités</a:t>
            </a:r>
            <a:endParaRPr/>
          </a:p>
        </p:txBody>
      </p:sp>
      <p:sp>
        <p:nvSpPr>
          <p:cNvPr id="431652294"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Ce qui est fait</a:t>
            </a:r>
            <a:endParaRPr/>
          </a:p>
        </p:txBody>
      </p:sp>
      <p:sp>
        <p:nvSpPr>
          <p:cNvPr id="1852072804" name="TextBox 5"/>
          <p:cNvSpPr txBox="1"/>
          <p:nvPr/>
        </p:nvSpPr>
        <p:spPr bwMode="auto">
          <a:xfrm>
            <a:off x="548640" y="1371600"/>
            <a:ext cx="5577840" cy="457200"/>
          </a:xfrm>
          <a:prstGeom prst="rect">
            <a:avLst/>
          </a:prstGeom>
          <a:noFill/>
        </p:spPr>
        <p:txBody>
          <a:bodyPr wrap="square" anchor="t">
            <a:spAutoFit/>
          </a:bodyPr>
          <a:lstStyle/>
          <a:p>
            <a:pPr algn="l">
              <a:spcAft>
                <a:spcPts val="600"/>
              </a:spcAft>
              <a:defRPr/>
            </a:pPr>
            <a:r>
              <a:rPr sz="1900" b="1">
                <a:solidFill>
                  <a:srgbClr val="167A3B"/>
                </a:solidFill>
                <a:latin typeface="Calibri"/>
              </a:rPr>
              <a:t>Réalisé</a:t>
            </a:r>
            <a:endParaRPr/>
          </a:p>
        </p:txBody>
      </p:sp>
      <p:sp>
        <p:nvSpPr>
          <p:cNvPr id="1213725494" name="TextBox 6"/>
          <p:cNvSpPr txBox="1"/>
          <p:nvPr/>
        </p:nvSpPr>
        <p:spPr bwMode="auto">
          <a:xfrm>
            <a:off x="548640" y="1874519"/>
            <a:ext cx="5577840" cy="4572000"/>
          </a:xfrm>
          <a:prstGeom prst="rect">
            <a:avLst/>
          </a:prstGeom>
          <a:noFill/>
        </p:spPr>
        <p:txBody>
          <a:bodyPr wrap="square" anchor="t">
            <a:spAutoFit/>
          </a:bodyPr>
          <a:lstStyle/>
          <a:p>
            <a:pPr algn="l">
              <a:spcAft>
                <a:spcPts val="700"/>
              </a:spcAft>
              <a:defRPr/>
            </a:pPr>
            <a:r>
              <a:rPr sz="1450" b="0">
                <a:solidFill>
                  <a:srgbClr val="4B5563"/>
                </a:solidFill>
                <a:latin typeface="Calibri"/>
              </a:rPr>
              <a:t>✓  Authentification complète (+ mot de passe oublié)</a:t>
            </a:r>
            <a:endParaRPr/>
          </a:p>
          <a:p>
            <a:pPr algn="l">
              <a:spcAft>
                <a:spcPts val="700"/>
              </a:spcAft>
              <a:defRPr/>
            </a:pPr>
            <a:r>
              <a:rPr sz="1450" b="0">
                <a:solidFill>
                  <a:srgbClr val="4B5563"/>
                </a:solidFill>
                <a:latin typeface="Calibri"/>
              </a:rPr>
              <a:t>✓  Catalogue, filtres et fiches produit</a:t>
            </a:r>
            <a:endParaRPr/>
          </a:p>
          <a:p>
            <a:pPr algn="l">
              <a:spcAft>
                <a:spcPts val="700"/>
              </a:spcAft>
              <a:defRPr/>
            </a:pPr>
            <a:r>
              <a:rPr sz="1450" b="0">
                <a:solidFill>
                  <a:srgbClr val="4B5563"/>
                </a:solidFill>
                <a:latin typeface="Calibri"/>
              </a:rPr>
              <a:t>✓  Panier et commande</a:t>
            </a:r>
            <a:endParaRPr/>
          </a:p>
          <a:p>
            <a:pPr algn="l">
              <a:spcAft>
                <a:spcPts val="700"/>
              </a:spcAft>
              <a:defRPr/>
            </a:pPr>
            <a:r>
              <a:rPr sz="1450" b="0">
                <a:solidFill>
                  <a:srgbClr val="4B5563"/>
                </a:solidFill>
                <a:latin typeface="Calibri"/>
              </a:rPr>
              <a:t>✓  Facture PDF</a:t>
            </a:r>
            <a:endParaRPr/>
          </a:p>
          <a:p>
            <a:pPr algn="l">
              <a:spcAft>
                <a:spcPts val="700"/>
              </a:spcAft>
              <a:defRPr/>
            </a:pPr>
            <a:r>
              <a:rPr sz="1450" b="0">
                <a:solidFill>
                  <a:srgbClr val="4B5563"/>
                </a:solidFill>
                <a:latin typeface="Calibri"/>
              </a:rPr>
              <a:t>✓  Espace client</a:t>
            </a:r>
            <a:endParaRPr/>
          </a:p>
          <a:p>
            <a:pPr algn="l">
              <a:spcAft>
                <a:spcPts val="700"/>
              </a:spcAft>
              <a:defRPr/>
            </a:pPr>
            <a:r>
              <a:rPr sz="1450" b="0">
                <a:solidFill>
                  <a:srgbClr val="4B5563"/>
                </a:solidFill>
                <a:latin typeface="Calibri"/>
              </a:rPr>
              <a:t>✓  Back-office complet (produits, commandes, users, avis)</a:t>
            </a:r>
            <a:endParaRPr/>
          </a:p>
          <a:p>
            <a:pPr algn="l">
              <a:spcAft>
                <a:spcPts val="700"/>
              </a:spcAft>
              <a:defRPr/>
            </a:pPr>
            <a:r>
              <a:rPr sz="1450" b="0">
                <a:solidFill>
                  <a:srgbClr val="4B5563"/>
                </a:solidFill>
                <a:latin typeface="Calibri"/>
              </a:rPr>
              <a:t>✓  E-mails automatiques</a:t>
            </a:r>
            <a:endParaRPr/>
          </a:p>
          <a:p>
            <a:pPr algn="l">
              <a:spcAft>
                <a:spcPts val="700"/>
              </a:spcAft>
              <a:defRPr/>
            </a:pPr>
            <a:r>
              <a:rPr sz="1450" b="0">
                <a:solidFill>
                  <a:srgbClr val="4B5563"/>
                </a:solidFill>
                <a:latin typeface="Calibri"/>
              </a:rPr>
              <a:t>✓  Sécurité (CSRF, SQL, XSS)</a:t>
            </a:r>
            <a:endParaRPr/>
          </a:p>
          <a:p>
            <a:pPr algn="l">
              <a:spcAft>
                <a:spcPts val="700"/>
              </a:spcAft>
              <a:defRPr/>
            </a:pPr>
            <a:r>
              <a:rPr sz="1450" b="0">
                <a:solidFill>
                  <a:srgbClr val="4B5563"/>
                </a:solidFill>
                <a:latin typeface="Calibri"/>
              </a:rPr>
              <a:t>✓  SEO + responsive</a:t>
            </a:r>
            <a:endParaRPr/>
          </a:p>
          <a:p>
            <a:pPr algn="l">
              <a:spcAft>
                <a:spcPts val="700"/>
              </a:spcAft>
              <a:defRPr/>
            </a:pPr>
            <a:r>
              <a:rPr sz="1450" b="0">
                <a:solidFill>
                  <a:srgbClr val="4B5563"/>
                </a:solidFill>
                <a:latin typeface="Calibri"/>
              </a:rPr>
              <a:t>✓  Docker + intégration continue + tests</a:t>
            </a:r>
            <a:endParaRPr/>
          </a:p>
        </p:txBody>
      </p:sp>
      <p:sp>
        <p:nvSpPr>
          <p:cNvPr id="1362517243" name="TextBox 7"/>
          <p:cNvSpPr txBox="1"/>
          <p:nvPr/>
        </p:nvSpPr>
        <p:spPr bwMode="auto">
          <a:xfrm>
            <a:off x="6400800" y="1371600"/>
            <a:ext cx="5305679" cy="381359"/>
          </a:xfrm>
          <a:prstGeom prst="rect">
            <a:avLst/>
          </a:prstGeom>
          <a:noFill/>
        </p:spPr>
        <p:txBody>
          <a:bodyPr wrap="square" anchor="t">
            <a:spAutoFit/>
          </a:bodyPr>
          <a:lstStyle/>
          <a:p>
            <a:pPr algn="l">
              <a:spcAft>
                <a:spcPts val="600"/>
              </a:spcAft>
              <a:defRPr/>
            </a:pPr>
            <a:r>
              <a:rPr sz="1900" b="1">
                <a:solidFill>
                  <a:srgbClr val="B91C1C"/>
                </a:solidFill>
                <a:latin typeface="Calibri"/>
              </a:rPr>
              <a:t>Non fait (</a:t>
            </a:r>
            <a:r>
              <a:rPr lang="fr-FR" sz="1900" b="1">
                <a:solidFill>
                  <a:srgbClr val="B91C1C"/>
                </a:solidFill>
                <a:latin typeface="Calibri"/>
              </a:rPr>
              <a:t>pardon</a:t>
            </a:r>
            <a:r>
              <a:rPr sz="1900" b="1">
                <a:solidFill>
                  <a:srgbClr val="B91C1C"/>
                </a:solidFill>
                <a:latin typeface="Calibri"/>
              </a:rPr>
              <a:t>)</a:t>
            </a:r>
            <a:endParaRPr/>
          </a:p>
        </p:txBody>
      </p:sp>
      <p:sp>
        <p:nvSpPr>
          <p:cNvPr id="1660984514" name="TextBox 8"/>
          <p:cNvSpPr txBox="1"/>
          <p:nvPr/>
        </p:nvSpPr>
        <p:spPr bwMode="auto">
          <a:xfrm>
            <a:off x="6400800" y="1874518"/>
            <a:ext cx="5133959" cy="1621019"/>
          </a:xfrm>
          <a:prstGeom prst="rect">
            <a:avLst/>
          </a:prstGeom>
          <a:noFill/>
        </p:spPr>
        <p:txBody>
          <a:bodyPr wrap="square" anchor="t">
            <a:spAutoFit/>
          </a:bodyPr>
          <a:lstStyle/>
          <a:p>
            <a:pPr algn="l">
              <a:spcAft>
                <a:spcPts val="700"/>
              </a:spcAft>
              <a:defRPr/>
            </a:pPr>
            <a:r>
              <a:rPr sz="1450" b="0">
                <a:solidFill>
                  <a:srgbClr val="4B5563"/>
                </a:solidFill>
                <a:latin typeface="Calibri"/>
              </a:rPr>
              <a:t>✗  PWA (application installable)</a:t>
            </a:r>
            <a:endParaRPr/>
          </a:p>
          <a:p>
            <a:pPr algn="l">
              <a:spcAft>
                <a:spcPts val="700"/>
              </a:spcAft>
              <a:defRPr/>
            </a:pPr>
            <a:r>
              <a:rPr sz="1450" b="0">
                <a:solidFill>
                  <a:srgbClr val="4B5563"/>
                </a:solidFill>
                <a:latin typeface="Calibri"/>
              </a:rPr>
              <a:t>✗  Paiement en ligne réel</a:t>
            </a:r>
            <a:endParaRPr/>
          </a:p>
          <a:p>
            <a:pPr algn="l">
              <a:spcAft>
                <a:spcPts val="700"/>
              </a:spcAft>
              <a:defRPr/>
            </a:pPr>
            <a:r>
              <a:rPr sz="1450" b="0">
                <a:solidFill>
                  <a:srgbClr val="4B5563"/>
                </a:solidFill>
                <a:latin typeface="Calibri"/>
              </a:rPr>
              <a:t>✗  Intégration d'une API externe</a:t>
            </a:r>
            <a:endParaRPr/>
          </a:p>
          <a:p>
            <a:pPr algn="l">
              <a:spcAft>
                <a:spcPts val="699"/>
              </a:spcAft>
              <a:defRPr/>
            </a:pPr>
            <a:r>
              <a:rPr lang="en-US" sz="1450" b="0" i="0" u="none" strike="noStrike" cap="none" spc="0">
                <a:solidFill>
                  <a:srgbClr val="4B5563"/>
                </a:solidFill>
                <a:latin typeface="Calibri"/>
                <a:ea typeface="Calibri"/>
                <a:cs typeface="Calibri"/>
              </a:rPr>
              <a:t>✗  </a:t>
            </a:r>
            <a:r>
              <a:rPr lang="fr-FR" sz="1450" b="0" i="0" u="none" strike="noStrike" cap="none" spc="0">
                <a:solidFill>
                  <a:srgbClr val="4B5563"/>
                </a:solidFill>
                <a:latin typeface="Calibri"/>
                <a:ea typeface="Calibri"/>
                <a:cs typeface="Calibri"/>
              </a:rPr>
              <a:t>Mail, marche a moitier</a:t>
            </a:r>
            <a:endParaRPr/>
          </a:p>
          <a:p>
            <a:pPr algn="l">
              <a:spcAft>
                <a:spcPts val="699"/>
              </a:spcAft>
              <a:defRPr/>
            </a:pPr>
            <a:r>
              <a:rPr lang="fr-F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663118210"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26010815"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60356574"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Chiffrage</a:t>
            </a:r>
            <a:endParaRPr/>
          </a:p>
        </p:txBody>
      </p:sp>
      <p:sp>
        <p:nvSpPr>
          <p:cNvPr id="1826610578" name="TextBox 4"/>
          <p:cNvSpPr txBox="1"/>
          <p:nvPr/>
        </p:nvSpPr>
        <p:spPr bwMode="auto">
          <a:xfrm>
            <a:off x="566928" y="658368"/>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Temps de dev et coûts dans la durée</a:t>
            </a:r>
            <a:endParaRPr/>
          </a:p>
        </p:txBody>
      </p:sp>
      <p:sp>
        <p:nvSpPr>
          <p:cNvPr id="11906034" name="TextBox 5"/>
          <p:cNvSpPr txBox="1"/>
          <p:nvPr/>
        </p:nvSpPr>
        <p:spPr bwMode="auto">
          <a:xfrm>
            <a:off x="548640" y="1371600"/>
            <a:ext cx="5486400" cy="457200"/>
          </a:xfrm>
          <a:prstGeom prst="rect">
            <a:avLst/>
          </a:prstGeom>
          <a:noFill/>
        </p:spPr>
        <p:txBody>
          <a:bodyPr wrap="square" anchor="t">
            <a:spAutoFit/>
          </a:bodyPr>
          <a:lstStyle/>
          <a:p>
            <a:pPr algn="l">
              <a:spcAft>
                <a:spcPts val="600"/>
              </a:spcAft>
              <a:defRPr/>
            </a:pPr>
            <a:r>
              <a:rPr sz="1900" b="1">
                <a:solidFill>
                  <a:srgbClr val="92400E"/>
                </a:solidFill>
                <a:latin typeface="Calibri"/>
              </a:rPr>
              <a:t>Le temps de développement</a:t>
            </a:r>
            <a:endParaRPr/>
          </a:p>
        </p:txBody>
      </p:sp>
      <p:sp>
        <p:nvSpPr>
          <p:cNvPr id="1842436481" name="TextBox 6"/>
          <p:cNvSpPr txBox="1"/>
          <p:nvPr/>
        </p:nvSpPr>
        <p:spPr bwMode="auto">
          <a:xfrm>
            <a:off x="548640" y="1874519"/>
            <a:ext cx="5577840" cy="2743200"/>
          </a:xfrm>
          <a:prstGeom prst="rect">
            <a:avLst/>
          </a:prstGeom>
          <a:noFill/>
        </p:spPr>
        <p:txBody>
          <a:bodyPr wrap="square" anchor="t">
            <a:spAutoFit/>
          </a:bodyPr>
          <a:lstStyle/>
          <a:p>
            <a:pPr algn="l">
              <a:spcAft>
                <a:spcPts val="600"/>
              </a:spcAft>
              <a:defRPr/>
            </a:pPr>
            <a:r>
              <a:rPr sz="1500" b="1">
                <a:solidFill>
                  <a:srgbClr val="1F2937"/>
                </a:solidFill>
                <a:latin typeface="Calibri"/>
              </a:rPr>
              <a:t>Environ 20 à 25 jours de travail</a:t>
            </a:r>
            <a:endParaRPr/>
          </a:p>
          <a:p>
            <a:pPr algn="l">
              <a:spcAft>
                <a:spcPts val="600"/>
              </a:spcAft>
              <a:defRPr/>
            </a:pPr>
            <a:r>
              <a:rPr sz="1400" b="0">
                <a:solidFill>
                  <a:srgbClr val="4B5563"/>
                </a:solidFill>
                <a:latin typeface="Calibri"/>
              </a:rPr>
              <a:t>–  Mise en place + entités : ~3 j</a:t>
            </a:r>
            <a:endParaRPr/>
          </a:p>
          <a:p>
            <a:pPr algn="l">
              <a:spcAft>
                <a:spcPts val="600"/>
              </a:spcAft>
              <a:defRPr/>
            </a:pPr>
            <a:r>
              <a:rPr sz="1400" b="0">
                <a:solidFill>
                  <a:srgbClr val="4B5563"/>
                </a:solidFill>
                <a:latin typeface="Calibri"/>
              </a:rPr>
              <a:t>–  Connexion + back-office : ~6 j</a:t>
            </a:r>
            <a:endParaRPr/>
          </a:p>
          <a:p>
            <a:pPr algn="l">
              <a:spcAft>
                <a:spcPts val="600"/>
              </a:spcAft>
              <a:defRPr/>
            </a:pPr>
            <a:r>
              <a:rPr sz="1400" b="0">
                <a:solidFill>
                  <a:srgbClr val="4B5563"/>
                </a:solidFill>
                <a:latin typeface="Calibri"/>
              </a:rPr>
              <a:t>–  Catalogue + panier + commande : ~6 j</a:t>
            </a:r>
            <a:endParaRPr/>
          </a:p>
          <a:p>
            <a:pPr algn="l">
              <a:spcAft>
                <a:spcPts val="600"/>
              </a:spcAft>
              <a:defRPr/>
            </a:pPr>
            <a:r>
              <a:rPr sz="1400" b="0">
                <a:solidFill>
                  <a:srgbClr val="4B5563"/>
                </a:solidFill>
                <a:latin typeface="Calibri"/>
              </a:rPr>
              <a:t>–  Factures + mails + avis : ~4 j</a:t>
            </a:r>
            <a:endParaRPr/>
          </a:p>
          <a:p>
            <a:pPr algn="l">
              <a:spcAft>
                <a:spcPts val="600"/>
              </a:spcAft>
              <a:defRPr/>
            </a:pPr>
            <a:r>
              <a:rPr sz="1400" b="0">
                <a:solidFill>
                  <a:srgbClr val="4B5563"/>
                </a:solidFill>
                <a:latin typeface="Calibri"/>
              </a:rPr>
              <a:t>–  Sécurité + SEO + tests + CI : ~3 j</a:t>
            </a:r>
            <a:endParaRPr/>
          </a:p>
          <a:p>
            <a:pPr algn="l">
              <a:spcAft>
                <a:spcPts val="600"/>
              </a:spcAft>
              <a:defRPr/>
            </a:pPr>
            <a:r>
              <a:rPr sz="1400" b="1">
                <a:solidFill>
                  <a:srgbClr val="92400E"/>
                </a:solidFill>
                <a:latin typeface="Calibri"/>
              </a:rPr>
              <a:t>À ~300 €/jour, ça fait dans les 6 000 à 7 500 €</a:t>
            </a:r>
            <a:endParaRPr/>
          </a:p>
        </p:txBody>
      </p:sp>
      <p:sp>
        <p:nvSpPr>
          <p:cNvPr id="393423816" name="TextBox 7"/>
          <p:cNvSpPr txBox="1"/>
          <p:nvPr/>
        </p:nvSpPr>
        <p:spPr bwMode="auto">
          <a:xfrm>
            <a:off x="6309360" y="1371600"/>
            <a:ext cx="5487119" cy="381359"/>
          </a:xfrm>
          <a:prstGeom prst="rect">
            <a:avLst/>
          </a:prstGeom>
          <a:noFill/>
        </p:spPr>
        <p:txBody>
          <a:bodyPr wrap="square" anchor="t">
            <a:spAutoFit/>
          </a:bodyPr>
          <a:lstStyle/>
          <a:p>
            <a:pPr algn="l">
              <a:spcAft>
                <a:spcPts val="600"/>
              </a:spcAft>
              <a:defRPr/>
            </a:pPr>
            <a:r>
              <a:rPr sz="1900" b="1">
                <a:solidFill>
                  <a:srgbClr val="92400E"/>
                </a:solidFill>
                <a:latin typeface="Calibri"/>
              </a:rPr>
              <a:t>Pour le mettre en ligne</a:t>
            </a:r>
            <a:endParaRPr/>
          </a:p>
        </p:txBody>
      </p:sp>
      <p:sp>
        <p:nvSpPr>
          <p:cNvPr id="1594986656" name="TextBox 8"/>
          <p:cNvSpPr txBox="1"/>
          <p:nvPr/>
        </p:nvSpPr>
        <p:spPr bwMode="auto">
          <a:xfrm>
            <a:off x="6309360" y="1874518"/>
            <a:ext cx="5303879" cy="2243179"/>
          </a:xfrm>
          <a:prstGeom prst="rect">
            <a:avLst/>
          </a:prstGeom>
          <a:noFill/>
        </p:spPr>
        <p:txBody>
          <a:bodyPr wrap="square" anchor="t">
            <a:spAutoFit/>
          </a:bodyPr>
          <a:lstStyle/>
          <a:p>
            <a:pPr algn="l">
              <a:spcAft>
                <a:spcPts val="500"/>
              </a:spcAft>
              <a:defRPr/>
            </a:pPr>
            <a:r>
              <a:rPr sz="1400" b="0">
                <a:solidFill>
                  <a:srgbClr val="4B5563"/>
                </a:solidFill>
                <a:latin typeface="Calibri"/>
              </a:rPr>
              <a:t>•  Un hébergement : ~5 à 15 €/mois</a:t>
            </a:r>
            <a:endParaRPr/>
          </a:p>
          <a:p>
            <a:pPr algn="l">
              <a:spcAft>
                <a:spcPts val="500"/>
              </a:spcAft>
              <a:defRPr/>
            </a:pPr>
            <a:r>
              <a:rPr sz="1400" b="0">
                <a:solidFill>
                  <a:srgbClr val="4B5563"/>
                </a:solidFill>
                <a:latin typeface="Calibri"/>
              </a:rPr>
              <a:t>•  Un nom de domaine : ~10 €/an</a:t>
            </a:r>
            <a:endParaRPr/>
          </a:p>
          <a:p>
            <a:pPr algn="l">
              <a:spcAft>
                <a:spcPts val="500"/>
              </a:spcAft>
              <a:defRPr/>
            </a:pPr>
            <a:r>
              <a:rPr sz="1400" b="0">
                <a:solidFill>
                  <a:srgbClr val="4B5563"/>
                </a:solidFill>
                <a:latin typeface="Calibri"/>
              </a:rPr>
              <a:t>•  Le HTTPS : gratuit (Let's Encrypt)</a:t>
            </a:r>
            <a:endParaRPr/>
          </a:p>
          <a:p>
            <a:pPr algn="l">
              <a:spcAft>
                <a:spcPts val="500"/>
              </a:spcAft>
              <a:defRPr/>
            </a:pPr>
            <a:r>
              <a:rPr sz="1400" b="0">
                <a:solidFill>
                  <a:srgbClr val="4B5563"/>
                </a:solidFill>
                <a:latin typeface="Calibri"/>
              </a:rPr>
              <a:t>•  Un vrai service d'envoi d'e-mails</a:t>
            </a:r>
            <a:endParaRPr/>
          </a:p>
          <a:p>
            <a:pPr algn="l">
              <a:spcAft>
                <a:spcPts val="500"/>
              </a:spcAft>
              <a:defRPr/>
            </a:pPr>
            <a:r>
              <a:rPr sz="1400" b="0">
                <a:solidFill>
                  <a:srgbClr val="4B5563"/>
                </a:solidFill>
                <a:latin typeface="Calibri"/>
              </a:rPr>
              <a:t>•  Le paiement en ligne (Stripe ≈ 1,4 % + 0,25 €)</a:t>
            </a:r>
            <a:endParaRPr/>
          </a:p>
          <a:p>
            <a:pPr algn="l">
              <a:spcAft>
                <a:spcPts val="500"/>
              </a:spcAft>
              <a:defRPr/>
            </a:pPr>
            <a:r>
              <a:rPr sz="1400" b="0">
                <a:solidFill>
                  <a:srgbClr val="4B5563"/>
                </a:solidFill>
                <a:latin typeface="Calibri"/>
              </a:rPr>
              <a:t>•  Des sauvegardes de la base</a:t>
            </a:r>
            <a:endParaRPr/>
          </a:p>
          <a:p>
            <a:pPr algn="l">
              <a:spcAft>
                <a:spcPts val="500"/>
              </a:spcAft>
              <a:defRPr/>
            </a:pPr>
            <a:r>
              <a:rPr sz="1400" b="0">
                <a:solidFill>
                  <a:srgbClr val="4B5563"/>
                </a:solidFill>
                <a:latin typeface="Calibri"/>
              </a:rPr>
              <a:t>•  Le côté légal : CGV, mentions légales, cookies</a:t>
            </a:r>
            <a:endParaRPr/>
          </a:p>
          <a:p>
            <a:pPr algn="l">
              <a:spcAft>
                <a:spcPts val="500"/>
              </a:spcAft>
              <a:defRPr/>
            </a:pPr>
            <a:r>
              <a:rPr sz="1400" b="0">
                <a:solidFill>
                  <a:srgbClr val="4B5563"/>
                </a:solidFill>
                <a:latin typeface="Calibri"/>
              </a:rPr>
              <a:t>•  La maintenance : mises à jour de sécurité</a:t>
            </a:r>
            <a:r>
              <a:rPr lang="fr-F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F2937"/>
        </a:solidFill>
      </p:bgPr>
    </p:bg>
    <p:spTree>
      <p:nvGrpSpPr>
        <p:cNvPr id="1" name=""/>
        <p:cNvGrpSpPr/>
        <p:nvPr/>
      </p:nvGrpSpPr>
      <p:grpSpPr bwMode="auto">
        <a:xfrm>
          <a:off x="0" y="0"/>
          <a:ext cx="0" cy="0"/>
          <a:chOff x="0" y="0"/>
          <a:chExt cx="0" cy="0"/>
        </a:xfrm>
      </p:grpSpPr>
      <p:sp>
        <p:nvSpPr>
          <p:cNvPr id="846818822"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69858336" name="TextBox 2"/>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Le code que je vais montrer</a:t>
            </a:r>
            <a:endParaRPr/>
          </a:p>
        </p:txBody>
      </p:sp>
      <p:sp>
        <p:nvSpPr>
          <p:cNvPr id="1585403268" name="TextBox 3"/>
          <p:cNvSpPr txBox="1"/>
          <p:nvPr/>
        </p:nvSpPr>
        <p:spPr bwMode="auto">
          <a:xfrm>
            <a:off x="731520" y="1463040"/>
            <a:ext cx="10698480" cy="4572000"/>
          </a:xfrm>
          <a:prstGeom prst="rect">
            <a:avLst/>
          </a:prstGeom>
          <a:noFill/>
        </p:spPr>
        <p:txBody>
          <a:bodyPr wrap="square" anchor="t">
            <a:spAutoFit/>
          </a:bodyPr>
          <a:lstStyle/>
          <a:p>
            <a:pPr algn="l">
              <a:spcAft>
                <a:spcPts val="1000"/>
              </a:spcAft>
              <a:defRPr/>
            </a:pPr>
            <a:r>
              <a:rPr sz="1600" b="0">
                <a:solidFill>
                  <a:srgbClr val="FFFFFF"/>
                </a:solidFill>
                <a:latin typeface="Calibri"/>
              </a:rPr>
              <a:t>•  CartService — le panier en session</a:t>
            </a:r>
            <a:endParaRPr/>
          </a:p>
          <a:p>
            <a:pPr algn="l">
              <a:spcAft>
                <a:spcPts val="1000"/>
              </a:spcAft>
              <a:defRPr/>
            </a:pPr>
            <a:r>
              <a:rPr sz="1600" b="0">
                <a:solidFill>
                  <a:srgbClr val="FFFFFF"/>
                </a:solidFill>
                <a:latin typeface="Calibri"/>
              </a:rPr>
              <a:t>•  CheckoutController — la création de la commande</a:t>
            </a:r>
            <a:endParaRPr/>
          </a:p>
          <a:p>
            <a:pPr algn="l">
              <a:spcAft>
                <a:spcPts val="1000"/>
              </a:spcAft>
              <a:defRPr/>
            </a:pPr>
            <a:r>
              <a:rPr sz="1600" b="0">
                <a:solidFill>
                  <a:srgbClr val="FFFFFF"/>
                </a:solidFill>
                <a:latin typeface="Calibri"/>
              </a:rPr>
              <a:t>•  InvoiceGenerator — la génération du PDF</a:t>
            </a:r>
            <a:endParaRPr/>
          </a:p>
          <a:p>
            <a:pPr algn="l">
              <a:spcAft>
                <a:spcPts val="1000"/>
              </a:spcAft>
              <a:defRPr/>
            </a:pPr>
            <a:r>
              <a:rPr sz="1600" b="0">
                <a:solidFill>
                  <a:srgbClr val="FFFFFF"/>
                </a:solidFill>
                <a:latin typeface="Calibri"/>
              </a:rPr>
              <a:t>•  ForgotPasswordController — le mot de passe oublié</a:t>
            </a:r>
            <a:endParaRPr/>
          </a:p>
          <a:p>
            <a:pPr algn="l">
              <a:spcAft>
                <a:spcPts val="1000"/>
              </a:spcAft>
              <a:defRPr/>
            </a:pPr>
            <a:endParaRPr/>
          </a:p>
          <a:p>
            <a:pPr algn="l">
              <a:spcAft>
                <a:spcPts val="1000"/>
              </a:spcAft>
              <a:defRPr/>
            </a:pPr>
            <a:r>
              <a:rPr sz="1500" b="1">
                <a:solidFill>
                  <a:srgbClr val="FDE68A"/>
                </a:solidFill>
                <a:latin typeface="Calibri"/>
              </a:rPr>
              <a:t>Pour chacun, j'explique ce que ça fait, comment, et pourquoi je l'ai fait comme ça.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D97706"/>
        </a:solidFill>
      </p:bgPr>
    </p:bg>
    <p:spTree>
      <p:nvGrpSpPr>
        <p:cNvPr id="1" name=""/>
        <p:cNvGrpSpPr/>
        <p:nvPr/>
      </p:nvGrpSpPr>
      <p:grpSpPr bwMode="auto">
        <a:xfrm>
          <a:off x="0" y="0"/>
          <a:ext cx="0" cy="0"/>
          <a:chOff x="0" y="0"/>
          <a:chExt cx="0" cy="0"/>
        </a:xfrm>
      </p:grpSpPr>
      <p:sp>
        <p:nvSpPr>
          <p:cNvPr id="1369007459" name="TextBox 1"/>
          <p:cNvSpPr txBox="1"/>
          <p:nvPr/>
        </p:nvSpPr>
        <p:spPr bwMode="auto">
          <a:xfrm>
            <a:off x="914400" y="2468880"/>
            <a:ext cx="10332720" cy="1280160"/>
          </a:xfrm>
          <a:prstGeom prst="rect">
            <a:avLst/>
          </a:prstGeom>
          <a:noFill/>
        </p:spPr>
        <p:txBody>
          <a:bodyPr wrap="square" anchor="ctr">
            <a:spAutoFit/>
          </a:bodyPr>
          <a:lstStyle/>
          <a:p>
            <a:pPr algn="ctr">
              <a:spcAft>
                <a:spcPts val="600"/>
              </a:spcAft>
              <a:defRPr/>
            </a:pPr>
            <a:r>
              <a:rPr sz="4000" b="1">
                <a:solidFill>
                  <a:srgbClr val="FFFFFF"/>
                </a:solidFill>
                <a:latin typeface="Calibri"/>
              </a:rPr>
              <a:t>Merci de votre attention</a:t>
            </a:r>
            <a:endParaRPr/>
          </a:p>
        </p:txBody>
      </p:sp>
      <p:sp>
        <p:nvSpPr>
          <p:cNvPr id="1317008603" name="TextBox 2"/>
          <p:cNvSpPr txBox="1"/>
          <p:nvPr/>
        </p:nvSpPr>
        <p:spPr bwMode="auto">
          <a:xfrm>
            <a:off x="914400" y="3749039"/>
            <a:ext cx="10332720" cy="731520"/>
          </a:xfrm>
          <a:prstGeom prst="rect">
            <a:avLst/>
          </a:prstGeom>
          <a:noFill/>
        </p:spPr>
        <p:txBody>
          <a:bodyPr wrap="square" anchor="t">
            <a:spAutoFit/>
          </a:bodyPr>
          <a:lstStyle/>
          <a:p>
            <a:pPr algn="ctr">
              <a:spcAft>
                <a:spcPts val="600"/>
              </a:spcAft>
              <a:defRPr/>
            </a:pPr>
            <a:r>
              <a:rPr sz="2200" b="0">
                <a:solidFill>
                  <a:srgbClr val="FFFBEB"/>
                </a:solidFill>
                <a:latin typeface="Calibri"/>
              </a:rPr>
              <a:t>Place à vos questions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22</Slides>
  <Notes>22</Notes>
  <HiddenSlides>0</HiddenSlides>
  <MMClips>2</MMClips>
  <ScaleCrop>0</ScaleCrop>
  <HeadingPairs>
    <vt:vector size="4" baseType="variant">
      <vt:variant>
        <vt:lpstr>Theme</vt:lpstr>
      </vt:variant>
      <vt:variant>
        <vt:i4>1</vt:i4>
      </vt:variant>
      <vt:variant>
        <vt:lpstr>Slide Titles</vt:lpstr>
      </vt:variant>
      <vt:variant>
        <vt:i4>22</vt:i4>
      </vt:variant>
    </vt:vector>
  </HeadingPairs>
  <TitlesOfParts>
    <vt:vector size="2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2</cp:revision>
  <dcterms:created xsi:type="dcterms:W3CDTF">2013-01-27T09:14:16Z</dcterms:created>
  <dcterms:modified xsi:type="dcterms:W3CDTF">2026-06-01T21:44:12Z</dcterms:modified>
  <cp:category/>
</cp:coreProperties>
</file>