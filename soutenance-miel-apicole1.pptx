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5"/>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notesMaster" Target="notesMasters/notesMaster1.xml"/><Relationship Id="rId26" Type="http://schemas.openxmlformats.org/officeDocument/2006/relationships/presProps" Target="presProps.xml" /><Relationship Id="rId27" Type="http://schemas.openxmlformats.org/officeDocument/2006/relationships/tableStyles" Target="tableStyles.xml" /><Relationship Id="rId28"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0914531" name="Slide Image Placeholder 1"/>
          <p:cNvSpPr>
            <a:spLocks noGrp="1"/>
          </p:cNvSpPr>
          <p:nvPr>
            <p:ph type="sldImg" idx="2"/>
          </p:nvPr>
        </p:nvSpPr>
        <p:spPr bwMode="auto"/>
      </p:sp>
      <p:sp>
        <p:nvSpPr>
          <p:cNvPr id="1076831951" name="Notes Placeholder 2"/>
          <p:cNvSpPr>
            <a:spLocks noGrp="1"/>
          </p:cNvSpPr>
          <p:nvPr>
            <p:ph type="body" sz="quarter" idx="3"/>
          </p:nvPr>
        </p:nvSpPr>
        <p:spPr bwMode="auto"/>
        <p:txBody>
          <a:bodyPr/>
          <a:lstStyle/>
          <a:p>
            <a:pPr>
              <a:defRPr/>
            </a:pPr>
            <a:r>
              <a:rPr/>
              <a:t>Bonjour, je vais vous présenter mon projet Miel Apicole, un site e-commerce de vente de miel développé en Symfony. La présentation dure environ 15 minutes, suivie du code review et de vos questions. Je vais d'abord présenter le projet et ses objectifs, puis les technologies, l'architecture, les fonctionnalités en démonstration, et enfin le chiffrage.</a:t>
            </a:r>
            <a:endParaRPr/>
          </a:p>
        </p:txBody>
      </p:sp>
      <p:sp>
        <p:nvSpPr>
          <p:cNvPr id="2136808238"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3766532" name="Slide Image Placeholder 1"/>
          <p:cNvSpPr>
            <a:spLocks noGrp="1"/>
          </p:cNvSpPr>
          <p:nvPr>
            <p:ph type="sldImg" idx="2"/>
          </p:nvPr>
        </p:nvSpPr>
        <p:spPr bwMode="auto"/>
      </p:sp>
      <p:sp>
        <p:nvSpPr>
          <p:cNvPr id="1315263952" name="Notes Placeholder 2"/>
          <p:cNvSpPr>
            <a:spLocks noGrp="1"/>
          </p:cNvSpPr>
          <p:nvPr>
            <p:ph type="body" sz="quarter" idx="3"/>
          </p:nvPr>
        </p:nvSpPr>
        <p:spPr bwMode="auto"/>
        <p:txBody>
          <a:bodyPr/>
          <a:lstStyle/>
          <a:p>
            <a:pPr>
              <a:defRPr/>
            </a:pPr>
            <a:r>
              <a:rPr/>
              <a:t>Le besoin : un apiculteur qui veut vendre en ligne en toute autonomie. Mes objectifs étaient d'avoir un vrai tunnel d'achat de bout en bout, un back-office complet, et de coder l'authentification moi-même comme demandé. Il y a deux types d'utilisateurs : le client et l'administrateur, séparés par un système de rôles.</a:t>
            </a:r>
            <a:endParaRPr/>
          </a:p>
        </p:txBody>
      </p:sp>
      <p:sp>
        <p:nvSpPr>
          <p:cNvPr id="109236214"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6111008" name="Slide Image Placeholder 1"/>
          <p:cNvSpPr>
            <a:spLocks noGrp="1"/>
          </p:cNvSpPr>
          <p:nvPr>
            <p:ph type="sldImg" idx="2"/>
          </p:nvPr>
        </p:nvSpPr>
        <p:spPr bwMode="auto"/>
      </p:sp>
      <p:sp>
        <p:nvSpPr>
          <p:cNvPr id="808020474" name="Notes Placeholder 2"/>
          <p:cNvSpPr>
            <a:spLocks noGrp="1"/>
          </p:cNvSpPr>
          <p:nvPr>
            <p:ph type="body" sz="quarter" idx="3"/>
          </p:nvPr>
        </p:nvSpPr>
        <p:spPr bwMode="auto"/>
        <p:txBody>
          <a:bodyPr/>
          <a:lstStyle/>
          <a:p>
            <a:pPr>
              <a:defRPr/>
            </a:pPr>
            <a:r>
              <a:rPr/>
              <a:t>Voici une vue d'ensemble. Côté client : tout le parcours d'achat. Côté admin : la gestion complète du catalogue, des commandes, des utilisateurs et des avis. Et des aspects transverses : l'authentification maison, les e-mails, la sécurité, le SEO, le responsive et la CI. Je détaillerai et montrerai tout ça en démo.</a:t>
            </a:r>
            <a:endParaRPr/>
          </a:p>
        </p:txBody>
      </p:sp>
      <p:sp>
        <p:nvSpPr>
          <p:cNvPr id="422591532"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0850842" name="Slide Image Placeholder 1"/>
          <p:cNvSpPr>
            <a:spLocks noGrp="1"/>
          </p:cNvSpPr>
          <p:nvPr>
            <p:ph type="sldImg" idx="2"/>
          </p:nvPr>
        </p:nvSpPr>
        <p:spPr bwMode="auto"/>
      </p:sp>
      <p:sp>
        <p:nvSpPr>
          <p:cNvPr id="725731750" name="Notes Placeholder 2"/>
          <p:cNvSpPr>
            <a:spLocks noGrp="1"/>
          </p:cNvSpPr>
          <p:nvPr>
            <p:ph type="body" sz="quarter" idx="3"/>
          </p:nvPr>
        </p:nvSpPr>
        <p:spPr bwMode="auto"/>
        <p:txBody>
          <a:bodyPr/>
          <a:lstStyle/>
          <a:p>
            <a:pPr>
              <a:defRPr/>
            </a:pPr>
            <a:r>
              <a:rPr/>
              <a:t>La technologie centrale est Symfony 7, un framework PHP qui impose une architecture MVC propre. La base est MySQL, manipulée via Doctrine, l'ORM, qui sécurise les requêtes. Les vues sont en Twig, le style en Tailwind. dompdf génère les factures. Tout tourne dans des conteneurs Docker. La qualité est assurée par PHPUnit et une CI GitHub Actions. Point important : je n'ai utilisé aucune librairie d'authentification toute faite, je l'ai codée moi-même.</a:t>
            </a:r>
            <a:endParaRPr/>
          </a:p>
        </p:txBody>
      </p:sp>
      <p:sp>
        <p:nvSpPr>
          <p:cNvPr id="539342321"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0298225" name="Slide Image Placeholder 1"/>
          <p:cNvSpPr>
            <a:spLocks noGrp="1"/>
          </p:cNvSpPr>
          <p:nvPr>
            <p:ph type="sldImg" idx="2"/>
          </p:nvPr>
        </p:nvSpPr>
        <p:spPr bwMode="auto"/>
      </p:sp>
      <p:sp>
        <p:nvSpPr>
          <p:cNvPr id="473129985" name="Notes Placeholder 2"/>
          <p:cNvSpPr>
            <a:spLocks noGrp="1"/>
          </p:cNvSpPr>
          <p:nvPr>
            <p:ph type="body" sz="quarter" idx="3"/>
          </p:nvPr>
        </p:nvSpPr>
        <p:spPr bwMode="auto"/>
        <p:txBody>
          <a:bodyPr/>
          <a:lstStyle/>
          <a:p>
            <a:pPr>
              <a:defRPr/>
            </a:pPr>
            <a:r>
              <a:rPr/>
              <a:t>L'architecture suit le pattern MVC, imposé par Symfony. Quand une requête arrive, le routing associe l'URL à une méthode de contrôleur. Le contrôleur est le chef d'orchestre : il interroge le modèle — mes entités et repositories via Doctrine — puis passe les données à une vue Twig qui produit le HTML. Avantage : la logique métier, l'accès aux données et l'affichage sont bien séparés.</a:t>
            </a:r>
            <a:endParaRPr/>
          </a:p>
        </p:txBody>
      </p:sp>
      <p:sp>
        <p:nvSpPr>
          <p:cNvPr id="2078788645"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6948832" name="Slide Image Placeholder 1"/>
          <p:cNvSpPr>
            <a:spLocks noGrp="1"/>
          </p:cNvSpPr>
          <p:nvPr>
            <p:ph type="sldImg" idx="2"/>
          </p:nvPr>
        </p:nvSpPr>
        <p:spPr bwMode="auto"/>
      </p:sp>
      <p:sp>
        <p:nvSpPr>
          <p:cNvPr id="667310921" name="Notes Placeholder 2"/>
          <p:cNvSpPr>
            <a:spLocks noGrp="1"/>
          </p:cNvSpPr>
          <p:nvPr>
            <p:ph type="body" sz="quarter" idx="3"/>
          </p:nvPr>
        </p:nvSpPr>
        <p:spPr bwMode="auto"/>
        <p:txBody>
          <a:bodyPr/>
          <a:lstStyle/>
          <a:p>
            <a:pPr>
              <a:defRPr/>
            </a:pPr>
            <a:r>
              <a:rPr/>
              <a:t>Côté physique, l'application est découpée en conteneurs  qui communiquent sur un réseau privé. Nginx reçoit les requêtes sur le port 8000 et les transmet à PHP-FPM qui exécute Symfony. MySQL stocke les données, avec un volume pour les conserver même si on recrée le conteneur. phpMyAdmin me sert à visualiser la base, et Mailpit capture les e-mails en développement. L'image PHP est construite via un Dockerfile maison.</a:t>
            </a:r>
            <a:endParaRPr/>
          </a:p>
        </p:txBody>
      </p:sp>
      <p:sp>
        <p:nvSpPr>
          <p:cNvPr id="1334661008"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8724977" name="Slide Image Placeholder 1"/>
          <p:cNvSpPr>
            <a:spLocks noGrp="1"/>
          </p:cNvSpPr>
          <p:nvPr>
            <p:ph type="sldImg" idx="2"/>
          </p:nvPr>
        </p:nvSpPr>
        <p:spPr bwMode="auto"/>
      </p:sp>
      <p:sp>
        <p:nvSpPr>
          <p:cNvPr id="1302217242" name="Notes Placeholder 2"/>
          <p:cNvSpPr>
            <a:spLocks noGrp="1"/>
          </p:cNvSpPr>
          <p:nvPr>
            <p:ph type="body" sz="quarter" idx="3"/>
          </p:nvPr>
        </p:nvSpPr>
        <p:spPr bwMode="auto"/>
        <p:txBody>
          <a:bodyPr/>
          <a:lstStyle/>
          <a:p>
            <a:pPr>
              <a:defRPr/>
            </a:pPr>
            <a:r>
              <a:rPr/>
              <a:t>On passe à la partie la plus importante : la démonstration. Je vais naviguer dans le site en direct et montrer chaque fonctionnalité qui marche, en expliquant ce qu'il y a derrière.</a:t>
            </a:r>
            <a:endParaRPr/>
          </a:p>
        </p:txBody>
      </p:sp>
      <p:sp>
        <p:nvSpPr>
          <p:cNvPr id="1168961220"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5319617" name="Slide Image Placeholder 1"/>
          <p:cNvSpPr>
            <a:spLocks noGrp="1"/>
          </p:cNvSpPr>
          <p:nvPr>
            <p:ph type="sldImg" idx="2"/>
          </p:nvPr>
        </p:nvSpPr>
        <p:spPr bwMode="auto"/>
      </p:sp>
      <p:sp>
        <p:nvSpPr>
          <p:cNvPr id="1605730905" name="Notes Placeholder 2"/>
          <p:cNvSpPr>
            <a:spLocks noGrp="1"/>
          </p:cNvSpPr>
          <p:nvPr>
            <p:ph type="body" sz="quarter" idx="3"/>
          </p:nvPr>
        </p:nvSpPr>
        <p:spPr bwMode="auto"/>
        <p:txBody>
          <a:bodyPr/>
          <a:lstStyle/>
          <a:p>
            <a:pPr>
              <a:defRPr/>
            </a:pPr>
            <a:r>
              <a:rPr/>
              <a:t>L'authentification a été entièrement codée à la main, c'était une contrainte. À l'inscription je valide les champs et je hash le mot de passe. La connexion passe par le firewall de Symfony configuré en form_login, avec un jeton CSRF. J'ai aussi le mot de passe oublié avec un lien sécurisé qui expire, et un système de rôles qui protège tout l'espace admin. Je peux le montrer en me connectant.</a:t>
            </a:r>
            <a:endParaRPr/>
          </a:p>
        </p:txBody>
      </p:sp>
      <p:sp>
        <p:nvSpPr>
          <p:cNvPr id="1637059225"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6248697" name="Slide Image Placeholder 1"/>
          <p:cNvSpPr>
            <a:spLocks noGrp="1"/>
          </p:cNvSpPr>
          <p:nvPr>
            <p:ph type="sldImg" idx="2"/>
          </p:nvPr>
        </p:nvSpPr>
        <p:spPr bwMode="auto"/>
      </p:sp>
      <p:sp>
        <p:nvSpPr>
          <p:cNvPr id="1817880454" name="Notes Placeholder 2"/>
          <p:cNvSpPr>
            <a:spLocks noGrp="1"/>
          </p:cNvSpPr>
          <p:nvPr>
            <p:ph type="body" sz="quarter" idx="3"/>
          </p:nvPr>
        </p:nvSpPr>
        <p:spPr bwMode="auto"/>
        <p:txBody>
          <a:bodyPr/>
          <a:lstStyle/>
          <a:p>
            <a:pPr>
              <a:defRPr/>
            </a:pPr>
            <a:r>
              <a:rPr/>
              <a:t>Le catalogue affiche les produits avec des filtres par catégorie et un tri. La fiche produit montre les variantes de poids, chacune avec son prix et son stock ; un petit script met à jour le prix quand on change de variante. On voit aussi la note moyenne et les avis. Les URLs sont propres grâce aux slugs, c'est bon pour le SEO.</a:t>
            </a:r>
            <a:endParaRPr/>
          </a:p>
        </p:txBody>
      </p:sp>
      <p:sp>
        <p:nvSpPr>
          <p:cNvPr id="925964842"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0068915" name="Slide Image Placeholder 1"/>
          <p:cNvSpPr>
            <a:spLocks noGrp="1"/>
          </p:cNvSpPr>
          <p:nvPr>
            <p:ph type="sldImg" idx="2"/>
          </p:nvPr>
        </p:nvSpPr>
        <p:spPr bwMode="auto"/>
      </p:sp>
      <p:sp>
        <p:nvSpPr>
          <p:cNvPr id="1113458482" name="Notes Placeholder 2"/>
          <p:cNvSpPr>
            <a:spLocks noGrp="1"/>
          </p:cNvSpPr>
          <p:nvPr>
            <p:ph type="body" sz="quarter" idx="3"/>
          </p:nvPr>
        </p:nvSpPr>
        <p:spPr bwMode="auto"/>
        <p:txBody>
          <a:bodyPr/>
          <a:lstStyle/>
          <a:p>
            <a:pPr>
              <a:defRPr/>
            </a:pPr>
            <a:r>
              <a:rPr/>
              <a:t>Le panier est géré en session : tant que la commande n'est pas validée, pas besoin de le stocker en base. Au checkout, le client saisit son adresse, je valide, puis je crée la commande avec ses lignes, je décrémente le stock et je vide le panier. Il reçoit un e-mail de confirmation. Je vais le faire en direct.</a:t>
            </a:r>
            <a:endParaRPr/>
          </a:p>
        </p:txBody>
      </p:sp>
      <p:sp>
        <p:nvSpPr>
          <p:cNvPr id="1891570306" name="Slide Number Placeholder 3"/>
          <p:cNvSpPr>
            <a:spLocks noGrp="1"/>
          </p:cNvSpPr>
          <p:nvPr>
            <p:ph type="sldNum" sz="quarter" idx="5"/>
          </p:nvPr>
        </p:nvSpPr>
        <p:spPr bwMode="auto"/>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2117823" name="Slide Image Placeholder 1"/>
          <p:cNvSpPr>
            <a:spLocks noGrp="1"/>
          </p:cNvSpPr>
          <p:nvPr>
            <p:ph type="sldImg" idx="2"/>
          </p:nvPr>
        </p:nvSpPr>
        <p:spPr bwMode="auto"/>
      </p:sp>
      <p:sp>
        <p:nvSpPr>
          <p:cNvPr id="1804641944" name="Notes Placeholder 2"/>
          <p:cNvSpPr>
            <a:spLocks noGrp="1"/>
          </p:cNvSpPr>
          <p:nvPr>
            <p:ph type="body" sz="quarter" idx="3"/>
          </p:nvPr>
        </p:nvSpPr>
        <p:spPr bwMode="auto"/>
        <p:txBody>
          <a:bodyPr/>
          <a:lstStyle/>
          <a:p>
            <a:pPr>
              <a:defRPr/>
            </a:pPr>
            <a:r>
              <a:rPr/>
              <a:t>Pour les factures, j'ai un service InvoiceGenerator qui rend un template Twig en HTML puis le convertit en PDF avec la librairie dompdf. La facture est téléchargeable par le client et par l'admin, et elle est même jointe automatiquement à l'e-mail de confirmation de commande.</a:t>
            </a:r>
            <a:endParaRPr/>
          </a:p>
        </p:txBody>
      </p:sp>
      <p:sp>
        <p:nvSpPr>
          <p:cNvPr id="1535742137"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9686859" name="Slide Image Placeholder 1"/>
          <p:cNvSpPr>
            <a:spLocks noGrp="1"/>
          </p:cNvSpPr>
          <p:nvPr>
            <p:ph type="sldImg" idx="2"/>
          </p:nvPr>
        </p:nvSpPr>
        <p:spPr bwMode="auto"/>
      </p:sp>
      <p:sp>
        <p:nvSpPr>
          <p:cNvPr id="357559449" name="Notes Placeholder 2"/>
          <p:cNvSpPr>
            <a:spLocks noGrp="1"/>
          </p:cNvSpPr>
          <p:nvPr>
            <p:ph type="body" sz="quarter" idx="3"/>
          </p:nvPr>
        </p:nvSpPr>
        <p:spPr bwMode="auto"/>
        <p:txBody>
          <a:bodyPr/>
          <a:lstStyle/>
          <a:p>
            <a:pPr>
              <a:defRPr/>
            </a:pPr>
            <a:r>
              <a:rPr/>
              <a:t>L'espace client, sous /compte et protégé par le rôle USER, regroupe le profil et l'historique des commandes. Chaque commande a un badge de statut mis à jour par l'admin, et la facture est téléchargeable. Point sécurité important : je vérifie que la commande appartient bien à l'utilisateur connecté, sinon j'interdis l'accès.</a:t>
            </a:r>
            <a:endParaRPr/>
          </a:p>
        </p:txBody>
      </p:sp>
      <p:sp>
        <p:nvSpPr>
          <p:cNvPr id="1495020156" name="Slide Number Placeholder 3"/>
          <p:cNvSpPr>
            <a:spLocks noGrp="1"/>
          </p:cNvSpPr>
          <p:nvPr>
            <p:ph type="sldNum" sz="quarter" idx="5"/>
          </p:nvPr>
        </p:nvSpPr>
        <p:spPr bwMode="auto"/>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6874892" name="Slide Image Placeholder 1"/>
          <p:cNvSpPr>
            <a:spLocks noGrp="1"/>
          </p:cNvSpPr>
          <p:nvPr>
            <p:ph type="sldImg" idx="2"/>
          </p:nvPr>
        </p:nvSpPr>
        <p:spPr bwMode="auto"/>
      </p:sp>
      <p:sp>
        <p:nvSpPr>
          <p:cNvPr id="1938034863" name="Notes Placeholder 2"/>
          <p:cNvSpPr>
            <a:spLocks noGrp="1"/>
          </p:cNvSpPr>
          <p:nvPr>
            <p:ph type="body" sz="quarter" idx="3"/>
          </p:nvPr>
        </p:nvSpPr>
        <p:spPr bwMode="auto"/>
        <p:txBody>
          <a:bodyPr/>
          <a:lstStyle/>
          <a:p>
            <a:pPr>
              <a:defRPr/>
            </a:pPr>
            <a:r>
              <a:rPr/>
              <a:t>Le back-office permet de tout gérer. Le CRUD produits inclut l'upload d'images et la gestion des variantes. Je peux changer le statut d'une commande, et ça se répercute immédiatement dans l'espace du client. Je gère aussi les utilisateurs — avec la possibilité de désactiver un compte — et je modère les avis. Toute cette zone est réservée aux administrateurs.</a:t>
            </a:r>
            <a:endParaRPr/>
          </a:p>
        </p:txBody>
      </p:sp>
      <p:sp>
        <p:nvSpPr>
          <p:cNvPr id="409031270" name="Slide Number Placeholder 3"/>
          <p:cNvSpPr>
            <a:spLocks noGrp="1"/>
          </p:cNvSpPr>
          <p:nvPr>
            <p:ph type="sldNum" sz="quarter" idx="5"/>
          </p:nvPr>
        </p:nvSpPr>
        <p:spPr bwMode="auto"/>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6309118" name="Slide Image Placeholder 1"/>
          <p:cNvSpPr>
            <a:spLocks noGrp="1"/>
          </p:cNvSpPr>
          <p:nvPr>
            <p:ph type="sldImg" idx="2"/>
          </p:nvPr>
        </p:nvSpPr>
        <p:spPr bwMode="auto"/>
      </p:sp>
      <p:sp>
        <p:nvSpPr>
          <p:cNvPr id="299892061" name="Notes Placeholder 2"/>
          <p:cNvSpPr>
            <a:spLocks noGrp="1"/>
          </p:cNvSpPr>
          <p:nvPr>
            <p:ph type="body" sz="quarter" idx="3"/>
          </p:nvPr>
        </p:nvSpPr>
        <p:spPr bwMode="auto"/>
        <p:txBody>
          <a:bodyPr/>
          <a:lstStyle/>
          <a:p>
            <a:pPr>
              <a:defRPr/>
            </a:pPr>
            <a:r>
              <a:rPr/>
              <a:t>J'envoie cinq types d'e-mails via Symfony Mailer, sans outil auto-généré. Les templates sont en Twig. En développement, Mailpit les capture pour que je puisse les visualiser sans rien envoyer pour de vrai. Je peux montrer l'interface Mailpit.</a:t>
            </a:r>
            <a:endParaRPr/>
          </a:p>
        </p:txBody>
      </p:sp>
      <p:sp>
        <p:nvSpPr>
          <p:cNvPr id="228006261" name="Slide Number Placeholder 3"/>
          <p:cNvSpPr>
            <a:spLocks noGrp="1"/>
          </p:cNvSpPr>
          <p:nvPr>
            <p:ph type="sldNum" sz="quarter" idx="5"/>
          </p:nvPr>
        </p:nvSpPr>
        <p:spPr bwMode="auto"/>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1540211" name="Slide Image Placeholder 1"/>
          <p:cNvSpPr>
            <a:spLocks noGrp="1"/>
          </p:cNvSpPr>
          <p:nvPr>
            <p:ph type="sldImg" idx="2"/>
          </p:nvPr>
        </p:nvSpPr>
        <p:spPr bwMode="auto"/>
      </p:sp>
      <p:sp>
        <p:nvSpPr>
          <p:cNvPr id="1925254876" name="Notes Placeholder 2"/>
          <p:cNvSpPr>
            <a:spLocks noGrp="1"/>
          </p:cNvSpPr>
          <p:nvPr>
            <p:ph type="body" sz="quarter" idx="3"/>
          </p:nvPr>
        </p:nvSpPr>
        <p:spPr bwMode="auto"/>
        <p:txBody>
          <a:bodyPr/>
          <a:lstStyle/>
          <a:p>
            <a:pPr>
              <a:defRPr/>
            </a:pPr>
            <a:r>
              <a:rPr/>
              <a:t>Sur la sécurité : les injections SQL sont évitées par Doctrine qui utilise des requêtes préparées. Le XSS est bloqué par l'échappement automatique de Twig. Chaque formulaire a un jeton CSRF. Les mots de passe sont hashés. L'accès admin est verrouillé par les rôles. J'ai aussi ajouté des en-têtes HTTP de sécurité. C'est un bon sujet pour le code review.</a:t>
            </a:r>
            <a:endParaRPr/>
          </a:p>
        </p:txBody>
      </p:sp>
      <p:sp>
        <p:nvSpPr>
          <p:cNvPr id="825937207" name="Slide Number Placeholder 3"/>
          <p:cNvSpPr>
            <a:spLocks noGrp="1"/>
          </p:cNvSpPr>
          <p:nvPr>
            <p:ph type="sldNum" sz="quarter" idx="5"/>
          </p:nvPr>
        </p:nvSpPr>
        <p:spPr bwMode="auto"/>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3266539" name="Slide Image Placeholder 1"/>
          <p:cNvSpPr>
            <a:spLocks noGrp="1"/>
          </p:cNvSpPr>
          <p:nvPr>
            <p:ph type="sldImg" idx="2"/>
          </p:nvPr>
        </p:nvSpPr>
        <p:spPr bwMode="auto"/>
      </p:sp>
      <p:sp>
        <p:nvSpPr>
          <p:cNvPr id="1442418236" name="Notes Placeholder 2"/>
          <p:cNvSpPr>
            <a:spLocks noGrp="1"/>
          </p:cNvSpPr>
          <p:nvPr>
            <p:ph type="body" sz="quarter" idx="3"/>
          </p:nvPr>
        </p:nvSpPr>
        <p:spPr bwMode="auto"/>
        <p:txBody>
          <a:bodyPr/>
          <a:lstStyle/>
          <a:p>
            <a:pPr>
              <a:defRPr/>
            </a:pPr>
            <a:r>
              <a:rPr/>
              <a:t>Pour le SEO : des URLs propres, des balises meta par page, un sitemap.xml généré automatiquement à partir des produits, un robots.txt, et les balises Open Graph pour le partage sur les réseaux sociaux. Le site est responsive mobile-first grâce à Tailwind, avec un menu burger sur petit écran. Je peux réduire la fenêtre pour le montrer.</a:t>
            </a:r>
            <a:endParaRPr/>
          </a:p>
        </p:txBody>
      </p:sp>
      <p:sp>
        <p:nvSpPr>
          <p:cNvPr id="829409730" name="Slide Number Placeholder 3"/>
          <p:cNvSpPr>
            <a:spLocks noGrp="1"/>
          </p:cNvSpPr>
          <p:nvPr>
            <p:ph type="sldNum" sz="quarter" idx="5"/>
          </p:nvPr>
        </p:nvSpPr>
        <p:spPr bwMode="auto"/>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9369866" name="Slide Image Placeholder 1"/>
          <p:cNvSpPr>
            <a:spLocks noGrp="1"/>
          </p:cNvSpPr>
          <p:nvPr>
            <p:ph type="sldImg" idx="2"/>
          </p:nvPr>
        </p:nvSpPr>
        <p:spPr bwMode="auto"/>
      </p:sp>
      <p:sp>
        <p:nvSpPr>
          <p:cNvPr id="1053883946" name="Notes Placeholder 2"/>
          <p:cNvSpPr>
            <a:spLocks noGrp="1"/>
          </p:cNvSpPr>
          <p:nvPr>
            <p:ph type="body" sz="quarter" idx="3"/>
          </p:nvPr>
        </p:nvSpPr>
        <p:spPr bwMode="auto"/>
        <p:txBody>
          <a:bodyPr/>
          <a:lstStyle/>
          <a:p>
            <a:pPr>
              <a:defRPr/>
            </a:pPr>
            <a:r>
              <a:rPr/>
              <a:t>Enfin l'industrialisation : tout est dockerisé, la base évolue via des migrations versionnées, j'ai des tests automatisés, et une pipeline d'intégration continue sur GitHub Actions qui vérifie la syntaxe et lance les tests à chaque push. Le pattern MVC est respecté partout.</a:t>
            </a:r>
            <a:endParaRPr/>
          </a:p>
        </p:txBody>
      </p:sp>
      <p:sp>
        <p:nvSpPr>
          <p:cNvPr id="1774145635" name="Slide Number Placeholder 3"/>
          <p:cNvSpPr>
            <a:spLocks noGrp="1"/>
          </p:cNvSpPr>
          <p:nvPr>
            <p:ph type="sldNum" sz="quarter" idx="5"/>
          </p:nvPr>
        </p:nvSpPr>
        <p:spPr bwMode="auto"/>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7622837" name="Slide Image Placeholder 1"/>
          <p:cNvSpPr>
            <a:spLocks noGrp="1"/>
          </p:cNvSpPr>
          <p:nvPr>
            <p:ph type="sldImg" idx="2"/>
          </p:nvPr>
        </p:nvSpPr>
        <p:spPr bwMode="auto"/>
      </p:sp>
      <p:sp>
        <p:nvSpPr>
          <p:cNvPr id="2079010768" name="Notes Placeholder 2"/>
          <p:cNvSpPr>
            <a:spLocks noGrp="1"/>
          </p:cNvSpPr>
          <p:nvPr>
            <p:ph type="body" sz="quarter" idx="3"/>
          </p:nvPr>
        </p:nvSpPr>
        <p:spPr bwMode="auto"/>
        <p:txBody>
          <a:bodyPr/>
          <a:lstStyle/>
          <a:p>
            <a:pPr>
              <a:defRPr/>
            </a:pPr>
            <a:r>
              <a:rPr/>
              <a:t>Voici mon auto-évaluation par rapport au barème. J'ai couvert la grande majorité des critères. Je suis transparent : je n'ai pas fait la PWA ni l'intégration d'une API externe, je l'assume. Pour le reste, chaque fonctionnalité présentée est fonctionnelle et je viens de la démontrer.</a:t>
            </a:r>
            <a:endParaRPr/>
          </a:p>
        </p:txBody>
      </p:sp>
      <p:sp>
        <p:nvSpPr>
          <p:cNvPr id="143647990" name="Slide Number Placeholder 3"/>
          <p:cNvSpPr>
            <a:spLocks noGrp="1"/>
          </p:cNvSpPr>
          <p:nvPr>
            <p:ph type="sldNum" sz="quarter" idx="5"/>
          </p:nvPr>
        </p:nvSpPr>
        <p:spPr bwMode="auto"/>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6236166" name="Slide Image Placeholder 1"/>
          <p:cNvSpPr>
            <a:spLocks noGrp="1"/>
          </p:cNvSpPr>
          <p:nvPr>
            <p:ph type="sldImg" idx="2"/>
          </p:nvPr>
        </p:nvSpPr>
        <p:spPr bwMode="auto"/>
      </p:sp>
      <p:sp>
        <p:nvSpPr>
          <p:cNvPr id="1638077203" name="Notes Placeholder 2"/>
          <p:cNvSpPr>
            <a:spLocks noGrp="1"/>
          </p:cNvSpPr>
          <p:nvPr>
            <p:ph type="body" sz="quarter" idx="3"/>
          </p:nvPr>
        </p:nvSpPr>
        <p:spPr bwMode="auto"/>
        <p:txBody>
          <a:bodyPr/>
          <a:lstStyle/>
          <a:p>
            <a:pPr>
              <a:defRPr/>
            </a:pPr>
            <a:r>
              <a:rPr/>
              <a:t>Côté chiffrage : j'estime le développement à environ 20 à 25 jours pour un développeur junior, ce qui représente une prestation autour de 6 000 à 7 500 euros. Pour mettre en production sur le long terme, il faut prévoir : un hébergement, un nom de domaine, le HTTPS qui est gratuit, un vrai service d'envoi d'e-mails, une passerelle de paiement comme Stripe, des sauvegardes de la base, la conformité RGPD, et la maintenance — notamment les mises à jour de sécurité. Ce sont des coûts récurrents à anticiper.</a:t>
            </a:r>
            <a:endParaRPr/>
          </a:p>
        </p:txBody>
      </p:sp>
      <p:sp>
        <p:nvSpPr>
          <p:cNvPr id="1285903042" name="Slide Number Placeholder 3"/>
          <p:cNvSpPr>
            <a:spLocks noGrp="1"/>
          </p:cNvSpPr>
          <p:nvPr>
            <p:ph type="sldNum" sz="quarter" idx="5"/>
          </p:nvPr>
        </p:nvSpPr>
        <p:spPr bwMode="auto"/>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0617557" name="Slide Image Placeholder 1"/>
          <p:cNvSpPr>
            <a:spLocks noGrp="1"/>
          </p:cNvSpPr>
          <p:nvPr>
            <p:ph type="sldImg" idx="2"/>
          </p:nvPr>
        </p:nvSpPr>
        <p:spPr bwMode="auto"/>
      </p:sp>
      <p:sp>
        <p:nvSpPr>
          <p:cNvPr id="2101835680" name="Notes Placeholder 2"/>
          <p:cNvSpPr>
            <a:spLocks noGrp="1"/>
          </p:cNvSpPr>
          <p:nvPr>
            <p:ph type="body" sz="quarter" idx="3"/>
          </p:nvPr>
        </p:nvSpPr>
        <p:spPr bwMode="auto"/>
        <p:txBody>
          <a:bodyPr/>
          <a:lstStyle/>
          <a:p>
            <a:pPr>
              <a:defRPr/>
            </a:pPr>
            <a:r>
              <a:rPr/>
              <a:t>Pour le code review, j'ai sélectionné quelques morceaux représentatifs : le service de panier, le contrôleur de commande, la génération de PDF, le mot de passe oublié pour l'aspect sécurité, et un event subscriber. Pour chacun je vais expliquer ce qu'il fait, comment, et pourquoi j'ai fait ces choix.</a:t>
            </a:r>
            <a:endParaRPr/>
          </a:p>
        </p:txBody>
      </p:sp>
      <p:sp>
        <p:nvSpPr>
          <p:cNvPr id="1449538092" name="Slide Number Placeholder 3"/>
          <p:cNvSpPr>
            <a:spLocks noGrp="1"/>
          </p:cNvSpPr>
          <p:nvPr>
            <p:ph type="sldNum" sz="quarter" idx="5"/>
          </p:nvPr>
        </p:nvSpPr>
        <p:spPr bwMode="auto"/>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6064731" name="Slide Image Placeholder 1"/>
          <p:cNvSpPr>
            <a:spLocks noGrp="1"/>
          </p:cNvSpPr>
          <p:nvPr>
            <p:ph type="sldImg" idx="2"/>
          </p:nvPr>
        </p:nvSpPr>
        <p:spPr bwMode="auto"/>
      </p:sp>
      <p:sp>
        <p:nvSpPr>
          <p:cNvPr id="198709727" name="Notes Placeholder 2"/>
          <p:cNvSpPr>
            <a:spLocks noGrp="1"/>
          </p:cNvSpPr>
          <p:nvPr>
            <p:ph type="body" sz="quarter" idx="3"/>
          </p:nvPr>
        </p:nvSpPr>
        <p:spPr bwMode="auto"/>
        <p:txBody>
          <a:bodyPr/>
          <a:lstStyle/>
          <a:p>
            <a:pPr>
              <a:defRPr/>
            </a:pPr>
            <a:r>
              <a:rPr/>
              <a:t>Merci de votre attention, je suis à votre disposition pour vos questions.</a:t>
            </a:r>
            <a:endParaRPr/>
          </a:p>
        </p:txBody>
      </p:sp>
      <p:sp>
        <p:nvSpPr>
          <p:cNvPr id="558565094"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735694432"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518214414"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818383658"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92471320" name="Footer Placeholder 4"/>
          <p:cNvSpPr>
            <a:spLocks noGrp="1"/>
          </p:cNvSpPr>
          <p:nvPr>
            <p:ph type="ftr" sz="quarter" idx="11"/>
          </p:nvPr>
        </p:nvSpPr>
        <p:spPr bwMode="auto"/>
        <p:txBody>
          <a:bodyPr/>
          <a:lstStyle/>
          <a:p>
            <a:pPr>
              <a:defRPr/>
            </a:pPr>
            <a:endParaRPr lang="en-US"/>
          </a:p>
        </p:txBody>
      </p:sp>
      <p:sp>
        <p:nvSpPr>
          <p:cNvPr id="1647716446"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916235159" name="Title 1"/>
          <p:cNvSpPr>
            <a:spLocks noGrp="1"/>
          </p:cNvSpPr>
          <p:nvPr>
            <p:ph type="title"/>
          </p:nvPr>
        </p:nvSpPr>
        <p:spPr bwMode="auto"/>
        <p:txBody>
          <a:bodyPr/>
          <a:lstStyle/>
          <a:p>
            <a:pPr>
              <a:defRPr/>
            </a:pPr>
            <a:r>
              <a:rPr lang="en-US"/>
              <a:t>Click to edit Master title style</a:t>
            </a:r>
            <a:endParaRPr lang="en-US"/>
          </a:p>
        </p:txBody>
      </p:sp>
      <p:sp>
        <p:nvSpPr>
          <p:cNvPr id="1965497595"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5662781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03890463" name="Footer Placeholder 4"/>
          <p:cNvSpPr>
            <a:spLocks noGrp="1"/>
          </p:cNvSpPr>
          <p:nvPr>
            <p:ph type="ftr" sz="quarter" idx="11"/>
          </p:nvPr>
        </p:nvSpPr>
        <p:spPr bwMode="auto"/>
        <p:txBody>
          <a:bodyPr/>
          <a:lstStyle/>
          <a:p>
            <a:pPr>
              <a:defRPr/>
            </a:pPr>
            <a:endParaRPr lang="en-US"/>
          </a:p>
        </p:txBody>
      </p:sp>
      <p:sp>
        <p:nvSpPr>
          <p:cNvPr id="212521146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364040471"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749074083"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233636368"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9003937" name="Footer Placeholder 4"/>
          <p:cNvSpPr>
            <a:spLocks noGrp="1"/>
          </p:cNvSpPr>
          <p:nvPr>
            <p:ph type="ftr" sz="quarter" idx="11"/>
          </p:nvPr>
        </p:nvSpPr>
        <p:spPr bwMode="auto"/>
        <p:txBody>
          <a:bodyPr/>
          <a:lstStyle/>
          <a:p>
            <a:pPr>
              <a:defRPr/>
            </a:pPr>
            <a:endParaRPr lang="en-US"/>
          </a:p>
        </p:txBody>
      </p:sp>
      <p:sp>
        <p:nvSpPr>
          <p:cNvPr id="100942873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551866049" name="Title 1"/>
          <p:cNvSpPr>
            <a:spLocks noGrp="1"/>
          </p:cNvSpPr>
          <p:nvPr>
            <p:ph type="title"/>
          </p:nvPr>
        </p:nvSpPr>
        <p:spPr bwMode="auto"/>
        <p:txBody>
          <a:bodyPr/>
          <a:lstStyle/>
          <a:p>
            <a:pPr>
              <a:defRPr/>
            </a:pPr>
            <a:r>
              <a:rPr lang="en-US"/>
              <a:t>Click to edit Master title style</a:t>
            </a:r>
            <a:endParaRPr lang="en-US"/>
          </a:p>
        </p:txBody>
      </p:sp>
      <p:sp>
        <p:nvSpPr>
          <p:cNvPr id="1865587784"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21073104"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05925281"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31603252" name="Footer Placeholder 5"/>
          <p:cNvSpPr>
            <a:spLocks noGrp="1"/>
          </p:cNvSpPr>
          <p:nvPr>
            <p:ph type="ftr" sz="quarter" idx="11"/>
          </p:nvPr>
        </p:nvSpPr>
        <p:spPr bwMode="auto"/>
        <p:txBody>
          <a:bodyPr/>
          <a:lstStyle/>
          <a:p>
            <a:pPr>
              <a:defRPr/>
            </a:pPr>
            <a:endParaRPr lang="en-US"/>
          </a:p>
        </p:txBody>
      </p:sp>
      <p:sp>
        <p:nvSpPr>
          <p:cNvPr id="520128978"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59958690"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578056190"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02296594"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65639728"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851732582"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00548416"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19368449" name="Footer Placeholder 7"/>
          <p:cNvSpPr>
            <a:spLocks noGrp="1"/>
          </p:cNvSpPr>
          <p:nvPr>
            <p:ph type="ftr" sz="quarter" idx="11"/>
          </p:nvPr>
        </p:nvSpPr>
        <p:spPr bwMode="auto"/>
        <p:txBody>
          <a:bodyPr/>
          <a:lstStyle/>
          <a:p>
            <a:pPr>
              <a:defRPr/>
            </a:pPr>
            <a:endParaRPr lang="en-US"/>
          </a:p>
        </p:txBody>
      </p:sp>
      <p:sp>
        <p:nvSpPr>
          <p:cNvPr id="1468239497"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789994927" name="Title 1"/>
          <p:cNvSpPr>
            <a:spLocks noGrp="1"/>
          </p:cNvSpPr>
          <p:nvPr>
            <p:ph type="title"/>
          </p:nvPr>
        </p:nvSpPr>
        <p:spPr bwMode="auto"/>
        <p:txBody>
          <a:bodyPr/>
          <a:lstStyle/>
          <a:p>
            <a:pPr>
              <a:defRPr/>
            </a:pPr>
            <a:r>
              <a:rPr lang="en-US"/>
              <a:t>Click to edit Master title style</a:t>
            </a:r>
            <a:endParaRPr lang="en-US"/>
          </a:p>
        </p:txBody>
      </p:sp>
      <p:sp>
        <p:nvSpPr>
          <p:cNvPr id="1379152699"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54106653" name="Footer Placeholder 3"/>
          <p:cNvSpPr>
            <a:spLocks noGrp="1"/>
          </p:cNvSpPr>
          <p:nvPr>
            <p:ph type="ftr" sz="quarter" idx="11"/>
          </p:nvPr>
        </p:nvSpPr>
        <p:spPr bwMode="auto"/>
        <p:txBody>
          <a:bodyPr/>
          <a:lstStyle/>
          <a:p>
            <a:pPr>
              <a:defRPr/>
            </a:pPr>
            <a:endParaRPr lang="en-US"/>
          </a:p>
        </p:txBody>
      </p:sp>
      <p:sp>
        <p:nvSpPr>
          <p:cNvPr id="2053492985"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55803514"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72090265" name="Footer Placeholder 2"/>
          <p:cNvSpPr>
            <a:spLocks noGrp="1"/>
          </p:cNvSpPr>
          <p:nvPr>
            <p:ph type="ftr" sz="quarter" idx="11"/>
          </p:nvPr>
        </p:nvSpPr>
        <p:spPr bwMode="auto"/>
        <p:txBody>
          <a:bodyPr/>
          <a:lstStyle/>
          <a:p>
            <a:pPr>
              <a:defRPr/>
            </a:pPr>
            <a:endParaRPr lang="en-US"/>
          </a:p>
        </p:txBody>
      </p:sp>
      <p:sp>
        <p:nvSpPr>
          <p:cNvPr id="628338368"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039528762"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221237176"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17289330"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105397726"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68657942" name="Footer Placeholder 5"/>
          <p:cNvSpPr>
            <a:spLocks noGrp="1"/>
          </p:cNvSpPr>
          <p:nvPr>
            <p:ph type="ftr" sz="quarter" idx="11"/>
          </p:nvPr>
        </p:nvSpPr>
        <p:spPr bwMode="auto"/>
        <p:txBody>
          <a:bodyPr/>
          <a:lstStyle/>
          <a:p>
            <a:pPr>
              <a:defRPr/>
            </a:pPr>
            <a:endParaRPr lang="en-US"/>
          </a:p>
        </p:txBody>
      </p:sp>
      <p:sp>
        <p:nvSpPr>
          <p:cNvPr id="170377119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195395153"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397731069"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883508791"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623104507"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60802531" name="Footer Placeholder 5"/>
          <p:cNvSpPr>
            <a:spLocks noGrp="1"/>
          </p:cNvSpPr>
          <p:nvPr>
            <p:ph type="ftr" sz="quarter" idx="11"/>
          </p:nvPr>
        </p:nvSpPr>
        <p:spPr bwMode="auto"/>
        <p:txBody>
          <a:bodyPr/>
          <a:lstStyle/>
          <a:p>
            <a:pPr>
              <a:defRPr/>
            </a:pPr>
            <a:endParaRPr lang="en-US"/>
          </a:p>
        </p:txBody>
      </p:sp>
      <p:sp>
        <p:nvSpPr>
          <p:cNvPr id="375324930"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452122321" name="Title 1"/>
          <p:cNvSpPr>
            <a:spLocks noGrp="1"/>
          </p:cNvSpPr>
          <p:nvPr>
            <p:ph type="title"/>
          </p:nvPr>
        </p:nvSpPr>
        <p:spPr bwMode="auto"/>
        <p:txBody>
          <a:bodyPr/>
          <a:lstStyle/>
          <a:p>
            <a:pPr>
              <a:defRPr/>
            </a:pPr>
            <a:r>
              <a:rPr lang="en-US"/>
              <a:t>Click to edit Master title style</a:t>
            </a:r>
            <a:endParaRPr lang="en-US"/>
          </a:p>
        </p:txBody>
      </p:sp>
      <p:sp>
        <p:nvSpPr>
          <p:cNvPr id="106910271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04965973"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35246752" name="Footer Placeholder 4"/>
          <p:cNvSpPr>
            <a:spLocks noGrp="1"/>
          </p:cNvSpPr>
          <p:nvPr>
            <p:ph type="ftr" sz="quarter" idx="11"/>
          </p:nvPr>
        </p:nvSpPr>
        <p:spPr bwMode="auto"/>
        <p:txBody>
          <a:bodyPr/>
          <a:lstStyle/>
          <a:p>
            <a:pPr>
              <a:defRPr/>
            </a:pPr>
            <a:endParaRPr lang="en-US"/>
          </a:p>
        </p:txBody>
      </p:sp>
      <p:sp>
        <p:nvSpPr>
          <p:cNvPr id="101293809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908205932"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983264193"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5917834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09280956" name="Footer Placeholder 4"/>
          <p:cNvSpPr>
            <a:spLocks noGrp="1"/>
          </p:cNvSpPr>
          <p:nvPr>
            <p:ph type="ftr" sz="quarter" idx="11"/>
          </p:nvPr>
        </p:nvSpPr>
        <p:spPr bwMode="auto"/>
        <p:txBody>
          <a:bodyPr/>
          <a:lstStyle/>
          <a:p>
            <a:pPr>
              <a:defRPr/>
            </a:pPr>
            <a:endParaRPr lang="en-US"/>
          </a:p>
        </p:txBody>
      </p:sp>
      <p:sp>
        <p:nvSpPr>
          <p:cNvPr id="181522164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562470357"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402265442"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34914507"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105069008"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429925649"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F2937"/>
        </a:solidFill>
      </p:bgPr>
    </p:bg>
    <p:spTree>
      <p:nvGrpSpPr>
        <p:cNvPr id="1" name=""/>
        <p:cNvGrpSpPr/>
        <p:nvPr/>
      </p:nvGrpSpPr>
      <p:grpSpPr bwMode="auto">
        <a:xfrm>
          <a:off x="0" y="0"/>
          <a:ext cx="0" cy="0"/>
          <a:chOff x="0" y="0"/>
          <a:chExt cx="0" cy="0"/>
        </a:xfrm>
      </p:grpSpPr>
      <p:sp>
        <p:nvSpPr>
          <p:cNvPr id="435691417" name="Rectangle 1"/>
          <p:cNvSpPr/>
          <p:nvPr/>
        </p:nvSpPr>
        <p:spPr bwMode="auto">
          <a:xfrm>
            <a:off x="0" y="2331720"/>
            <a:ext cx="12191695" cy="2194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00998382" name="TextBox 2"/>
          <p:cNvSpPr txBox="1"/>
          <p:nvPr/>
        </p:nvSpPr>
        <p:spPr bwMode="auto">
          <a:xfrm>
            <a:off x="548640" y="640080"/>
            <a:ext cx="10972800" cy="914400"/>
          </a:xfrm>
          <a:prstGeom prst="rect">
            <a:avLst/>
          </a:prstGeom>
          <a:noFill/>
        </p:spPr>
        <p:txBody>
          <a:bodyPr wrap="square" anchor="t">
            <a:spAutoFit/>
          </a:bodyPr>
          <a:lstStyle/>
          <a:p>
            <a:pPr algn="ctr">
              <a:spcAft>
                <a:spcPts val="600"/>
              </a:spcAft>
              <a:defRPr/>
            </a:pPr>
            <a:r>
              <a:rPr sz="5400" b="1">
                <a:solidFill>
                  <a:srgbClr val="FFFFFF"/>
                </a:solidFill>
                <a:latin typeface="Calibri"/>
              </a:rPr>
              <a:t>🐝</a:t>
            </a:r>
            <a:endParaRPr/>
          </a:p>
        </p:txBody>
      </p:sp>
      <p:sp>
        <p:nvSpPr>
          <p:cNvPr id="1950217739" name="TextBox 3"/>
          <p:cNvSpPr txBox="1"/>
          <p:nvPr/>
        </p:nvSpPr>
        <p:spPr bwMode="auto">
          <a:xfrm>
            <a:off x="914400" y="2514600"/>
            <a:ext cx="10332720" cy="1005840"/>
          </a:xfrm>
          <a:prstGeom prst="rect">
            <a:avLst/>
          </a:prstGeom>
          <a:noFill/>
        </p:spPr>
        <p:txBody>
          <a:bodyPr wrap="square" anchor="ctr">
            <a:spAutoFit/>
          </a:bodyPr>
          <a:lstStyle/>
          <a:p>
            <a:pPr algn="ctr">
              <a:spcAft>
                <a:spcPts val="600"/>
              </a:spcAft>
              <a:defRPr/>
            </a:pPr>
            <a:r>
              <a:rPr sz="4800" b="1">
                <a:solidFill>
                  <a:srgbClr val="FFFFFF"/>
                </a:solidFill>
                <a:latin typeface="Calibri"/>
              </a:rPr>
              <a:t>MIEL APICOLE</a:t>
            </a:r>
            <a:endParaRPr/>
          </a:p>
        </p:txBody>
      </p:sp>
      <p:sp>
        <p:nvSpPr>
          <p:cNvPr id="1428833180" name="TextBox 4"/>
          <p:cNvSpPr txBox="1"/>
          <p:nvPr/>
        </p:nvSpPr>
        <p:spPr bwMode="auto">
          <a:xfrm>
            <a:off x="914400" y="3429000"/>
            <a:ext cx="10333079" cy="427079"/>
          </a:xfrm>
          <a:prstGeom prst="rect">
            <a:avLst/>
          </a:prstGeom>
          <a:noFill/>
        </p:spPr>
        <p:txBody>
          <a:bodyPr wrap="square" anchor="t">
            <a:spAutoFit/>
          </a:bodyPr>
          <a:lstStyle/>
          <a:p>
            <a:pPr algn="ctr">
              <a:spcAft>
                <a:spcPts val="600"/>
              </a:spcAft>
              <a:defRPr/>
            </a:pPr>
            <a:r>
              <a:rPr sz="2200" b="0">
                <a:solidFill>
                  <a:srgbClr val="FFFFFF"/>
                </a:solidFill>
                <a:latin typeface="Calibri"/>
              </a:rPr>
              <a:t>Site e-commerce de vente de miel </a:t>
            </a:r>
            <a:endParaRPr/>
          </a:p>
        </p:txBody>
      </p:sp>
      <p:sp>
        <p:nvSpPr>
          <p:cNvPr id="2060755674" name="TextBox 5"/>
          <p:cNvSpPr txBox="1"/>
          <p:nvPr/>
        </p:nvSpPr>
        <p:spPr bwMode="auto">
          <a:xfrm rot="10800000" flipH="0" flipV="1">
            <a:off x="78873" y="6441131"/>
            <a:ext cx="2128491" cy="320399"/>
          </a:xfrm>
          <a:prstGeom prst="rect">
            <a:avLst/>
          </a:prstGeom>
          <a:noFill/>
        </p:spPr>
        <p:txBody>
          <a:bodyPr wrap="square" anchor="t">
            <a:spAutoFit/>
          </a:bodyPr>
          <a:lstStyle/>
          <a:p>
            <a:pPr algn="ctr">
              <a:spcAft>
                <a:spcPts val="1000"/>
              </a:spcAft>
              <a:defRPr/>
            </a:pPr>
            <a:r>
              <a:rPr lang="fr-FR" sz="1500" b="0">
                <a:solidFill>
                  <a:srgbClr val="9CA3AF"/>
                </a:solidFill>
                <a:latin typeface="Calibri"/>
              </a:rPr>
              <a:t>Mathéo Grébent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622604302"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16730439"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23002917"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Présentation du projet</a:t>
            </a:r>
            <a:endParaRPr/>
          </a:p>
        </p:txBody>
      </p:sp>
      <p:sp>
        <p:nvSpPr>
          <p:cNvPr id="1118625703"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Contexte · objectifs · rôles</a:t>
            </a:r>
            <a:endParaRPr/>
          </a:p>
        </p:txBody>
      </p:sp>
      <p:sp>
        <p:nvSpPr>
          <p:cNvPr id="1148405821" name="TextBox 5"/>
          <p:cNvSpPr txBox="1"/>
          <p:nvPr/>
        </p:nvSpPr>
        <p:spPr bwMode="auto">
          <a:xfrm>
            <a:off x="548640" y="1371600"/>
            <a:ext cx="11144159" cy="640440"/>
          </a:xfrm>
          <a:prstGeom prst="rect">
            <a:avLst/>
          </a:prstGeom>
          <a:noFill/>
        </p:spPr>
        <p:txBody>
          <a:bodyPr wrap="square" anchor="t">
            <a:spAutoFit/>
          </a:bodyPr>
          <a:lstStyle/>
          <a:p>
            <a:pPr algn="l">
              <a:spcAft>
                <a:spcPts val="600"/>
              </a:spcAft>
              <a:defRPr/>
            </a:pPr>
            <a:r>
              <a:rPr lang="fr-FR" sz="1800" b="0">
                <a:solidFill>
                  <a:srgbClr val="4B5563"/>
                </a:solidFill>
                <a:latin typeface="Calibri"/>
              </a:rPr>
              <a:t>La Création et la mise en production d’un site web de vente de produit apicole pour soutenir l’activité d’apiculteur de mes grands parents. </a:t>
            </a:r>
            <a:endParaRPr/>
          </a:p>
        </p:txBody>
      </p:sp>
      <p:sp>
        <p:nvSpPr>
          <p:cNvPr id="514491800" name="TextBox 6"/>
          <p:cNvSpPr txBox="1"/>
          <p:nvPr/>
        </p:nvSpPr>
        <p:spPr bwMode="auto">
          <a:xfrm>
            <a:off x="548640" y="2468880"/>
            <a:ext cx="5486400" cy="457200"/>
          </a:xfrm>
          <a:prstGeom prst="rect">
            <a:avLst/>
          </a:prstGeom>
          <a:noFill/>
        </p:spPr>
        <p:txBody>
          <a:bodyPr wrap="square" anchor="t">
            <a:spAutoFit/>
          </a:bodyPr>
          <a:lstStyle/>
          <a:p>
            <a:pPr algn="l">
              <a:spcAft>
                <a:spcPts val="600"/>
              </a:spcAft>
              <a:defRPr/>
            </a:pPr>
            <a:r>
              <a:rPr sz="2000" b="1">
                <a:solidFill>
                  <a:srgbClr val="92400E"/>
                </a:solidFill>
                <a:latin typeface="Calibri"/>
              </a:rPr>
              <a:t>Objectifs</a:t>
            </a:r>
            <a:endParaRPr/>
          </a:p>
        </p:txBody>
      </p:sp>
      <p:sp>
        <p:nvSpPr>
          <p:cNvPr id="1228101253" name="TextBox 7"/>
          <p:cNvSpPr txBox="1"/>
          <p:nvPr/>
        </p:nvSpPr>
        <p:spPr bwMode="auto">
          <a:xfrm>
            <a:off x="548640" y="2926080"/>
            <a:ext cx="5590079" cy="1818999"/>
          </a:xfrm>
          <a:prstGeom prst="rect">
            <a:avLst/>
          </a:prstGeom>
          <a:noFill/>
        </p:spPr>
        <p:txBody>
          <a:bodyPr wrap="square" anchor="t">
            <a:spAutoFit/>
          </a:bodyPr>
          <a:lstStyle/>
          <a:p>
            <a:pPr algn="l">
              <a:spcAft>
                <a:spcPts val="1000"/>
              </a:spcAft>
              <a:defRPr/>
            </a:pPr>
            <a:r>
              <a:rPr sz="1600" b="0">
                <a:solidFill>
                  <a:srgbClr val="4B5563"/>
                </a:solidFill>
                <a:latin typeface="Calibri"/>
              </a:rPr>
              <a:t>•  Vitrine produits claire et responsive</a:t>
            </a:r>
            <a:endParaRPr/>
          </a:p>
          <a:p>
            <a:pPr algn="l">
              <a:spcAft>
                <a:spcPts val="1000"/>
              </a:spcAft>
              <a:defRPr/>
            </a:pPr>
            <a:r>
              <a:rPr sz="1600" b="0">
                <a:solidFill>
                  <a:srgbClr val="4B5563"/>
                </a:solidFill>
                <a:latin typeface="Calibri"/>
              </a:rPr>
              <a:t>•  Tunnel d'achat complet (panier → commande → facture)</a:t>
            </a:r>
            <a:endParaRPr/>
          </a:p>
          <a:p>
            <a:pPr algn="l">
              <a:spcAft>
                <a:spcPts val="1000"/>
              </a:spcAft>
              <a:defRPr/>
            </a:pPr>
            <a:r>
              <a:rPr sz="1600" b="0">
                <a:solidFill>
                  <a:srgbClr val="4B5563"/>
                </a:solidFill>
                <a:latin typeface="Calibri"/>
              </a:rPr>
              <a:t>•  Back-office</a:t>
            </a:r>
            <a:r>
              <a:rPr lang="fr-FR" sz="1600" b="0">
                <a:solidFill>
                  <a:srgbClr val="4B5563"/>
                </a:solidFill>
                <a:latin typeface="Calibri"/>
              </a:rPr>
              <a:t> </a:t>
            </a:r>
            <a:r>
              <a:rPr lang="fr-FR" sz="1600" b="0">
                <a:solidFill>
                  <a:srgbClr val="4B5563"/>
                </a:solidFill>
                <a:latin typeface="Calibri"/>
              </a:rPr>
              <a:t>/ outils admin</a:t>
            </a:r>
            <a:endParaRPr/>
          </a:p>
          <a:p>
            <a:pPr algn="l">
              <a:spcAft>
                <a:spcPts val="1000"/>
              </a:spcAft>
              <a:defRPr/>
            </a:pPr>
            <a:r>
              <a:rPr sz="1600" b="0">
                <a:solidFill>
                  <a:srgbClr val="4B5563"/>
                </a:solidFill>
                <a:latin typeface="Calibri"/>
              </a:rPr>
              <a:t>•  Authentification </a:t>
            </a:r>
            <a:endParaRPr/>
          </a:p>
          <a:p>
            <a:pPr algn="l">
              <a:spcAft>
                <a:spcPts val="1000"/>
              </a:spcAft>
              <a:defRPr/>
            </a:pPr>
            <a:r>
              <a:rPr sz="1600" b="0">
                <a:solidFill>
                  <a:srgbClr val="4B5563"/>
                </a:solidFill>
                <a:latin typeface="Calibri"/>
              </a:rPr>
              <a:t>•  </a:t>
            </a:r>
            <a:r>
              <a:rPr lang="fr-FR" sz="1600" b="0">
                <a:solidFill>
                  <a:srgbClr val="4B5563"/>
                </a:solidFill>
                <a:latin typeface="Calibri"/>
              </a:rPr>
              <a:t>A</a:t>
            </a:r>
            <a:r>
              <a:rPr sz="1600" b="0">
                <a:solidFill>
                  <a:srgbClr val="4B5563"/>
                </a:solidFill>
                <a:latin typeface="Calibri"/>
              </a:rPr>
              <a:t>vis clients </a:t>
            </a:r>
            <a:r>
              <a:rPr lang="fr-FR" sz="1600" b="0">
                <a:solidFill>
                  <a:srgbClr val="4B5563"/>
                </a:solidFill>
                <a:latin typeface="Calibri"/>
              </a:rPr>
              <a:t>+ </a:t>
            </a:r>
            <a:r>
              <a:rPr sz="1600" b="0">
                <a:solidFill>
                  <a:srgbClr val="4B5563"/>
                </a:solidFill>
                <a:latin typeface="Calibri"/>
              </a:rPr>
              <a:t>modér</a:t>
            </a:r>
            <a:r>
              <a:rPr lang="fr-FR" sz="1600" b="0">
                <a:solidFill>
                  <a:srgbClr val="4B5563"/>
                </a:solidFill>
                <a:latin typeface="Calibri"/>
              </a:rPr>
              <a:t>ations</a:t>
            </a:r>
            <a:endParaRPr/>
          </a:p>
        </p:txBody>
      </p:sp>
      <p:sp>
        <p:nvSpPr>
          <p:cNvPr id="470021291" name="TextBox 8"/>
          <p:cNvSpPr txBox="1"/>
          <p:nvPr/>
        </p:nvSpPr>
        <p:spPr bwMode="auto">
          <a:xfrm>
            <a:off x="6309360" y="2468880"/>
            <a:ext cx="5486400" cy="457200"/>
          </a:xfrm>
          <a:prstGeom prst="rect">
            <a:avLst/>
          </a:prstGeom>
          <a:noFill/>
        </p:spPr>
        <p:txBody>
          <a:bodyPr wrap="square" anchor="t">
            <a:spAutoFit/>
          </a:bodyPr>
          <a:lstStyle/>
          <a:p>
            <a:pPr algn="l">
              <a:spcAft>
                <a:spcPts val="600"/>
              </a:spcAft>
              <a:defRPr/>
            </a:pPr>
            <a:r>
              <a:rPr sz="2000" b="1">
                <a:solidFill>
                  <a:srgbClr val="92400E"/>
                </a:solidFill>
                <a:latin typeface="Calibri"/>
              </a:rPr>
              <a:t>Deux rôles</a:t>
            </a:r>
            <a:endParaRPr/>
          </a:p>
        </p:txBody>
      </p:sp>
      <p:sp>
        <p:nvSpPr>
          <p:cNvPr id="1569627094" name="TextBox 9"/>
          <p:cNvSpPr txBox="1"/>
          <p:nvPr/>
        </p:nvSpPr>
        <p:spPr bwMode="auto">
          <a:xfrm>
            <a:off x="6309360" y="2926080"/>
            <a:ext cx="5303879" cy="1615799"/>
          </a:xfrm>
          <a:prstGeom prst="rect">
            <a:avLst/>
          </a:prstGeom>
          <a:noFill/>
        </p:spPr>
        <p:txBody>
          <a:bodyPr wrap="square" anchor="t">
            <a:spAutoFit/>
          </a:bodyPr>
          <a:lstStyle/>
          <a:p>
            <a:pPr algn="l">
              <a:spcAft>
                <a:spcPts val="800"/>
              </a:spcAft>
              <a:defRPr/>
            </a:pPr>
            <a:r>
              <a:rPr sz="1600" b="1">
                <a:solidFill>
                  <a:srgbClr val="1F2937"/>
                </a:solidFill>
                <a:latin typeface="Calibri"/>
              </a:rPr>
              <a:t>CLIENT (ROLE_USER)</a:t>
            </a:r>
            <a:endParaRPr/>
          </a:p>
          <a:p>
            <a:pPr algn="l">
              <a:spcAft>
                <a:spcPts val="800"/>
              </a:spcAft>
              <a:defRPr/>
            </a:pPr>
            <a:r>
              <a:rPr sz="1500" b="0">
                <a:solidFill>
                  <a:srgbClr val="4B5563"/>
                </a:solidFill>
                <a:latin typeface="Calibri"/>
              </a:rPr>
              <a:t>–  parcourt, commande, gère son compte et ses factures, laisse des avis</a:t>
            </a:r>
            <a:r>
              <a:rPr lang="fr-FR"/>
              <a:t>.</a:t>
            </a:r>
            <a:endParaRPr/>
          </a:p>
          <a:p>
            <a:pPr algn="l">
              <a:spcAft>
                <a:spcPts val="800"/>
              </a:spcAft>
              <a:defRPr/>
            </a:pPr>
            <a:r>
              <a:rPr sz="1600" b="1">
                <a:solidFill>
                  <a:srgbClr val="1F2937"/>
                </a:solidFill>
                <a:latin typeface="Calibri"/>
              </a:rPr>
              <a:t>ADMIN (ROLE_ADMIN)</a:t>
            </a:r>
            <a:endParaRPr/>
          </a:p>
          <a:p>
            <a:pPr algn="l">
              <a:spcAft>
                <a:spcPts val="800"/>
              </a:spcAft>
              <a:defRPr/>
            </a:pPr>
            <a:r>
              <a:rPr sz="1500" b="0">
                <a:solidFill>
                  <a:srgbClr val="4B5563"/>
                </a:solidFill>
                <a:latin typeface="Calibri"/>
              </a:rPr>
              <a:t>–  gère produits, commandes, utilisateurs et modère les avis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79667262"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0392319"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34464063"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Revue rapide des fonctionnalités</a:t>
            </a:r>
            <a:endParaRPr/>
          </a:p>
        </p:txBody>
      </p:sp>
      <p:sp>
        <p:nvSpPr>
          <p:cNvPr id="1380485797"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Ce que le site sait faire</a:t>
            </a:r>
            <a:endParaRPr/>
          </a:p>
        </p:txBody>
      </p:sp>
      <p:sp>
        <p:nvSpPr>
          <p:cNvPr id="1706630320" name="Rectangle 5"/>
          <p:cNvSpPr/>
          <p:nvPr/>
        </p:nvSpPr>
        <p:spPr bwMode="auto">
          <a:xfrm>
            <a:off x="548640" y="1325880"/>
            <a:ext cx="3611880" cy="51206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02118165" name="TextBox 6"/>
          <p:cNvSpPr txBox="1"/>
          <p:nvPr/>
        </p:nvSpPr>
        <p:spPr bwMode="auto">
          <a:xfrm>
            <a:off x="731520" y="1463040"/>
            <a:ext cx="3291840" cy="457200"/>
          </a:xfrm>
          <a:prstGeom prst="rect">
            <a:avLst/>
          </a:prstGeom>
          <a:noFill/>
        </p:spPr>
        <p:txBody>
          <a:bodyPr wrap="square" anchor="t">
            <a:spAutoFit/>
          </a:bodyPr>
          <a:lstStyle/>
          <a:p>
            <a:pPr algn="l">
              <a:spcAft>
                <a:spcPts val="600"/>
              </a:spcAft>
              <a:defRPr/>
            </a:pPr>
            <a:r>
              <a:rPr sz="1500" b="1">
                <a:solidFill>
                  <a:srgbClr val="92400E"/>
                </a:solidFill>
                <a:latin typeface="Calibri"/>
              </a:rPr>
              <a:t>CÔTÉ CLIENT</a:t>
            </a:r>
            <a:endParaRPr/>
          </a:p>
        </p:txBody>
      </p:sp>
      <p:sp>
        <p:nvSpPr>
          <p:cNvPr id="1565673409" name="TextBox 7"/>
          <p:cNvSpPr txBox="1"/>
          <p:nvPr/>
        </p:nvSpPr>
        <p:spPr bwMode="auto">
          <a:xfrm>
            <a:off x="731520" y="2011680"/>
            <a:ext cx="3292920" cy="2360019"/>
          </a:xfrm>
          <a:prstGeom prst="rect">
            <a:avLst/>
          </a:prstGeom>
          <a:noFill/>
        </p:spPr>
        <p:txBody>
          <a:bodyPr wrap="square" anchor="t">
            <a:spAutoFit/>
          </a:bodyPr>
          <a:lstStyle/>
          <a:p>
            <a:pPr algn="l">
              <a:spcAft>
                <a:spcPts val="700"/>
              </a:spcAft>
              <a:defRPr/>
            </a:pPr>
            <a:r>
              <a:rPr sz="1350" b="0">
                <a:solidFill>
                  <a:srgbClr val="4B5563"/>
                </a:solidFill>
                <a:latin typeface="Calibri"/>
              </a:rPr>
              <a:t>•  Accueil (promos, histoire)</a:t>
            </a:r>
            <a:endParaRPr/>
          </a:p>
          <a:p>
            <a:pPr algn="l">
              <a:spcAft>
                <a:spcPts val="700"/>
              </a:spcAft>
              <a:defRPr/>
            </a:pPr>
            <a:r>
              <a:rPr sz="1350" b="0">
                <a:solidFill>
                  <a:srgbClr val="4B5563"/>
                </a:solidFill>
                <a:latin typeface="Calibri"/>
              </a:rPr>
              <a:t>•  Catalogue + filtres + tri</a:t>
            </a:r>
            <a:endParaRPr/>
          </a:p>
          <a:p>
            <a:pPr algn="l">
              <a:spcAft>
                <a:spcPts val="700"/>
              </a:spcAft>
              <a:defRPr/>
            </a:pPr>
            <a:r>
              <a:rPr sz="1350" b="0">
                <a:solidFill>
                  <a:srgbClr val="4B5563"/>
                </a:solidFill>
                <a:latin typeface="Calibri"/>
              </a:rPr>
              <a:t>•  Fiche produit (variantes, stock, avis)</a:t>
            </a:r>
            <a:endParaRPr/>
          </a:p>
          <a:p>
            <a:pPr algn="l">
              <a:spcAft>
                <a:spcPts val="700"/>
              </a:spcAft>
              <a:defRPr/>
            </a:pPr>
            <a:r>
              <a:rPr sz="1350" b="0">
                <a:solidFill>
                  <a:srgbClr val="4B5563"/>
                </a:solidFill>
                <a:latin typeface="Calibri"/>
              </a:rPr>
              <a:t>•  Panier en session</a:t>
            </a:r>
            <a:endParaRPr/>
          </a:p>
          <a:p>
            <a:pPr algn="l">
              <a:spcAft>
                <a:spcPts val="700"/>
              </a:spcAft>
              <a:defRPr/>
            </a:pPr>
            <a:r>
              <a:rPr sz="1350" b="0">
                <a:solidFill>
                  <a:srgbClr val="4B5563"/>
                </a:solidFill>
                <a:latin typeface="Calibri"/>
              </a:rPr>
              <a:t>•  Commande + facture PDF</a:t>
            </a:r>
            <a:endParaRPr/>
          </a:p>
          <a:p>
            <a:pPr algn="l">
              <a:spcAft>
                <a:spcPts val="700"/>
              </a:spcAft>
              <a:defRPr/>
            </a:pPr>
            <a:r>
              <a:rPr sz="1350" b="0">
                <a:solidFill>
                  <a:srgbClr val="4B5563"/>
                </a:solidFill>
                <a:latin typeface="Calibri"/>
              </a:rPr>
              <a:t>•  Espace client (profil, commandes)</a:t>
            </a:r>
            <a:endParaRPr/>
          </a:p>
          <a:p>
            <a:pPr algn="l">
              <a:spcAft>
                <a:spcPts val="700"/>
              </a:spcAft>
              <a:defRPr/>
            </a:pPr>
            <a:r>
              <a:rPr sz="1350" b="0">
                <a:solidFill>
                  <a:srgbClr val="4B5563"/>
                </a:solidFill>
                <a:latin typeface="Calibri"/>
              </a:rPr>
              <a:t>•  Avis produits</a:t>
            </a:r>
            <a:endParaRPr/>
          </a:p>
          <a:p>
            <a:pPr algn="l">
              <a:spcAft>
                <a:spcPts val="700"/>
              </a:spcAft>
              <a:defRPr/>
            </a:pPr>
            <a:r>
              <a:rPr sz="1350" b="0">
                <a:solidFill>
                  <a:srgbClr val="4B5563"/>
                </a:solidFill>
                <a:latin typeface="Calibri"/>
              </a:rPr>
              <a:t>•  À propos / Contact</a:t>
            </a:r>
            <a:endParaRPr/>
          </a:p>
        </p:txBody>
      </p:sp>
      <p:sp>
        <p:nvSpPr>
          <p:cNvPr id="447714890" name="Rectangle 8"/>
          <p:cNvSpPr/>
          <p:nvPr/>
        </p:nvSpPr>
        <p:spPr bwMode="auto">
          <a:xfrm>
            <a:off x="4325112" y="1325880"/>
            <a:ext cx="3611880" cy="51206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570575" name="TextBox 9"/>
          <p:cNvSpPr txBox="1"/>
          <p:nvPr/>
        </p:nvSpPr>
        <p:spPr bwMode="auto">
          <a:xfrm>
            <a:off x="4507992" y="1463040"/>
            <a:ext cx="3291840" cy="457200"/>
          </a:xfrm>
          <a:prstGeom prst="rect">
            <a:avLst/>
          </a:prstGeom>
          <a:noFill/>
        </p:spPr>
        <p:txBody>
          <a:bodyPr wrap="square" anchor="t">
            <a:spAutoFit/>
          </a:bodyPr>
          <a:lstStyle/>
          <a:p>
            <a:pPr algn="l">
              <a:spcAft>
                <a:spcPts val="600"/>
              </a:spcAft>
              <a:defRPr/>
            </a:pPr>
            <a:r>
              <a:rPr sz="1500" b="1">
                <a:solidFill>
                  <a:srgbClr val="92400E"/>
                </a:solidFill>
                <a:latin typeface="Calibri"/>
              </a:rPr>
              <a:t>CÔTÉ ADMIN</a:t>
            </a:r>
            <a:endParaRPr/>
          </a:p>
        </p:txBody>
      </p:sp>
      <p:sp>
        <p:nvSpPr>
          <p:cNvPr id="1635383014" name="TextBox 10"/>
          <p:cNvSpPr txBox="1"/>
          <p:nvPr/>
        </p:nvSpPr>
        <p:spPr bwMode="auto">
          <a:xfrm>
            <a:off x="4507992" y="2011680"/>
            <a:ext cx="3291840" cy="4297680"/>
          </a:xfrm>
          <a:prstGeom prst="rect">
            <a:avLst/>
          </a:prstGeom>
          <a:noFill/>
        </p:spPr>
        <p:txBody>
          <a:bodyPr wrap="square" anchor="t">
            <a:spAutoFit/>
          </a:bodyPr>
          <a:lstStyle/>
          <a:p>
            <a:pPr algn="l">
              <a:spcAft>
                <a:spcPts val="700"/>
              </a:spcAft>
              <a:defRPr/>
            </a:pPr>
            <a:r>
              <a:rPr sz="1350" b="0">
                <a:solidFill>
                  <a:srgbClr val="4B5563"/>
                </a:solidFill>
                <a:latin typeface="Calibri"/>
              </a:rPr>
              <a:t>•  Dashboard</a:t>
            </a:r>
            <a:endParaRPr/>
          </a:p>
          <a:p>
            <a:pPr algn="l">
              <a:spcAft>
                <a:spcPts val="700"/>
              </a:spcAft>
              <a:defRPr/>
            </a:pPr>
            <a:r>
              <a:rPr sz="1350" b="0">
                <a:solidFill>
                  <a:srgbClr val="4B5563"/>
                </a:solidFill>
                <a:latin typeface="Calibri"/>
              </a:rPr>
              <a:t>•  CRUD produits (images, variantes)</a:t>
            </a:r>
            <a:endParaRPr/>
          </a:p>
          <a:p>
            <a:pPr algn="l">
              <a:spcAft>
                <a:spcPts val="700"/>
              </a:spcAft>
              <a:defRPr/>
            </a:pPr>
            <a:r>
              <a:rPr sz="1350" b="0">
                <a:solidFill>
                  <a:srgbClr val="4B5563"/>
                </a:solidFill>
                <a:latin typeface="Calibri"/>
              </a:rPr>
              <a:t>•  CRUD catégories</a:t>
            </a:r>
            <a:endParaRPr/>
          </a:p>
          <a:p>
            <a:pPr algn="l">
              <a:spcAft>
                <a:spcPts val="700"/>
              </a:spcAft>
              <a:defRPr/>
            </a:pPr>
            <a:r>
              <a:rPr sz="1350" b="0">
                <a:solidFill>
                  <a:srgbClr val="4B5563"/>
                </a:solidFill>
                <a:latin typeface="Calibri"/>
              </a:rPr>
              <a:t>•  Gestion des commandes (statuts)</a:t>
            </a:r>
            <a:endParaRPr/>
          </a:p>
          <a:p>
            <a:pPr algn="l">
              <a:spcAft>
                <a:spcPts val="700"/>
              </a:spcAft>
              <a:defRPr/>
            </a:pPr>
            <a:r>
              <a:rPr sz="1350" b="0">
                <a:solidFill>
                  <a:srgbClr val="4B5563"/>
                </a:solidFill>
                <a:latin typeface="Calibri"/>
              </a:rPr>
              <a:t>•  Gestion des utilisateurs</a:t>
            </a:r>
            <a:endParaRPr/>
          </a:p>
          <a:p>
            <a:pPr algn="l">
              <a:spcAft>
                <a:spcPts val="700"/>
              </a:spcAft>
              <a:defRPr/>
            </a:pPr>
            <a:r>
              <a:rPr sz="1350" b="0">
                <a:solidFill>
                  <a:srgbClr val="4B5563"/>
                </a:solidFill>
                <a:latin typeface="Calibri"/>
              </a:rPr>
              <a:t>•  Modération des avis</a:t>
            </a:r>
            <a:endParaRPr/>
          </a:p>
          <a:p>
            <a:pPr algn="l">
              <a:spcAft>
                <a:spcPts val="700"/>
              </a:spcAft>
              <a:defRPr/>
            </a:pPr>
            <a:r>
              <a:rPr sz="1350" b="0">
                <a:solidFill>
                  <a:srgbClr val="4B5563"/>
                </a:solidFill>
                <a:latin typeface="Calibri"/>
              </a:rPr>
              <a:t>•  Téléchargement des factures</a:t>
            </a:r>
            <a:endParaRPr/>
          </a:p>
        </p:txBody>
      </p:sp>
      <p:sp>
        <p:nvSpPr>
          <p:cNvPr id="1168777133" name="Rectangle 11"/>
          <p:cNvSpPr/>
          <p:nvPr/>
        </p:nvSpPr>
        <p:spPr bwMode="auto">
          <a:xfrm>
            <a:off x="8101584" y="1325880"/>
            <a:ext cx="3611880" cy="51206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18725572" name="TextBox 12"/>
          <p:cNvSpPr txBox="1"/>
          <p:nvPr/>
        </p:nvSpPr>
        <p:spPr bwMode="auto">
          <a:xfrm>
            <a:off x="8284464" y="1463040"/>
            <a:ext cx="3291840" cy="457200"/>
          </a:xfrm>
          <a:prstGeom prst="rect">
            <a:avLst/>
          </a:prstGeom>
          <a:noFill/>
        </p:spPr>
        <p:txBody>
          <a:bodyPr wrap="square" anchor="t">
            <a:spAutoFit/>
          </a:bodyPr>
          <a:lstStyle/>
          <a:p>
            <a:pPr algn="l">
              <a:spcAft>
                <a:spcPts val="600"/>
              </a:spcAft>
              <a:defRPr/>
            </a:pPr>
            <a:r>
              <a:rPr sz="1500" b="1">
                <a:solidFill>
                  <a:srgbClr val="92400E"/>
                </a:solidFill>
                <a:latin typeface="Calibri"/>
              </a:rPr>
              <a:t>TRANSVERSE</a:t>
            </a:r>
            <a:endParaRPr/>
          </a:p>
        </p:txBody>
      </p:sp>
      <p:sp>
        <p:nvSpPr>
          <p:cNvPr id="429388" name="TextBox 13"/>
          <p:cNvSpPr txBox="1"/>
          <p:nvPr/>
        </p:nvSpPr>
        <p:spPr bwMode="auto">
          <a:xfrm>
            <a:off x="8284464" y="2011680"/>
            <a:ext cx="3297600" cy="2065379"/>
          </a:xfrm>
          <a:prstGeom prst="rect">
            <a:avLst/>
          </a:prstGeom>
          <a:noFill/>
        </p:spPr>
        <p:txBody>
          <a:bodyPr wrap="square" anchor="t">
            <a:spAutoFit/>
          </a:bodyPr>
          <a:lstStyle/>
          <a:p>
            <a:pPr algn="l">
              <a:spcAft>
                <a:spcPts val="700"/>
              </a:spcAft>
              <a:defRPr/>
            </a:pPr>
            <a:r>
              <a:rPr sz="1350" b="0">
                <a:solidFill>
                  <a:srgbClr val="4B5563"/>
                </a:solidFill>
                <a:latin typeface="Calibri"/>
              </a:rPr>
              <a:t>•  Auth</a:t>
            </a:r>
            <a:r>
              <a:rPr lang="fr-FR" sz="1350" b="0">
                <a:solidFill>
                  <a:srgbClr val="4B5563"/>
                </a:solidFill>
                <a:latin typeface="Calibri"/>
              </a:rPr>
              <a:t>entication</a:t>
            </a:r>
            <a:r>
              <a:rPr sz="1350" b="0">
                <a:solidFill>
                  <a:srgbClr val="4B5563"/>
                </a:solidFill>
                <a:latin typeface="Calibri"/>
              </a:rPr>
              <a:t> + rôles</a:t>
            </a:r>
            <a:endParaRPr/>
          </a:p>
          <a:p>
            <a:pPr algn="l">
              <a:spcAft>
                <a:spcPts val="700"/>
              </a:spcAft>
              <a:defRPr/>
            </a:pPr>
            <a:r>
              <a:rPr sz="1350" b="0">
                <a:solidFill>
                  <a:srgbClr val="4B5563"/>
                </a:solidFill>
                <a:latin typeface="Calibri"/>
              </a:rPr>
              <a:t>•  e-mails transactionnels</a:t>
            </a:r>
            <a:endParaRPr/>
          </a:p>
          <a:p>
            <a:pPr algn="l">
              <a:spcAft>
                <a:spcPts val="700"/>
              </a:spcAft>
              <a:defRPr/>
            </a:pPr>
            <a:r>
              <a:rPr sz="1350" b="0">
                <a:solidFill>
                  <a:srgbClr val="4B5563"/>
                </a:solidFill>
                <a:latin typeface="Calibri"/>
              </a:rPr>
              <a:t>•  Sécurité (CSRF, SQL, X</a:t>
            </a:r>
            <a:r>
              <a:rPr lang="fr-FR" sz="1350" b="0">
                <a:solidFill>
                  <a:srgbClr val="4B5563"/>
                </a:solidFill>
                <a:latin typeface="Calibri"/>
              </a:rPr>
              <a:t>SS</a:t>
            </a:r>
            <a:r>
              <a:rPr sz="1350" b="0">
                <a:solidFill>
                  <a:srgbClr val="4B5563"/>
                </a:solidFill>
                <a:latin typeface="Calibri"/>
              </a:rPr>
              <a:t>)</a:t>
            </a:r>
            <a:endParaRPr/>
          </a:p>
          <a:p>
            <a:pPr algn="l">
              <a:spcAft>
                <a:spcPts val="700"/>
              </a:spcAft>
              <a:defRPr/>
            </a:pPr>
            <a:r>
              <a:rPr sz="1350" b="0">
                <a:solidFill>
                  <a:srgbClr val="4B5563"/>
                </a:solidFill>
                <a:latin typeface="Calibri"/>
              </a:rPr>
              <a:t>•  SEO (sitemap, OpenGraph)</a:t>
            </a:r>
            <a:endParaRPr/>
          </a:p>
          <a:p>
            <a:pPr algn="l">
              <a:spcAft>
                <a:spcPts val="700"/>
              </a:spcAft>
              <a:defRPr/>
            </a:pPr>
            <a:r>
              <a:rPr sz="1350" b="0">
                <a:solidFill>
                  <a:srgbClr val="4B5563"/>
                </a:solidFill>
                <a:latin typeface="Calibri"/>
              </a:rPr>
              <a:t>•  Responsive (mobile-first)</a:t>
            </a:r>
            <a:endParaRPr/>
          </a:p>
          <a:p>
            <a:pPr algn="l">
              <a:spcAft>
                <a:spcPts val="700"/>
              </a:spcAft>
              <a:defRPr/>
            </a:pPr>
            <a:r>
              <a:rPr sz="1350" b="0">
                <a:solidFill>
                  <a:srgbClr val="4B5563"/>
                </a:solidFill>
                <a:latin typeface="Calibri"/>
              </a:rPr>
              <a:t>•  Docker + CI GitHub Actions</a:t>
            </a:r>
            <a:endParaRPr/>
          </a:p>
          <a:p>
            <a:pPr algn="l">
              <a:spcAft>
                <a:spcPts val="700"/>
              </a:spcAft>
              <a:defRPr/>
            </a:pPr>
            <a:r>
              <a:rPr sz="1350" b="0">
                <a:solidFill>
                  <a:srgbClr val="4B5563"/>
                </a:solidFill>
                <a:latin typeface="Calibri"/>
              </a:rPr>
              <a:t>•  Tests automatisés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938785395"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56188270"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7697920"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Technologies utilisées</a:t>
            </a:r>
            <a:endParaRPr/>
          </a:p>
        </p:txBody>
      </p:sp>
      <p:sp>
        <p:nvSpPr>
          <p:cNvPr id="2095282642"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Stack technique</a:t>
            </a:r>
            <a:endParaRPr/>
          </a:p>
        </p:txBody>
      </p:sp>
      <p:sp>
        <p:nvSpPr>
          <p:cNvPr id="1204346877" name="Rectangle 5"/>
          <p:cNvSpPr/>
          <p:nvPr/>
        </p:nvSpPr>
        <p:spPr bwMode="auto">
          <a:xfrm>
            <a:off x="548640" y="1280160"/>
            <a:ext cx="1106424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38530273" name="TextBox 6"/>
          <p:cNvSpPr txBox="1"/>
          <p:nvPr/>
        </p:nvSpPr>
        <p:spPr bwMode="auto">
          <a:xfrm>
            <a:off x="685800" y="1280160"/>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Backend</a:t>
            </a:r>
            <a:endParaRPr/>
          </a:p>
        </p:txBody>
      </p:sp>
      <p:sp>
        <p:nvSpPr>
          <p:cNvPr id="334440026" name="TextBox 7"/>
          <p:cNvSpPr txBox="1"/>
          <p:nvPr/>
        </p:nvSpPr>
        <p:spPr bwMode="auto">
          <a:xfrm>
            <a:off x="3200400" y="1280160"/>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PHP 8.3 · Symfony 7</a:t>
            </a:r>
            <a:endParaRPr/>
          </a:p>
        </p:txBody>
      </p:sp>
      <p:sp>
        <p:nvSpPr>
          <p:cNvPr id="742282843" name="Rectangle 9"/>
          <p:cNvSpPr/>
          <p:nvPr/>
        </p:nvSpPr>
        <p:spPr bwMode="auto">
          <a:xfrm>
            <a:off x="548640" y="1901952"/>
            <a:ext cx="11064240" cy="603504"/>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4109743" name="TextBox 10"/>
          <p:cNvSpPr txBox="1"/>
          <p:nvPr/>
        </p:nvSpPr>
        <p:spPr bwMode="auto">
          <a:xfrm>
            <a:off x="685800" y="1901952"/>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Base de données</a:t>
            </a:r>
            <a:endParaRPr/>
          </a:p>
        </p:txBody>
      </p:sp>
      <p:sp>
        <p:nvSpPr>
          <p:cNvPr id="214278096" name="TextBox 11"/>
          <p:cNvSpPr txBox="1"/>
          <p:nvPr/>
        </p:nvSpPr>
        <p:spPr bwMode="auto">
          <a:xfrm>
            <a:off x="3200400" y="1901952"/>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MySQL 8 · Doctrine ORM</a:t>
            </a:r>
            <a:endParaRPr/>
          </a:p>
        </p:txBody>
      </p:sp>
      <p:sp>
        <p:nvSpPr>
          <p:cNvPr id="1942459463" name="Rectangle 13"/>
          <p:cNvSpPr/>
          <p:nvPr/>
        </p:nvSpPr>
        <p:spPr bwMode="auto">
          <a:xfrm>
            <a:off x="548640" y="2523744"/>
            <a:ext cx="1106424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69031924" name="TextBox 14"/>
          <p:cNvSpPr txBox="1"/>
          <p:nvPr/>
        </p:nvSpPr>
        <p:spPr bwMode="auto">
          <a:xfrm>
            <a:off x="685800" y="2523744"/>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Templates</a:t>
            </a:r>
            <a:endParaRPr/>
          </a:p>
        </p:txBody>
      </p:sp>
      <p:sp>
        <p:nvSpPr>
          <p:cNvPr id="143275291" name="TextBox 15"/>
          <p:cNvSpPr txBox="1"/>
          <p:nvPr/>
        </p:nvSpPr>
        <p:spPr bwMode="auto">
          <a:xfrm>
            <a:off x="3200400" y="2523744"/>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Twig</a:t>
            </a:r>
            <a:endParaRPr/>
          </a:p>
        </p:txBody>
      </p:sp>
      <p:sp>
        <p:nvSpPr>
          <p:cNvPr id="930572190" name="Rectangle 17"/>
          <p:cNvSpPr/>
          <p:nvPr/>
        </p:nvSpPr>
        <p:spPr bwMode="auto">
          <a:xfrm>
            <a:off x="548640" y="3145536"/>
            <a:ext cx="11064240" cy="603504"/>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83284049" name="TextBox 18"/>
          <p:cNvSpPr txBox="1"/>
          <p:nvPr/>
        </p:nvSpPr>
        <p:spPr bwMode="auto">
          <a:xfrm>
            <a:off x="685800" y="3145536"/>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Front / CSS</a:t>
            </a:r>
            <a:endParaRPr/>
          </a:p>
        </p:txBody>
      </p:sp>
      <p:sp>
        <p:nvSpPr>
          <p:cNvPr id="778661413" name="TextBox 19"/>
          <p:cNvSpPr txBox="1"/>
          <p:nvPr/>
        </p:nvSpPr>
        <p:spPr bwMode="auto">
          <a:xfrm>
            <a:off x="3200400" y="3145536"/>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Tailwind CSS v4 · AssetMapper</a:t>
            </a:r>
            <a:endParaRPr/>
          </a:p>
        </p:txBody>
      </p:sp>
      <p:sp>
        <p:nvSpPr>
          <p:cNvPr id="1332093972" name="Rectangle 21"/>
          <p:cNvSpPr/>
          <p:nvPr/>
        </p:nvSpPr>
        <p:spPr bwMode="auto">
          <a:xfrm>
            <a:off x="548640" y="3767328"/>
            <a:ext cx="1106424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56456705" name="TextBox 22"/>
          <p:cNvSpPr txBox="1"/>
          <p:nvPr/>
        </p:nvSpPr>
        <p:spPr bwMode="auto">
          <a:xfrm>
            <a:off x="685800" y="3767328"/>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PDF</a:t>
            </a:r>
            <a:endParaRPr/>
          </a:p>
        </p:txBody>
      </p:sp>
      <p:sp>
        <p:nvSpPr>
          <p:cNvPr id="2050881346" name="TextBox 23"/>
          <p:cNvSpPr txBox="1"/>
          <p:nvPr/>
        </p:nvSpPr>
        <p:spPr bwMode="auto">
          <a:xfrm>
            <a:off x="3200400" y="3767328"/>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dompdf</a:t>
            </a:r>
            <a:endParaRPr/>
          </a:p>
        </p:txBody>
      </p:sp>
      <p:sp>
        <p:nvSpPr>
          <p:cNvPr id="1899936580" name="Rectangle 25"/>
          <p:cNvSpPr/>
          <p:nvPr/>
        </p:nvSpPr>
        <p:spPr bwMode="auto">
          <a:xfrm>
            <a:off x="548640" y="4389120"/>
            <a:ext cx="11064240" cy="603504"/>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2876169" name="TextBox 26"/>
          <p:cNvSpPr txBox="1"/>
          <p:nvPr/>
        </p:nvSpPr>
        <p:spPr bwMode="auto">
          <a:xfrm>
            <a:off x="685800" y="4389120"/>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E-mails</a:t>
            </a:r>
            <a:endParaRPr/>
          </a:p>
        </p:txBody>
      </p:sp>
      <p:sp>
        <p:nvSpPr>
          <p:cNvPr id="1282875699" name="TextBox 27"/>
          <p:cNvSpPr txBox="1"/>
          <p:nvPr/>
        </p:nvSpPr>
        <p:spPr bwMode="auto">
          <a:xfrm>
            <a:off x="3200400" y="4389120"/>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Symfony Mailer + Mailpit</a:t>
            </a:r>
            <a:endParaRPr/>
          </a:p>
        </p:txBody>
      </p:sp>
      <p:sp>
        <p:nvSpPr>
          <p:cNvPr id="2035288889" name="Rectangle 29"/>
          <p:cNvSpPr/>
          <p:nvPr/>
        </p:nvSpPr>
        <p:spPr bwMode="auto">
          <a:xfrm>
            <a:off x="548640" y="5010912"/>
            <a:ext cx="1106424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05106618" name="TextBox 30"/>
          <p:cNvSpPr txBox="1"/>
          <p:nvPr/>
        </p:nvSpPr>
        <p:spPr bwMode="auto">
          <a:xfrm>
            <a:off x="685800" y="5010912"/>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Conteneurs</a:t>
            </a:r>
            <a:endParaRPr/>
          </a:p>
        </p:txBody>
      </p:sp>
      <p:sp>
        <p:nvSpPr>
          <p:cNvPr id="359560279" name="TextBox 31"/>
          <p:cNvSpPr txBox="1"/>
          <p:nvPr/>
        </p:nvSpPr>
        <p:spPr bwMode="auto">
          <a:xfrm>
            <a:off x="3200400" y="5010912"/>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Docker / Podman</a:t>
            </a:r>
            <a:endParaRPr/>
          </a:p>
        </p:txBody>
      </p:sp>
      <p:sp>
        <p:nvSpPr>
          <p:cNvPr id="867447357" name="Rectangle 33"/>
          <p:cNvSpPr/>
          <p:nvPr/>
        </p:nvSpPr>
        <p:spPr bwMode="auto">
          <a:xfrm>
            <a:off x="548640" y="5632704"/>
            <a:ext cx="11064240" cy="603504"/>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85950032" name="TextBox 34"/>
          <p:cNvSpPr txBox="1"/>
          <p:nvPr/>
        </p:nvSpPr>
        <p:spPr bwMode="auto">
          <a:xfrm>
            <a:off x="685800" y="5632704"/>
            <a:ext cx="2377440" cy="603504"/>
          </a:xfrm>
          <a:prstGeom prst="rect">
            <a:avLst/>
          </a:prstGeom>
          <a:noFill/>
        </p:spPr>
        <p:txBody>
          <a:bodyPr wrap="square" anchor="ctr">
            <a:spAutoFit/>
          </a:bodyPr>
          <a:lstStyle/>
          <a:p>
            <a:pPr algn="l">
              <a:spcAft>
                <a:spcPts val="600"/>
              </a:spcAft>
              <a:defRPr/>
            </a:pPr>
            <a:r>
              <a:rPr sz="1400" b="1">
                <a:solidFill>
                  <a:srgbClr val="92400E"/>
                </a:solidFill>
                <a:latin typeface="Calibri"/>
              </a:rPr>
              <a:t>Qualité</a:t>
            </a:r>
            <a:endParaRPr/>
          </a:p>
        </p:txBody>
      </p:sp>
      <p:sp>
        <p:nvSpPr>
          <p:cNvPr id="134756709" name="TextBox 35"/>
          <p:cNvSpPr txBox="1"/>
          <p:nvPr/>
        </p:nvSpPr>
        <p:spPr bwMode="auto">
          <a:xfrm>
            <a:off x="3200400" y="5632704"/>
            <a:ext cx="3108960" cy="603504"/>
          </a:xfrm>
          <a:prstGeom prst="rect">
            <a:avLst/>
          </a:prstGeom>
          <a:noFill/>
        </p:spPr>
        <p:txBody>
          <a:bodyPr wrap="square" anchor="ctr">
            <a:spAutoFit/>
          </a:bodyPr>
          <a:lstStyle/>
          <a:p>
            <a:pPr algn="l">
              <a:spcAft>
                <a:spcPts val="600"/>
              </a:spcAft>
              <a:defRPr/>
            </a:pPr>
            <a:r>
              <a:rPr sz="1400" b="1">
                <a:solidFill>
                  <a:srgbClr val="1F2937"/>
                </a:solidFill>
                <a:latin typeface="Calibri"/>
              </a:rPr>
              <a:t>PHPUnit · GitHub Actions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496438835"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53563930"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50545720"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Architecture logique — le MVC</a:t>
            </a:r>
            <a:endParaRPr/>
          </a:p>
        </p:txBody>
      </p:sp>
      <p:sp>
        <p:nvSpPr>
          <p:cNvPr id="1236709454"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Le cycle d'une requête</a:t>
            </a:r>
            <a:endParaRPr/>
          </a:p>
        </p:txBody>
      </p:sp>
      <p:sp>
        <p:nvSpPr>
          <p:cNvPr id="1534691719" name="Rectangle 5"/>
          <p:cNvSpPr/>
          <p:nvPr/>
        </p:nvSpPr>
        <p:spPr bwMode="auto">
          <a:xfrm>
            <a:off x="548640" y="1828800"/>
            <a:ext cx="2377440" cy="13716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71605646" name="TextBox 6"/>
          <p:cNvSpPr txBox="1"/>
          <p:nvPr/>
        </p:nvSpPr>
        <p:spPr bwMode="auto">
          <a:xfrm>
            <a:off x="548640" y="2139579"/>
            <a:ext cx="2379600" cy="752199"/>
          </a:xfrm>
          <a:prstGeom prst="rect">
            <a:avLst/>
          </a:prstGeom>
          <a:noFill/>
        </p:spPr>
        <p:txBody>
          <a:bodyPr wrap="square" anchor="ctr">
            <a:spAutoFit/>
          </a:bodyPr>
          <a:lstStyle/>
          <a:p>
            <a:pPr algn="ctr">
              <a:spcAft>
                <a:spcPts val="400"/>
              </a:spcAft>
              <a:defRPr/>
            </a:pPr>
            <a:r>
              <a:rPr sz="1700" b="1">
                <a:solidFill>
                  <a:srgbClr val="FFFFFF"/>
                </a:solidFill>
                <a:latin typeface="Calibri"/>
              </a:rPr>
              <a:t>ROUT</a:t>
            </a:r>
            <a:r>
              <a:rPr lang="fr-FR" sz="1700" b="1">
                <a:solidFill>
                  <a:srgbClr val="FFFFFF"/>
                </a:solidFill>
                <a:latin typeface="Calibri"/>
              </a:rPr>
              <a:t>AGE</a:t>
            </a:r>
            <a:endParaRPr/>
          </a:p>
          <a:p>
            <a:pPr algn="ctr">
              <a:spcAft>
                <a:spcPts val="400"/>
              </a:spcAft>
              <a:defRPr/>
            </a:pPr>
            <a:r>
              <a:rPr sz="1150" b="0">
                <a:solidFill>
                  <a:srgbClr val="FFFFFF"/>
                </a:solidFill>
                <a:latin typeface="Calibri"/>
              </a:rPr>
              <a:t>URL → contrôleur</a:t>
            </a:r>
            <a:br>
              <a:rPr sz="1150" b="0">
                <a:solidFill>
                  <a:srgbClr val="FFFFFF"/>
                </a:solidFill>
                <a:latin typeface="Calibri"/>
              </a:rPr>
            </a:br>
            <a:r>
              <a:rPr sz="1150" b="0">
                <a:solidFill>
                  <a:srgbClr val="FFFFFF"/>
                </a:solidFill>
                <a:latin typeface="Calibri"/>
              </a:rPr>
              <a:t>#[Route(...)]</a:t>
            </a:r>
            <a:endParaRPr/>
          </a:p>
        </p:txBody>
      </p:sp>
      <p:sp>
        <p:nvSpPr>
          <p:cNvPr id="486009023" name="Rectangle 7"/>
          <p:cNvSpPr/>
          <p:nvPr/>
        </p:nvSpPr>
        <p:spPr bwMode="auto">
          <a:xfrm>
            <a:off x="3200400" y="1828800"/>
            <a:ext cx="2377440" cy="13716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06973220" name="TextBox 8"/>
          <p:cNvSpPr txBox="1"/>
          <p:nvPr/>
        </p:nvSpPr>
        <p:spPr bwMode="auto">
          <a:xfrm>
            <a:off x="3200400" y="1965960"/>
            <a:ext cx="2377440" cy="1097280"/>
          </a:xfrm>
          <a:prstGeom prst="rect">
            <a:avLst/>
          </a:prstGeom>
          <a:noFill/>
        </p:spPr>
        <p:txBody>
          <a:bodyPr wrap="square" anchor="ctr">
            <a:spAutoFit/>
          </a:bodyPr>
          <a:lstStyle/>
          <a:p>
            <a:pPr algn="ctr">
              <a:spcAft>
                <a:spcPts val="400"/>
              </a:spcAft>
              <a:defRPr/>
            </a:pPr>
            <a:r>
              <a:rPr sz="1700" b="1">
                <a:solidFill>
                  <a:srgbClr val="FFFFFF"/>
                </a:solidFill>
                <a:latin typeface="Calibri"/>
              </a:rPr>
              <a:t>CONTRÔLEUR</a:t>
            </a:r>
            <a:endParaRPr/>
          </a:p>
          <a:p>
            <a:pPr algn="ctr">
              <a:spcAft>
                <a:spcPts val="400"/>
              </a:spcAft>
              <a:defRPr/>
            </a:pPr>
            <a:r>
              <a:rPr sz="1150" b="0">
                <a:solidFill>
                  <a:srgbClr val="FFFFFF"/>
                </a:solidFill>
                <a:latin typeface="Calibri"/>
              </a:rPr>
              <a:t>orchestre la requête</a:t>
            </a:r>
            <a:endParaRPr/>
          </a:p>
        </p:txBody>
      </p:sp>
      <p:sp>
        <p:nvSpPr>
          <p:cNvPr id="1442276434" name="Rectangle 9"/>
          <p:cNvSpPr/>
          <p:nvPr/>
        </p:nvSpPr>
        <p:spPr bwMode="auto">
          <a:xfrm>
            <a:off x="5852160" y="1828800"/>
            <a:ext cx="2377440" cy="13716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80429842" name="TextBox 10"/>
          <p:cNvSpPr txBox="1"/>
          <p:nvPr/>
        </p:nvSpPr>
        <p:spPr bwMode="auto">
          <a:xfrm>
            <a:off x="5852160" y="1965960"/>
            <a:ext cx="2377440" cy="1097280"/>
          </a:xfrm>
          <a:prstGeom prst="rect">
            <a:avLst/>
          </a:prstGeom>
          <a:noFill/>
        </p:spPr>
        <p:txBody>
          <a:bodyPr wrap="square" anchor="ctr">
            <a:spAutoFit/>
          </a:bodyPr>
          <a:lstStyle/>
          <a:p>
            <a:pPr algn="ctr">
              <a:spcAft>
                <a:spcPts val="400"/>
              </a:spcAft>
              <a:defRPr/>
            </a:pPr>
            <a:r>
              <a:rPr sz="1700" b="1">
                <a:solidFill>
                  <a:srgbClr val="FFFFFF"/>
                </a:solidFill>
                <a:latin typeface="Calibri"/>
              </a:rPr>
              <a:t>MODÈLE</a:t>
            </a:r>
            <a:endParaRPr/>
          </a:p>
          <a:p>
            <a:pPr algn="ctr">
              <a:spcAft>
                <a:spcPts val="400"/>
              </a:spcAft>
              <a:defRPr/>
            </a:pPr>
            <a:r>
              <a:rPr sz="1150" b="0">
                <a:solidFill>
                  <a:srgbClr val="FFFFFF"/>
                </a:solidFill>
                <a:latin typeface="Calibri"/>
              </a:rPr>
              <a:t>Entités + Repositories</a:t>
            </a:r>
            <a:br>
              <a:rPr sz="1150" b="0">
                <a:solidFill>
                  <a:srgbClr val="FFFFFF"/>
                </a:solidFill>
                <a:latin typeface="Calibri"/>
              </a:rPr>
            </a:br>
            <a:r>
              <a:rPr sz="1150" b="0">
                <a:solidFill>
                  <a:srgbClr val="FFFFFF"/>
                </a:solidFill>
                <a:latin typeface="Calibri"/>
              </a:rPr>
              <a:t>(Doctrine)</a:t>
            </a:r>
            <a:endParaRPr/>
          </a:p>
        </p:txBody>
      </p:sp>
      <p:sp>
        <p:nvSpPr>
          <p:cNvPr id="1148791229" name="Rectangle 11"/>
          <p:cNvSpPr/>
          <p:nvPr/>
        </p:nvSpPr>
        <p:spPr bwMode="auto">
          <a:xfrm>
            <a:off x="8503920" y="1828800"/>
            <a:ext cx="3108960" cy="1371600"/>
          </a:xfrm>
          <a:prstGeom prst="rect">
            <a:avLst/>
          </a:prstGeom>
          <a:solidFill>
            <a:srgbClr val="16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41777172" name="TextBox 12"/>
          <p:cNvSpPr txBox="1"/>
          <p:nvPr/>
        </p:nvSpPr>
        <p:spPr bwMode="auto">
          <a:xfrm>
            <a:off x="8503920" y="1965960"/>
            <a:ext cx="3108960" cy="1097280"/>
          </a:xfrm>
          <a:prstGeom prst="rect">
            <a:avLst/>
          </a:prstGeom>
          <a:noFill/>
        </p:spPr>
        <p:txBody>
          <a:bodyPr wrap="square" anchor="ctr">
            <a:spAutoFit/>
          </a:bodyPr>
          <a:lstStyle/>
          <a:p>
            <a:pPr algn="ctr">
              <a:spcAft>
                <a:spcPts val="400"/>
              </a:spcAft>
              <a:defRPr/>
            </a:pPr>
            <a:r>
              <a:rPr sz="1700" b="1">
                <a:solidFill>
                  <a:srgbClr val="FFFFFF"/>
                </a:solidFill>
                <a:latin typeface="Calibri"/>
              </a:rPr>
              <a:t>VUE (Twig)</a:t>
            </a:r>
            <a:endParaRPr/>
          </a:p>
          <a:p>
            <a:pPr algn="ctr">
              <a:spcAft>
                <a:spcPts val="400"/>
              </a:spcAft>
              <a:defRPr/>
            </a:pPr>
            <a:r>
              <a:rPr sz="1150" b="0">
                <a:solidFill>
                  <a:srgbClr val="FFFFFF"/>
                </a:solidFill>
                <a:latin typeface="Calibri"/>
              </a:rPr>
              <a:t>génère le HTML</a:t>
            </a:r>
            <a:endParaRPr/>
          </a:p>
        </p:txBody>
      </p:sp>
      <p:sp>
        <p:nvSpPr>
          <p:cNvPr id="216938892" name="Right Arrow 13"/>
          <p:cNvSpPr/>
          <p:nvPr/>
        </p:nvSpPr>
        <p:spPr bwMode="auto">
          <a:xfrm>
            <a:off x="2971800" y="2331720"/>
            <a:ext cx="274320" cy="365760"/>
          </a:xfrm>
          <a:prstGeom prst="rightArrow">
            <a:avLst>
              <a:gd name="adj1" fmla="val 50000"/>
              <a:gd name="adj2" fmla="val 50000"/>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8141884" name="Right Arrow 14"/>
          <p:cNvSpPr/>
          <p:nvPr/>
        </p:nvSpPr>
        <p:spPr bwMode="auto">
          <a:xfrm>
            <a:off x="5623560" y="2331720"/>
            <a:ext cx="274320" cy="365760"/>
          </a:xfrm>
          <a:prstGeom prst="rightArrow">
            <a:avLst>
              <a:gd name="adj1" fmla="val 50000"/>
              <a:gd name="adj2" fmla="val 50000"/>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16050970" name="Right Arrow 15"/>
          <p:cNvSpPr/>
          <p:nvPr/>
        </p:nvSpPr>
        <p:spPr bwMode="auto">
          <a:xfrm>
            <a:off x="8275320" y="2331720"/>
            <a:ext cx="274320" cy="365760"/>
          </a:xfrm>
          <a:prstGeom prst="rightArrow">
            <a:avLst>
              <a:gd name="adj1" fmla="val 50000"/>
              <a:gd name="adj2" fmla="val 50000"/>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98850720" name="TextBox 16"/>
          <p:cNvSpPr txBox="1"/>
          <p:nvPr/>
        </p:nvSpPr>
        <p:spPr bwMode="auto">
          <a:xfrm>
            <a:off x="548640" y="4023360"/>
            <a:ext cx="10972800" cy="2011680"/>
          </a:xfrm>
          <a:prstGeom prst="rect">
            <a:avLst/>
          </a:prstGeom>
          <a:noFill/>
        </p:spPr>
        <p:txBody>
          <a:bodyPr wrap="square" anchor="t">
            <a:spAutoFit/>
          </a:bodyPr>
          <a:lstStyle/>
          <a:p>
            <a:pPr algn="l">
              <a:spcAft>
                <a:spcPts val="700"/>
              </a:spcAft>
              <a:defRPr/>
            </a:pPr>
            <a:r>
              <a:rPr sz="1700" b="1">
                <a:solidFill>
                  <a:srgbClr val="92400E"/>
                </a:solidFill>
                <a:latin typeface="Calibri"/>
              </a:rPr>
              <a:t>Exemple concret : /nos-miels</a:t>
            </a:r>
            <a:endParaRPr/>
          </a:p>
          <a:p>
            <a:pPr algn="l">
              <a:spcAft>
                <a:spcPts val="700"/>
              </a:spcAft>
              <a:defRPr/>
            </a:pPr>
            <a:r>
              <a:rPr sz="1500" b="0">
                <a:solidFill>
                  <a:srgbClr val="4B5563"/>
                </a:solidFill>
                <a:latin typeface="Calibri"/>
              </a:rPr>
              <a:t>•  Le routing trouve ShopController::index()</a:t>
            </a:r>
            <a:endParaRPr/>
          </a:p>
          <a:p>
            <a:pPr algn="l">
              <a:spcAft>
                <a:spcPts val="700"/>
              </a:spcAft>
              <a:defRPr/>
            </a:pPr>
            <a:r>
              <a:rPr sz="1500" b="0">
                <a:solidFill>
                  <a:srgbClr val="4B5563"/>
                </a:solidFill>
                <a:latin typeface="Calibri"/>
              </a:rPr>
              <a:t>•  Le contrôleur demande les produits au ProductRepository</a:t>
            </a:r>
            <a:endParaRPr/>
          </a:p>
          <a:p>
            <a:pPr algn="l">
              <a:spcAft>
                <a:spcPts val="700"/>
              </a:spcAft>
              <a:defRPr/>
            </a:pPr>
            <a:r>
              <a:rPr sz="1500" b="0">
                <a:solidFill>
                  <a:srgbClr val="4B5563"/>
                </a:solidFill>
                <a:latin typeface="Calibri"/>
              </a:rPr>
              <a:t>•  Doctrine traduit en SQL et renvoie des objets Product</a:t>
            </a:r>
            <a:endParaRPr/>
          </a:p>
          <a:p>
            <a:pPr algn="l">
              <a:spcAft>
                <a:spcPts val="700"/>
              </a:spcAft>
              <a:defRPr/>
            </a:pPr>
            <a:r>
              <a:rPr sz="1500" b="0">
                <a:solidFill>
                  <a:srgbClr val="4B5563"/>
                </a:solidFill>
                <a:latin typeface="Calibri"/>
              </a:rPr>
              <a:t>•  Le contrôleur passe ces objets au template shop/index.html.twig</a:t>
            </a:r>
            <a:endParaRPr/>
          </a:p>
          <a:p>
            <a:pPr algn="l">
              <a:spcAft>
                <a:spcPts val="700"/>
              </a:spcAft>
              <a:defRPr/>
            </a:pPr>
            <a:r>
              <a:rPr sz="1500" b="0">
                <a:solidFill>
                  <a:srgbClr val="4B5563"/>
                </a:solidFill>
                <a:latin typeface="Calibri"/>
              </a:rPr>
              <a:t>•  Twig génère le HTML envoyé au navigateur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2079907303"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97867569"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3084778"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Architecture physique — conteneurs</a:t>
            </a:r>
            <a:endParaRPr/>
          </a:p>
        </p:txBody>
      </p:sp>
      <p:sp>
        <p:nvSpPr>
          <p:cNvPr id="1500369742"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Docker / Podman</a:t>
            </a:r>
            <a:endParaRPr/>
          </a:p>
        </p:txBody>
      </p:sp>
      <p:sp>
        <p:nvSpPr>
          <p:cNvPr id="940033375" name="Rectangle 5"/>
          <p:cNvSpPr/>
          <p:nvPr/>
        </p:nvSpPr>
        <p:spPr bwMode="auto">
          <a:xfrm>
            <a:off x="548640" y="1371600"/>
            <a:ext cx="11064240" cy="493776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76080192" name="TextBox 6"/>
          <p:cNvSpPr txBox="1"/>
          <p:nvPr/>
        </p:nvSpPr>
        <p:spPr bwMode="auto">
          <a:xfrm>
            <a:off x="731520" y="1481328"/>
            <a:ext cx="5486400" cy="365760"/>
          </a:xfrm>
          <a:prstGeom prst="rect">
            <a:avLst/>
          </a:prstGeom>
          <a:noFill/>
        </p:spPr>
        <p:txBody>
          <a:bodyPr wrap="square" anchor="t">
            <a:spAutoFit/>
          </a:bodyPr>
          <a:lstStyle/>
          <a:p>
            <a:pPr algn="l">
              <a:spcAft>
                <a:spcPts val="600"/>
              </a:spcAft>
              <a:defRPr/>
            </a:pPr>
            <a:r>
              <a:rPr sz="1400" b="1">
                <a:solidFill>
                  <a:srgbClr val="4B5563"/>
                </a:solidFill>
                <a:latin typeface="Calibri"/>
              </a:rPr>
              <a:t>Navigateur  →  port 8000</a:t>
            </a:r>
            <a:endParaRPr/>
          </a:p>
        </p:txBody>
      </p:sp>
      <p:sp>
        <p:nvSpPr>
          <p:cNvPr id="1160918697" name="Rectangle 7"/>
          <p:cNvSpPr/>
          <p:nvPr/>
        </p:nvSpPr>
        <p:spPr bwMode="auto">
          <a:xfrm>
            <a:off x="914400" y="2011680"/>
            <a:ext cx="2743200" cy="100584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4805988" name="TextBox 8"/>
          <p:cNvSpPr txBox="1"/>
          <p:nvPr/>
        </p:nvSpPr>
        <p:spPr bwMode="auto">
          <a:xfrm>
            <a:off x="914400" y="2084832"/>
            <a:ext cx="2743200" cy="914400"/>
          </a:xfrm>
          <a:prstGeom prst="rect">
            <a:avLst/>
          </a:prstGeom>
          <a:noFill/>
        </p:spPr>
        <p:txBody>
          <a:bodyPr wrap="square" anchor="ctr">
            <a:spAutoFit/>
          </a:bodyPr>
          <a:lstStyle/>
          <a:p>
            <a:pPr algn="ctr">
              <a:spcAft>
                <a:spcPts val="300"/>
              </a:spcAft>
              <a:defRPr/>
            </a:pPr>
            <a:r>
              <a:rPr sz="1500" b="1">
                <a:solidFill>
                  <a:srgbClr val="FFFFFF"/>
                </a:solidFill>
                <a:latin typeface="Calibri"/>
              </a:rPr>
              <a:t>NGINX</a:t>
            </a:r>
            <a:endParaRPr/>
          </a:p>
          <a:p>
            <a:pPr algn="ctr">
              <a:spcAft>
                <a:spcPts val="300"/>
              </a:spcAft>
              <a:defRPr/>
            </a:pPr>
            <a:r>
              <a:rPr sz="1100" b="0">
                <a:solidFill>
                  <a:srgbClr val="FFFFFF"/>
                </a:solidFill>
                <a:latin typeface="Calibri"/>
              </a:rPr>
              <a:t>serveur web :80→8000</a:t>
            </a:r>
            <a:endParaRPr/>
          </a:p>
        </p:txBody>
      </p:sp>
      <p:sp>
        <p:nvSpPr>
          <p:cNvPr id="295704486" name="Rectangle 9"/>
          <p:cNvSpPr/>
          <p:nvPr/>
        </p:nvSpPr>
        <p:spPr bwMode="auto">
          <a:xfrm>
            <a:off x="4572000" y="2011680"/>
            <a:ext cx="2743200" cy="10058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0615476" name="TextBox 10"/>
          <p:cNvSpPr txBox="1"/>
          <p:nvPr/>
        </p:nvSpPr>
        <p:spPr bwMode="auto">
          <a:xfrm>
            <a:off x="4572000" y="2084832"/>
            <a:ext cx="2743200" cy="914400"/>
          </a:xfrm>
          <a:prstGeom prst="rect">
            <a:avLst/>
          </a:prstGeom>
          <a:noFill/>
        </p:spPr>
        <p:txBody>
          <a:bodyPr wrap="square" anchor="ctr">
            <a:spAutoFit/>
          </a:bodyPr>
          <a:lstStyle/>
          <a:p>
            <a:pPr algn="ctr">
              <a:spcAft>
                <a:spcPts val="300"/>
              </a:spcAft>
              <a:defRPr/>
            </a:pPr>
            <a:r>
              <a:rPr sz="1500" b="1">
                <a:solidFill>
                  <a:srgbClr val="FFFFFF"/>
                </a:solidFill>
                <a:latin typeface="Calibri"/>
              </a:rPr>
              <a:t>PHP-FPM</a:t>
            </a:r>
            <a:endParaRPr/>
          </a:p>
          <a:p>
            <a:pPr algn="ctr">
              <a:spcAft>
                <a:spcPts val="300"/>
              </a:spcAft>
              <a:defRPr/>
            </a:pPr>
            <a:r>
              <a:rPr sz="1100" b="0">
                <a:solidFill>
                  <a:srgbClr val="FFFFFF"/>
                </a:solidFill>
                <a:latin typeface="Calibri"/>
              </a:rPr>
              <a:t>exécute Symfony</a:t>
            </a:r>
            <a:endParaRPr/>
          </a:p>
        </p:txBody>
      </p:sp>
      <p:sp>
        <p:nvSpPr>
          <p:cNvPr id="1388157794" name="Rectangle 11"/>
          <p:cNvSpPr/>
          <p:nvPr/>
        </p:nvSpPr>
        <p:spPr bwMode="auto">
          <a:xfrm>
            <a:off x="8229600" y="2011680"/>
            <a:ext cx="2926080" cy="100584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27915420" name="TextBox 12"/>
          <p:cNvSpPr txBox="1"/>
          <p:nvPr/>
        </p:nvSpPr>
        <p:spPr bwMode="auto">
          <a:xfrm>
            <a:off x="8229600" y="2084832"/>
            <a:ext cx="2926080" cy="914400"/>
          </a:xfrm>
          <a:prstGeom prst="rect">
            <a:avLst/>
          </a:prstGeom>
          <a:noFill/>
        </p:spPr>
        <p:txBody>
          <a:bodyPr wrap="square" anchor="ctr">
            <a:spAutoFit/>
          </a:bodyPr>
          <a:lstStyle/>
          <a:p>
            <a:pPr algn="ctr">
              <a:spcAft>
                <a:spcPts val="300"/>
              </a:spcAft>
              <a:defRPr/>
            </a:pPr>
            <a:r>
              <a:rPr sz="1500" b="1">
                <a:solidFill>
                  <a:srgbClr val="FFFFFF"/>
                </a:solidFill>
                <a:latin typeface="Calibri"/>
              </a:rPr>
              <a:t>MySQL</a:t>
            </a:r>
            <a:endParaRPr/>
          </a:p>
          <a:p>
            <a:pPr algn="ctr">
              <a:spcAft>
                <a:spcPts val="300"/>
              </a:spcAft>
              <a:defRPr/>
            </a:pPr>
            <a:r>
              <a:rPr sz="1100" b="0">
                <a:solidFill>
                  <a:srgbClr val="FFFFFF"/>
                </a:solidFill>
                <a:latin typeface="Calibri"/>
              </a:rPr>
              <a:t>base de données :3306</a:t>
            </a:r>
            <a:endParaRPr/>
          </a:p>
        </p:txBody>
      </p:sp>
      <p:sp>
        <p:nvSpPr>
          <p:cNvPr id="604393192" name="Rectangle 13"/>
          <p:cNvSpPr/>
          <p:nvPr/>
        </p:nvSpPr>
        <p:spPr bwMode="auto">
          <a:xfrm>
            <a:off x="914400" y="3840480"/>
            <a:ext cx="2743200" cy="1005840"/>
          </a:xfrm>
          <a:prstGeom prst="rect">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90089316" name="TextBox 14"/>
          <p:cNvSpPr txBox="1"/>
          <p:nvPr/>
        </p:nvSpPr>
        <p:spPr bwMode="auto">
          <a:xfrm>
            <a:off x="914400" y="3913632"/>
            <a:ext cx="2743200" cy="914400"/>
          </a:xfrm>
          <a:prstGeom prst="rect">
            <a:avLst/>
          </a:prstGeom>
          <a:noFill/>
        </p:spPr>
        <p:txBody>
          <a:bodyPr wrap="square" anchor="ctr">
            <a:spAutoFit/>
          </a:bodyPr>
          <a:lstStyle/>
          <a:p>
            <a:pPr algn="ctr">
              <a:spcAft>
                <a:spcPts val="300"/>
              </a:spcAft>
              <a:defRPr/>
            </a:pPr>
            <a:r>
              <a:rPr sz="1500" b="1">
                <a:solidFill>
                  <a:srgbClr val="FFFFFF"/>
                </a:solidFill>
                <a:latin typeface="Calibri"/>
              </a:rPr>
              <a:t>phpMyAdmin</a:t>
            </a:r>
            <a:endParaRPr/>
          </a:p>
          <a:p>
            <a:pPr algn="ctr">
              <a:spcAft>
                <a:spcPts val="300"/>
              </a:spcAft>
              <a:defRPr/>
            </a:pPr>
            <a:r>
              <a:rPr sz="1100" b="0">
                <a:solidFill>
                  <a:srgbClr val="FFFFFF"/>
                </a:solidFill>
                <a:latin typeface="Calibri"/>
              </a:rPr>
              <a:t>admin BDD :8081</a:t>
            </a:r>
            <a:endParaRPr/>
          </a:p>
        </p:txBody>
      </p:sp>
      <p:sp>
        <p:nvSpPr>
          <p:cNvPr id="1200515790" name="Rectangle 15"/>
          <p:cNvSpPr/>
          <p:nvPr/>
        </p:nvSpPr>
        <p:spPr bwMode="auto">
          <a:xfrm>
            <a:off x="4572000" y="3840480"/>
            <a:ext cx="2743200" cy="1005840"/>
          </a:xfrm>
          <a:prstGeom prst="rect">
            <a:avLst/>
          </a:prstGeom>
          <a:solidFill>
            <a:srgbClr val="16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69696670" name="TextBox 16"/>
          <p:cNvSpPr txBox="1"/>
          <p:nvPr/>
        </p:nvSpPr>
        <p:spPr bwMode="auto">
          <a:xfrm>
            <a:off x="4572000" y="3913632"/>
            <a:ext cx="2743200" cy="914400"/>
          </a:xfrm>
          <a:prstGeom prst="rect">
            <a:avLst/>
          </a:prstGeom>
          <a:noFill/>
        </p:spPr>
        <p:txBody>
          <a:bodyPr wrap="square" anchor="ctr">
            <a:spAutoFit/>
          </a:bodyPr>
          <a:lstStyle/>
          <a:p>
            <a:pPr algn="ctr">
              <a:spcAft>
                <a:spcPts val="300"/>
              </a:spcAft>
              <a:defRPr/>
            </a:pPr>
            <a:r>
              <a:rPr sz="1500" b="1">
                <a:solidFill>
                  <a:srgbClr val="FFFFFF"/>
                </a:solidFill>
                <a:latin typeface="Calibri"/>
              </a:rPr>
              <a:t>Mailpit</a:t>
            </a:r>
            <a:endParaRPr/>
          </a:p>
          <a:p>
            <a:pPr algn="ctr">
              <a:spcAft>
                <a:spcPts val="300"/>
              </a:spcAft>
              <a:defRPr/>
            </a:pPr>
            <a:r>
              <a:rPr sz="1100" b="0">
                <a:solidFill>
                  <a:srgbClr val="FFFFFF"/>
                </a:solidFill>
                <a:latin typeface="Calibri"/>
              </a:rPr>
              <a:t>boîte mail test :8025</a:t>
            </a:r>
            <a:endParaRPr/>
          </a:p>
        </p:txBody>
      </p:sp>
      <p:sp>
        <p:nvSpPr>
          <p:cNvPr id="771708218" name="Rectangle 17"/>
          <p:cNvSpPr/>
          <p:nvPr/>
        </p:nvSpPr>
        <p:spPr bwMode="auto">
          <a:xfrm>
            <a:off x="8229600" y="3840480"/>
            <a:ext cx="2926080" cy="1005840"/>
          </a:xfrm>
          <a:prstGeom prst="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90075189" name="TextBox 18"/>
          <p:cNvSpPr txBox="1"/>
          <p:nvPr/>
        </p:nvSpPr>
        <p:spPr bwMode="auto">
          <a:xfrm>
            <a:off x="8229600" y="3931920"/>
            <a:ext cx="2926080" cy="868680"/>
          </a:xfrm>
          <a:prstGeom prst="rect">
            <a:avLst/>
          </a:prstGeom>
          <a:noFill/>
        </p:spPr>
        <p:txBody>
          <a:bodyPr wrap="square" anchor="ctr">
            <a:spAutoFit/>
          </a:bodyPr>
          <a:lstStyle/>
          <a:p>
            <a:pPr algn="ctr">
              <a:spcAft>
                <a:spcPts val="300"/>
              </a:spcAft>
              <a:defRPr/>
            </a:pPr>
            <a:r>
              <a:rPr sz="1300" b="1">
                <a:solidFill>
                  <a:srgbClr val="92400E"/>
                </a:solidFill>
                <a:latin typeface="Calibri"/>
              </a:rPr>
              <a:t>Volume mysql_data</a:t>
            </a:r>
            <a:endParaRPr/>
          </a:p>
          <a:p>
            <a:pPr algn="ctr">
              <a:spcAft>
                <a:spcPts val="300"/>
              </a:spcAft>
              <a:defRPr/>
            </a:pPr>
            <a:r>
              <a:rPr sz="1100" b="0">
                <a:solidFill>
                  <a:srgbClr val="4B5563"/>
                </a:solidFill>
                <a:latin typeface="Calibri"/>
              </a:rPr>
              <a:t>persistance des données</a:t>
            </a:r>
            <a:endParaRPr/>
          </a:p>
        </p:txBody>
      </p:sp>
      <p:sp>
        <p:nvSpPr>
          <p:cNvPr id="808443181" name="TextBox 19"/>
          <p:cNvSpPr txBox="1"/>
          <p:nvPr/>
        </p:nvSpPr>
        <p:spPr bwMode="auto">
          <a:xfrm>
            <a:off x="914400" y="5212080"/>
            <a:ext cx="10058759" cy="297539"/>
          </a:xfrm>
          <a:prstGeom prst="rect">
            <a:avLst/>
          </a:prstGeom>
          <a:noFill/>
        </p:spPr>
        <p:txBody>
          <a:bodyPr wrap="square" anchor="t">
            <a:spAutoFit/>
          </a:bodyPr>
          <a:lstStyle/>
          <a:p>
            <a:pPr algn="l">
              <a:spcAft>
                <a:spcPts val="600"/>
              </a:spcAft>
              <a:defRPr/>
            </a:pPr>
            <a:r>
              <a:rPr sz="1350" b="0">
                <a:solidFill>
                  <a:srgbClr val="4B5563"/>
                </a:solidFill>
                <a:latin typeface="Calibri"/>
              </a:rPr>
              <a:t>Un Dockerfile custom construit l'image PHP 8.3 (extensions + Node pour Tailwind).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F2937"/>
        </a:solidFill>
      </p:bgPr>
    </p:bg>
    <p:spTree>
      <p:nvGrpSpPr>
        <p:cNvPr id="1" name=""/>
        <p:cNvGrpSpPr/>
        <p:nvPr/>
      </p:nvGrpSpPr>
      <p:grpSpPr bwMode="auto">
        <a:xfrm>
          <a:off x="0" y="0"/>
          <a:ext cx="0" cy="0"/>
          <a:chOff x="0" y="0"/>
          <a:chExt cx="0" cy="0"/>
        </a:xfrm>
      </p:grpSpPr>
      <p:sp>
        <p:nvSpPr>
          <p:cNvPr id="1598693691" name="Rectangle 1"/>
          <p:cNvSpPr/>
          <p:nvPr/>
        </p:nvSpPr>
        <p:spPr bwMode="auto">
          <a:xfrm>
            <a:off x="0" y="2743200"/>
            <a:ext cx="12191695" cy="13716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6379393" name="TextBox 2"/>
          <p:cNvSpPr txBox="1"/>
          <p:nvPr/>
        </p:nvSpPr>
        <p:spPr bwMode="auto">
          <a:xfrm>
            <a:off x="914400" y="2834640"/>
            <a:ext cx="10332720" cy="1188720"/>
          </a:xfrm>
          <a:prstGeom prst="rect">
            <a:avLst/>
          </a:prstGeom>
          <a:noFill/>
        </p:spPr>
        <p:txBody>
          <a:bodyPr wrap="square" anchor="ctr">
            <a:spAutoFit/>
          </a:bodyPr>
          <a:lstStyle/>
          <a:p>
            <a:pPr algn="ctr">
              <a:spcAft>
                <a:spcPts val="600"/>
              </a:spcAft>
              <a:defRPr/>
            </a:pPr>
            <a:r>
              <a:rPr sz="3400" b="1">
                <a:solidFill>
                  <a:srgbClr val="FFFFFF"/>
                </a:solidFill>
                <a:latin typeface="Calibri"/>
              </a:rPr>
              <a:t>Démonstration des fonctionnalités</a:t>
            </a:r>
            <a:endParaRPr/>
          </a:p>
        </p:txBody>
      </p:sp>
      <p:sp>
        <p:nvSpPr>
          <p:cNvPr id="102251165" name="TextBox 3"/>
          <p:cNvSpPr txBox="1"/>
          <p:nvPr/>
        </p:nvSpPr>
        <p:spPr bwMode="auto">
          <a:xfrm>
            <a:off x="914400" y="4297680"/>
            <a:ext cx="10332720" cy="548640"/>
          </a:xfrm>
          <a:prstGeom prst="rect">
            <a:avLst/>
          </a:prstGeom>
          <a:noFill/>
        </p:spPr>
        <p:txBody>
          <a:bodyPr wrap="square" anchor="t">
            <a:spAutoFit/>
          </a:bodyPr>
          <a:lstStyle/>
          <a:p>
            <a:pPr algn="ctr">
              <a:spcAft>
                <a:spcPts val="600"/>
              </a:spcAft>
              <a:defRPr/>
            </a:pPr>
            <a:r>
              <a:rPr sz="1800" b="0">
                <a:solidFill>
                  <a:srgbClr val="FFFBEB"/>
                </a:solidFill>
                <a:latin typeface="Calibri"/>
              </a:rPr>
              <a:t>≈ 10 minutes — je montre le site en direct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491840771"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39839424"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6908455"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Authentification &amp; rôles</a:t>
            </a:r>
            <a:endParaRPr/>
          </a:p>
        </p:txBody>
      </p:sp>
      <p:sp>
        <p:nvSpPr>
          <p:cNvPr id="485741039"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Codée à la main — sans librairie</a:t>
            </a:r>
            <a:endParaRPr/>
          </a:p>
        </p:txBody>
      </p:sp>
      <p:sp>
        <p:nvSpPr>
          <p:cNvPr id="878772885" name="TextBox 5"/>
          <p:cNvSpPr txBox="1"/>
          <p:nvPr/>
        </p:nvSpPr>
        <p:spPr bwMode="auto">
          <a:xfrm>
            <a:off x="566927" y="1417319"/>
            <a:ext cx="7681320" cy="2377800"/>
          </a:xfrm>
          <a:prstGeom prst="rect">
            <a:avLst/>
          </a:prstGeom>
          <a:noFill/>
        </p:spPr>
        <p:txBody>
          <a:bodyPr wrap="square" anchor="t">
            <a:spAutoFit/>
          </a:bodyPr>
          <a:lstStyle/>
          <a:p>
            <a:pPr algn="l">
              <a:spcAft>
                <a:spcPts val="900"/>
              </a:spcAft>
              <a:defRPr/>
            </a:pPr>
            <a:r>
              <a:rPr sz="1500" b="0">
                <a:solidFill>
                  <a:srgbClr val="4B5563"/>
                </a:solidFill>
                <a:latin typeface="Calibri"/>
              </a:rPr>
              <a:t>•  Inscription : validation des champs, hash du mot de passe (argon2/bcrypt)</a:t>
            </a:r>
            <a:endParaRPr/>
          </a:p>
          <a:p>
            <a:pPr algn="l">
              <a:spcAft>
                <a:spcPts val="900"/>
              </a:spcAft>
              <a:defRPr/>
            </a:pPr>
            <a:r>
              <a:rPr sz="1500" b="0">
                <a:solidFill>
                  <a:srgbClr val="4B5563"/>
                </a:solidFill>
                <a:latin typeface="Calibri"/>
              </a:rPr>
              <a:t>•  Connexion : firewall Symfony form_login, jeton CSRF</a:t>
            </a:r>
            <a:endParaRPr/>
          </a:p>
          <a:p>
            <a:pPr algn="l">
              <a:spcAft>
                <a:spcPts val="900"/>
              </a:spcAft>
              <a:defRPr/>
            </a:pPr>
            <a:r>
              <a:rPr sz="1500" b="0">
                <a:solidFill>
                  <a:srgbClr val="4B5563"/>
                </a:solidFill>
                <a:latin typeface="Calibri"/>
              </a:rPr>
              <a:t>•  Déconnexion gérée par le firewall</a:t>
            </a:r>
            <a:endParaRPr/>
          </a:p>
          <a:p>
            <a:pPr algn="l">
              <a:spcAft>
                <a:spcPts val="900"/>
              </a:spcAft>
              <a:defRPr/>
            </a:pPr>
            <a:r>
              <a:rPr sz="1500" b="0">
                <a:solidFill>
                  <a:srgbClr val="4B5563"/>
                </a:solidFill>
                <a:latin typeface="Calibri"/>
              </a:rPr>
              <a:t>•  Confirmation : e-mail de bienvenue à l'inscription</a:t>
            </a:r>
            <a:endParaRPr/>
          </a:p>
          <a:p>
            <a:pPr algn="l">
              <a:spcAft>
                <a:spcPts val="900"/>
              </a:spcAft>
              <a:defRPr/>
            </a:pPr>
            <a:r>
              <a:rPr sz="1500" b="0">
                <a:solidFill>
                  <a:srgbClr val="4B5563"/>
                </a:solidFill>
                <a:latin typeface="Calibri"/>
              </a:rPr>
              <a:t>•  Mot de passe oublié : lien à usage unique, token hashé (SHA-256), valable 1h</a:t>
            </a:r>
            <a:endParaRPr/>
          </a:p>
          <a:p>
            <a:pPr algn="l">
              <a:spcAft>
                <a:spcPts val="900"/>
              </a:spcAft>
              <a:defRPr/>
            </a:pPr>
            <a:r>
              <a:rPr sz="1500" b="0">
                <a:solidFill>
                  <a:srgbClr val="4B5563"/>
                </a:solidFill>
                <a:latin typeface="Calibri"/>
              </a:rPr>
              <a:t>•  Rôles ROLE_USER / ROLE_ADMIN → access_control + #[IsGranted]</a:t>
            </a:r>
            <a:endParaRPr/>
          </a:p>
          <a:p>
            <a:pPr algn="l">
              <a:spcAft>
                <a:spcPts val="900"/>
              </a:spcAft>
              <a:defRPr/>
            </a:pPr>
            <a:r>
              <a:rPr sz="1500" b="0">
                <a:solidFill>
                  <a:srgbClr val="4B5563"/>
                </a:solidFill>
                <a:latin typeface="Calibri"/>
              </a:rPr>
              <a:t>•  Comptes désactivés bloqués à la connexion (UserChecker)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521799462"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28200648"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54664340"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Catalogue &amp; fiche produit</a:t>
            </a:r>
            <a:endParaRPr/>
          </a:p>
        </p:txBody>
      </p:sp>
      <p:sp>
        <p:nvSpPr>
          <p:cNvPr id="1405116886"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Pages de présentation de données</a:t>
            </a:r>
            <a:endParaRPr/>
          </a:p>
        </p:txBody>
      </p:sp>
      <p:sp>
        <p:nvSpPr>
          <p:cNvPr id="1439141340" name="TextBox 5"/>
          <p:cNvSpPr txBox="1"/>
          <p:nvPr/>
        </p:nvSpPr>
        <p:spPr bwMode="auto">
          <a:xfrm>
            <a:off x="548640" y="1417320"/>
            <a:ext cx="7680960" cy="4846320"/>
          </a:xfrm>
          <a:prstGeom prst="rect">
            <a:avLst/>
          </a:prstGeom>
          <a:noFill/>
        </p:spPr>
        <p:txBody>
          <a:bodyPr wrap="square" anchor="t">
            <a:spAutoFit/>
          </a:bodyPr>
          <a:lstStyle/>
          <a:p>
            <a:pPr algn="l">
              <a:spcAft>
                <a:spcPts val="900"/>
              </a:spcAft>
              <a:defRPr/>
            </a:pPr>
            <a:r>
              <a:rPr sz="1500" b="0">
                <a:solidFill>
                  <a:srgbClr val="4B5563"/>
                </a:solidFill>
                <a:latin typeface="Calibri"/>
              </a:rPr>
              <a:t>•  Catalogue /nos-miels : liste des produits</a:t>
            </a:r>
            <a:endParaRPr/>
          </a:p>
          <a:p>
            <a:pPr algn="l">
              <a:spcAft>
                <a:spcPts val="900"/>
              </a:spcAft>
              <a:defRPr/>
            </a:pPr>
            <a:r>
              <a:rPr sz="1500" b="0">
                <a:solidFill>
                  <a:srgbClr val="4B5563"/>
                </a:solidFill>
                <a:latin typeface="Calibri"/>
              </a:rPr>
              <a:t>•  Filtres par catégorie + tri (prix, nom, nouveautés)</a:t>
            </a:r>
            <a:endParaRPr/>
          </a:p>
          <a:p>
            <a:pPr algn="l">
              <a:spcAft>
                <a:spcPts val="900"/>
              </a:spcAft>
              <a:defRPr/>
            </a:pPr>
            <a:r>
              <a:rPr sz="1500" b="0">
                <a:solidFill>
                  <a:srgbClr val="4B5563"/>
                </a:solidFill>
                <a:latin typeface="Calibri"/>
              </a:rPr>
              <a:t>•  Fiche produit : photo, description, allergènes</a:t>
            </a:r>
            <a:endParaRPr/>
          </a:p>
          <a:p>
            <a:pPr algn="l">
              <a:spcAft>
                <a:spcPts val="900"/>
              </a:spcAft>
              <a:defRPr/>
            </a:pPr>
            <a:r>
              <a:rPr sz="1500" b="0">
                <a:solidFill>
                  <a:srgbClr val="4B5563"/>
                </a:solidFill>
                <a:latin typeface="Calibri"/>
              </a:rPr>
              <a:t>•  Variantes de poids (250g, 500g…) avec prix et stock</a:t>
            </a:r>
            <a:endParaRPr/>
          </a:p>
          <a:p>
            <a:pPr algn="l">
              <a:spcAft>
                <a:spcPts val="900"/>
              </a:spcAft>
              <a:defRPr/>
            </a:pPr>
            <a:r>
              <a:rPr sz="1500" b="0">
                <a:solidFill>
                  <a:srgbClr val="4B5563"/>
                </a:solidFill>
                <a:latin typeface="Calibri"/>
              </a:rPr>
              <a:t>•  Sélecteur de variante en JS (prix et stock dynamiques)</a:t>
            </a:r>
            <a:endParaRPr/>
          </a:p>
          <a:p>
            <a:pPr algn="l">
              <a:spcAft>
                <a:spcPts val="900"/>
              </a:spcAft>
              <a:defRPr/>
            </a:pPr>
            <a:r>
              <a:rPr sz="1500" b="0">
                <a:solidFill>
                  <a:srgbClr val="4B5563"/>
                </a:solidFill>
                <a:latin typeface="Calibri"/>
              </a:rPr>
              <a:t>•  Note moyenne + avis clients approuvés</a:t>
            </a:r>
            <a:endParaRPr/>
          </a:p>
          <a:p>
            <a:pPr algn="l">
              <a:spcAft>
                <a:spcPts val="900"/>
              </a:spcAft>
              <a:defRPr/>
            </a:pPr>
            <a:r>
              <a:rPr sz="1500" b="0">
                <a:solidFill>
                  <a:srgbClr val="4B5563"/>
                </a:solidFill>
                <a:latin typeface="Calibri"/>
              </a:rPr>
              <a:t>•  URLs propres via slug (/nos-miels/miel-toute-fleur)</a:t>
            </a:r>
            <a:endParaRPr/>
          </a:p>
        </p:txBody>
      </p:sp>
      <p:sp>
        <p:nvSpPr>
          <p:cNvPr id="116838391" name="Rectangle 6"/>
          <p:cNvSpPr/>
          <p:nvPr/>
        </p:nvSpPr>
        <p:spPr bwMode="auto">
          <a:xfrm>
            <a:off x="8503920" y="1554480"/>
            <a:ext cx="3108960" cy="42062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36439877" name="TextBox 7"/>
          <p:cNvSpPr txBox="1"/>
          <p:nvPr/>
        </p:nvSpPr>
        <p:spPr bwMode="auto">
          <a:xfrm>
            <a:off x="8686800" y="1691640"/>
            <a:ext cx="2743200" cy="365760"/>
          </a:xfrm>
          <a:prstGeom prst="rect">
            <a:avLst/>
          </a:prstGeom>
          <a:noFill/>
        </p:spPr>
        <p:txBody>
          <a:bodyPr wrap="square" anchor="t">
            <a:spAutoFit/>
          </a:bodyPr>
          <a:lstStyle/>
          <a:p>
            <a:pPr algn="l">
              <a:spcAft>
                <a:spcPts val="600"/>
              </a:spcAft>
              <a:defRPr/>
            </a:pPr>
            <a:r>
              <a:rPr sz="1200" b="1">
                <a:solidFill>
                  <a:srgbClr val="92400E"/>
                </a:solidFill>
                <a:latin typeface="Calibri"/>
              </a:rPr>
              <a:t>POINTS VISÉS</a:t>
            </a:r>
            <a:endParaRPr/>
          </a:p>
        </p:txBody>
      </p:sp>
      <p:sp>
        <p:nvSpPr>
          <p:cNvPr id="346309254" name="TextBox 8"/>
          <p:cNvSpPr txBox="1"/>
          <p:nvPr/>
        </p:nvSpPr>
        <p:spPr bwMode="auto">
          <a:xfrm>
            <a:off x="8686800" y="2194560"/>
            <a:ext cx="2743200" cy="3474720"/>
          </a:xfrm>
          <a:prstGeom prst="rect">
            <a:avLst/>
          </a:prstGeom>
          <a:noFill/>
        </p:spPr>
        <p:txBody>
          <a:bodyPr wrap="square" anchor="t">
            <a:spAutoFit/>
          </a:bodyPr>
          <a:lstStyle/>
          <a:p>
            <a:pPr algn="l">
              <a:spcAft>
                <a:spcPts val="300"/>
              </a:spcAft>
              <a:defRPr/>
            </a:pPr>
            <a:r>
              <a:rPr sz="1250" b="0">
                <a:solidFill>
                  <a:srgbClr val="1F2937"/>
                </a:solidFill>
                <a:latin typeface="Calibri"/>
              </a:rPr>
              <a:t>Présentation données</a:t>
            </a:r>
            <a:endParaRPr/>
          </a:p>
          <a:p>
            <a:pPr algn="l">
              <a:spcAft>
                <a:spcPts val="300"/>
              </a:spcAft>
              <a:defRPr/>
            </a:pPr>
            <a:r>
              <a:rPr sz="1250" b="1">
                <a:solidFill>
                  <a:srgbClr val="167A3B"/>
                </a:solidFill>
                <a:latin typeface="Calibri"/>
              </a:rPr>
              <a:t>1 / page</a:t>
            </a:r>
            <a:endParaRPr/>
          </a:p>
          <a:p>
            <a:pPr algn="l">
              <a:spcAft>
                <a:spcPts val="300"/>
              </a:spcAft>
              <a:defRPr/>
            </a:pPr>
            <a:r>
              <a:rPr sz="1250" b="0">
                <a:solidFill>
                  <a:srgbClr val="1F2937"/>
                </a:solidFill>
                <a:latin typeface="Calibri"/>
              </a:rPr>
              <a:t>(catalogue, fiche,</a:t>
            </a:r>
            <a:endParaRPr/>
          </a:p>
          <a:p>
            <a:pPr algn="l">
              <a:spcAft>
                <a:spcPts val="300"/>
              </a:spcAft>
              <a:defRPr/>
            </a:pPr>
            <a:endParaRPr/>
          </a:p>
          <a:p>
            <a:pPr algn="l">
              <a:spcAft>
                <a:spcPts val="300"/>
              </a:spcAft>
              <a:defRPr/>
            </a:pPr>
            <a:r>
              <a:rPr sz="1250" b="0">
                <a:solidFill>
                  <a:srgbClr val="1F2937"/>
                </a:solidFill>
                <a:latin typeface="Calibri"/>
              </a:rPr>
              <a:t>à propos, contact…)</a:t>
            </a:r>
            <a:endParaRPr/>
          </a:p>
          <a:p>
            <a:pPr algn="l">
              <a:spcAft>
                <a:spcPts val="300"/>
              </a:spcAft>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300954665"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83568487"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48175940"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Panier &amp; commande</a:t>
            </a:r>
            <a:endParaRPr/>
          </a:p>
        </p:txBody>
      </p:sp>
      <p:sp>
        <p:nvSpPr>
          <p:cNvPr id="457938737"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Le tunnel d'achat</a:t>
            </a:r>
            <a:endParaRPr/>
          </a:p>
        </p:txBody>
      </p:sp>
      <p:sp>
        <p:nvSpPr>
          <p:cNvPr id="1697151385" name="TextBox 5"/>
          <p:cNvSpPr txBox="1"/>
          <p:nvPr/>
        </p:nvSpPr>
        <p:spPr bwMode="auto">
          <a:xfrm>
            <a:off x="548640" y="1417320"/>
            <a:ext cx="7680960" cy="4846320"/>
          </a:xfrm>
          <a:prstGeom prst="rect">
            <a:avLst/>
          </a:prstGeom>
          <a:noFill/>
        </p:spPr>
        <p:txBody>
          <a:bodyPr wrap="square" anchor="t">
            <a:spAutoFit/>
          </a:bodyPr>
          <a:lstStyle/>
          <a:p>
            <a:pPr algn="l">
              <a:spcAft>
                <a:spcPts val="900"/>
              </a:spcAft>
              <a:defRPr/>
            </a:pPr>
            <a:r>
              <a:rPr sz="1500" b="0">
                <a:solidFill>
                  <a:srgbClr val="4B5563"/>
                </a:solidFill>
                <a:latin typeface="Calibri"/>
              </a:rPr>
              <a:t>•  Panier stocké en SESSION (pas en base) via CartService</a:t>
            </a:r>
            <a:endParaRPr/>
          </a:p>
          <a:p>
            <a:pPr algn="l">
              <a:spcAft>
                <a:spcPts val="900"/>
              </a:spcAft>
              <a:defRPr/>
            </a:pPr>
            <a:r>
              <a:rPr sz="1500" b="0">
                <a:solidFill>
                  <a:srgbClr val="4B5563"/>
                </a:solidFill>
                <a:latin typeface="Calibri"/>
              </a:rPr>
              <a:t>•  Ajout / modification quantité / suppression / vidage</a:t>
            </a:r>
            <a:endParaRPr/>
          </a:p>
          <a:p>
            <a:pPr algn="l">
              <a:spcAft>
                <a:spcPts val="900"/>
              </a:spcAft>
              <a:defRPr/>
            </a:pPr>
            <a:r>
              <a:rPr sz="1500" b="0">
                <a:solidFill>
                  <a:srgbClr val="4B5563"/>
                </a:solidFill>
                <a:latin typeface="Calibri"/>
              </a:rPr>
              <a:t>•  Compteur d'articles dans le header</a:t>
            </a:r>
            <a:endParaRPr/>
          </a:p>
          <a:p>
            <a:pPr algn="l">
              <a:spcAft>
                <a:spcPts val="900"/>
              </a:spcAft>
              <a:defRPr/>
            </a:pPr>
            <a:r>
              <a:rPr sz="1500" b="0">
                <a:solidFill>
                  <a:srgbClr val="4B5563"/>
                </a:solidFill>
                <a:latin typeface="Calibri"/>
              </a:rPr>
              <a:t>•  Checkout : formulaire d'adresse de livraison + validation</a:t>
            </a:r>
            <a:endParaRPr/>
          </a:p>
          <a:p>
            <a:pPr algn="l">
              <a:spcAft>
                <a:spcPts val="900"/>
              </a:spcAft>
              <a:defRPr/>
            </a:pPr>
            <a:r>
              <a:rPr sz="1500" b="0">
                <a:solidFill>
                  <a:srgbClr val="4B5563"/>
                </a:solidFill>
                <a:latin typeface="Calibri"/>
              </a:rPr>
              <a:t>•  Création d'une commande (Order + OrderItem)</a:t>
            </a:r>
            <a:endParaRPr/>
          </a:p>
          <a:p>
            <a:pPr algn="l">
              <a:spcAft>
                <a:spcPts val="900"/>
              </a:spcAft>
              <a:defRPr/>
            </a:pPr>
            <a:r>
              <a:rPr sz="1500" b="0">
                <a:solidFill>
                  <a:srgbClr val="4B5563"/>
                </a:solidFill>
                <a:latin typeface="Calibri"/>
              </a:rPr>
              <a:t>•  Décrément du stock, vidage du panier</a:t>
            </a:r>
            <a:endParaRPr/>
          </a:p>
          <a:p>
            <a:pPr algn="l">
              <a:spcAft>
                <a:spcPts val="900"/>
              </a:spcAft>
              <a:defRPr/>
            </a:pPr>
            <a:r>
              <a:rPr sz="1500" b="0">
                <a:solidFill>
                  <a:srgbClr val="4B5563"/>
                </a:solidFill>
                <a:latin typeface="Calibri"/>
              </a:rPr>
              <a:t>•  Page de confirmation + e-mail récapitulatif</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280140024"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74969542"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3190316"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Facture PDF</a:t>
            </a:r>
            <a:endParaRPr/>
          </a:p>
        </p:txBody>
      </p:sp>
      <p:sp>
        <p:nvSpPr>
          <p:cNvPr id="1241805644"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Génération de document</a:t>
            </a:r>
            <a:endParaRPr/>
          </a:p>
        </p:txBody>
      </p:sp>
      <p:sp>
        <p:nvSpPr>
          <p:cNvPr id="1644611524" name="TextBox 5"/>
          <p:cNvSpPr txBox="1"/>
          <p:nvPr/>
        </p:nvSpPr>
        <p:spPr bwMode="auto">
          <a:xfrm>
            <a:off x="548640" y="1417320"/>
            <a:ext cx="7680960" cy="4846320"/>
          </a:xfrm>
          <a:prstGeom prst="rect">
            <a:avLst/>
          </a:prstGeom>
          <a:noFill/>
        </p:spPr>
        <p:txBody>
          <a:bodyPr wrap="square" anchor="t">
            <a:spAutoFit/>
          </a:bodyPr>
          <a:lstStyle/>
          <a:p>
            <a:pPr algn="l">
              <a:spcAft>
                <a:spcPts val="900"/>
              </a:spcAft>
              <a:defRPr/>
            </a:pPr>
            <a:r>
              <a:rPr sz="1500" b="0">
                <a:solidFill>
                  <a:srgbClr val="4B5563"/>
                </a:solidFill>
                <a:latin typeface="Calibri"/>
              </a:rPr>
              <a:t>•  Service dédié InvoiceGenerator</a:t>
            </a:r>
            <a:endParaRPr/>
          </a:p>
          <a:p>
            <a:pPr algn="l">
              <a:spcAft>
                <a:spcPts val="900"/>
              </a:spcAft>
              <a:defRPr/>
            </a:pPr>
            <a:r>
              <a:rPr sz="1500" b="0">
                <a:solidFill>
                  <a:srgbClr val="4B5563"/>
                </a:solidFill>
                <a:latin typeface="Calibri"/>
              </a:rPr>
              <a:t>•  Rend un template Twig en HTML, converti en PDF par dompdf</a:t>
            </a:r>
            <a:endParaRPr/>
          </a:p>
          <a:p>
            <a:pPr algn="l">
              <a:spcAft>
                <a:spcPts val="900"/>
              </a:spcAft>
              <a:defRPr/>
            </a:pPr>
            <a:r>
              <a:rPr sz="1500" b="0">
                <a:solidFill>
                  <a:srgbClr val="4B5563"/>
                </a:solidFill>
                <a:latin typeface="Calibri"/>
              </a:rPr>
              <a:t>•  Téléchargeable par le client depuis son espace</a:t>
            </a:r>
            <a:endParaRPr/>
          </a:p>
          <a:p>
            <a:pPr algn="l">
              <a:spcAft>
                <a:spcPts val="900"/>
              </a:spcAft>
              <a:defRPr/>
            </a:pPr>
            <a:r>
              <a:rPr sz="1500" b="0">
                <a:solidFill>
                  <a:srgbClr val="4B5563"/>
                </a:solidFill>
                <a:latin typeface="Calibri"/>
              </a:rPr>
              <a:t>•  Téléchargeable par l'admin depuis la commande</a:t>
            </a:r>
            <a:endParaRPr/>
          </a:p>
          <a:p>
            <a:pPr algn="l">
              <a:spcAft>
                <a:spcPts val="900"/>
              </a:spcAft>
              <a:defRPr/>
            </a:pPr>
            <a:r>
              <a:rPr sz="1500" b="0">
                <a:solidFill>
                  <a:srgbClr val="4B5563"/>
                </a:solidFill>
                <a:latin typeface="Calibri"/>
              </a:rPr>
              <a:t>•  Jointe automatiquement à l'e-mail de confirmation</a:t>
            </a:r>
            <a:endParaRPr/>
          </a:p>
          <a:p>
            <a:pPr algn="l">
              <a:spcAft>
                <a:spcPts val="900"/>
              </a:spcAft>
              <a:defRPr/>
            </a:pPr>
            <a:r>
              <a:rPr sz="1500" b="0">
                <a:solidFill>
                  <a:srgbClr val="4B5563"/>
                </a:solidFill>
                <a:latin typeface="Calibri"/>
              </a:rPr>
              <a:t>•  Numéro, date, vendeur, client, lignes, total TTC</a:t>
            </a:r>
            <a:endParaRPr/>
          </a:p>
        </p:txBody>
      </p:sp>
      <p:sp>
        <p:nvSpPr>
          <p:cNvPr id="2033254876" name="Rectangle 6"/>
          <p:cNvSpPr/>
          <p:nvPr/>
        </p:nvSpPr>
        <p:spPr bwMode="auto">
          <a:xfrm>
            <a:off x="8503920" y="1554480"/>
            <a:ext cx="3108960" cy="42062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76146783" name="TextBox 7"/>
          <p:cNvSpPr txBox="1"/>
          <p:nvPr/>
        </p:nvSpPr>
        <p:spPr bwMode="auto">
          <a:xfrm>
            <a:off x="8686800" y="1691640"/>
            <a:ext cx="2743200" cy="365760"/>
          </a:xfrm>
          <a:prstGeom prst="rect">
            <a:avLst/>
          </a:prstGeom>
          <a:noFill/>
        </p:spPr>
        <p:txBody>
          <a:bodyPr wrap="square" anchor="t">
            <a:spAutoFit/>
          </a:bodyPr>
          <a:lstStyle/>
          <a:p>
            <a:pPr algn="l">
              <a:spcAft>
                <a:spcPts val="600"/>
              </a:spcAft>
              <a:defRPr/>
            </a:pPr>
            <a:r>
              <a:rPr sz="1200" b="1">
                <a:solidFill>
                  <a:srgbClr val="92400E"/>
                </a:solidFill>
                <a:latin typeface="Calibri"/>
              </a:rPr>
              <a:t>POINTS VISÉS</a:t>
            </a:r>
            <a:endParaRPr/>
          </a:p>
        </p:txBody>
      </p:sp>
      <p:sp>
        <p:nvSpPr>
          <p:cNvPr id="13452281" name="TextBox 8"/>
          <p:cNvSpPr txBox="1"/>
          <p:nvPr/>
        </p:nvSpPr>
        <p:spPr bwMode="auto">
          <a:xfrm>
            <a:off x="8686800" y="2194560"/>
            <a:ext cx="2743200" cy="3474720"/>
          </a:xfrm>
          <a:prstGeom prst="rect">
            <a:avLst/>
          </a:prstGeom>
          <a:noFill/>
        </p:spPr>
        <p:txBody>
          <a:bodyPr wrap="square" anchor="t">
            <a:spAutoFit/>
          </a:bodyPr>
          <a:lstStyle/>
          <a:p>
            <a:pPr algn="l">
              <a:spcAft>
                <a:spcPts val="300"/>
              </a:spcAft>
              <a:defRPr/>
            </a:pPr>
            <a:r>
              <a:rPr sz="1250" b="0">
                <a:solidFill>
                  <a:srgbClr val="1F2937"/>
                </a:solidFill>
                <a:latin typeface="Calibri"/>
              </a:rPr>
              <a:t>Facture PDF</a:t>
            </a:r>
            <a:endParaRPr/>
          </a:p>
          <a:p>
            <a:pPr algn="l">
              <a:spcAft>
                <a:spcPts val="300"/>
              </a:spcAft>
              <a:defRPr/>
            </a:pPr>
            <a:r>
              <a:rPr sz="1250" b="1">
                <a:solidFill>
                  <a:srgbClr val="167A3B"/>
                </a:solidFill>
                <a:latin typeface="Calibri"/>
              </a:rPr>
              <a:t>feature</a:t>
            </a:r>
            <a:endParaRPr/>
          </a:p>
          <a:p>
            <a:pPr algn="l">
              <a:spcAft>
                <a:spcPts val="300"/>
              </a:spcAft>
              <a:defRPr/>
            </a:pPr>
            <a:r>
              <a:rPr sz="1250" b="0">
                <a:solidFill>
                  <a:srgbClr val="1F2937"/>
                </a:solidFill>
                <a:latin typeface="Calibri"/>
              </a:rPr>
              <a:t>(librairie dompdf)</a:t>
            </a:r>
            <a:endParaRPr/>
          </a:p>
          <a:p>
            <a:pPr algn="l">
              <a:spcAft>
                <a:spcPts val="300"/>
              </a:spcAft>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434820914"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7123898"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42224144"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Espace client</a:t>
            </a:r>
            <a:endParaRPr/>
          </a:p>
        </p:txBody>
      </p:sp>
      <p:sp>
        <p:nvSpPr>
          <p:cNvPr id="377597505"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/compte — protégé ROLE_USER</a:t>
            </a:r>
            <a:endParaRPr/>
          </a:p>
        </p:txBody>
      </p:sp>
      <p:sp>
        <p:nvSpPr>
          <p:cNvPr id="2068078795" name="TextBox 5"/>
          <p:cNvSpPr txBox="1"/>
          <p:nvPr/>
        </p:nvSpPr>
        <p:spPr bwMode="auto">
          <a:xfrm>
            <a:off x="548640" y="1417320"/>
            <a:ext cx="7680960" cy="4846320"/>
          </a:xfrm>
          <a:prstGeom prst="rect">
            <a:avLst/>
          </a:prstGeom>
          <a:noFill/>
        </p:spPr>
        <p:txBody>
          <a:bodyPr wrap="square" anchor="t">
            <a:spAutoFit/>
          </a:bodyPr>
          <a:lstStyle/>
          <a:p>
            <a:pPr algn="l">
              <a:spcAft>
                <a:spcPts val="900"/>
              </a:spcAft>
              <a:defRPr/>
            </a:pPr>
            <a:r>
              <a:rPr sz="1500" b="0">
                <a:solidFill>
                  <a:srgbClr val="4B5563"/>
                </a:solidFill>
                <a:latin typeface="Calibri"/>
              </a:rPr>
              <a:t>•  Tableau de bord : infos profil + compteur de commandes</a:t>
            </a:r>
            <a:endParaRPr/>
          </a:p>
          <a:p>
            <a:pPr algn="l">
              <a:spcAft>
                <a:spcPts val="900"/>
              </a:spcAft>
              <a:defRPr/>
            </a:pPr>
            <a:r>
              <a:rPr sz="1500" b="0">
                <a:solidFill>
                  <a:srgbClr val="4B5563"/>
                </a:solidFill>
                <a:latin typeface="Calibri"/>
              </a:rPr>
              <a:t>•  Historique complet des commandes</a:t>
            </a:r>
            <a:endParaRPr/>
          </a:p>
          <a:p>
            <a:pPr algn="l">
              <a:spcAft>
                <a:spcPts val="900"/>
              </a:spcAft>
              <a:defRPr/>
            </a:pPr>
            <a:r>
              <a:rPr sz="1500" b="0">
                <a:solidFill>
                  <a:srgbClr val="4B5563"/>
                </a:solidFill>
                <a:latin typeface="Calibri"/>
              </a:rPr>
              <a:t>•  Détail d'une commande (articles, adresse, statut)</a:t>
            </a:r>
            <a:endParaRPr/>
          </a:p>
          <a:p>
            <a:pPr algn="l">
              <a:spcAft>
                <a:spcPts val="900"/>
              </a:spcAft>
              <a:defRPr/>
            </a:pPr>
            <a:r>
              <a:rPr sz="1500" b="0">
                <a:solidFill>
                  <a:srgbClr val="4B5563"/>
                </a:solidFill>
                <a:latin typeface="Calibri"/>
              </a:rPr>
              <a:t>•  Badge de statut (en attente, expédiée, livrée…)</a:t>
            </a:r>
            <a:endParaRPr/>
          </a:p>
          <a:p>
            <a:pPr algn="l">
              <a:spcAft>
                <a:spcPts val="900"/>
              </a:spcAft>
              <a:defRPr/>
            </a:pPr>
            <a:r>
              <a:rPr sz="1500" b="0">
                <a:solidFill>
                  <a:srgbClr val="4B5563"/>
                </a:solidFill>
                <a:latin typeface="Calibri"/>
              </a:rPr>
              <a:t>•  Téléchargement de la facture PDF</a:t>
            </a:r>
            <a:endParaRPr/>
          </a:p>
          <a:p>
            <a:pPr algn="l">
              <a:spcAft>
                <a:spcPts val="900"/>
              </a:spcAft>
              <a:defRPr/>
            </a:pPr>
            <a:r>
              <a:rPr sz="1500" b="0">
                <a:solidFill>
                  <a:srgbClr val="4B5563"/>
                </a:solidFill>
                <a:latin typeface="Calibri"/>
              </a:rPr>
              <a:t>•  Vérification : un client ne voit que SES commandes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877274840"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1318434"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2435174"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Back-office d'administration</a:t>
            </a:r>
            <a:endParaRPr/>
          </a:p>
        </p:txBody>
      </p:sp>
      <p:sp>
        <p:nvSpPr>
          <p:cNvPr id="1192729566"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Gestion complète</a:t>
            </a:r>
            <a:endParaRPr/>
          </a:p>
        </p:txBody>
      </p:sp>
      <p:sp>
        <p:nvSpPr>
          <p:cNvPr id="400324306" name="TextBox 5"/>
          <p:cNvSpPr txBox="1"/>
          <p:nvPr/>
        </p:nvSpPr>
        <p:spPr bwMode="auto">
          <a:xfrm>
            <a:off x="548640" y="1417320"/>
            <a:ext cx="7680960" cy="4846320"/>
          </a:xfrm>
          <a:prstGeom prst="rect">
            <a:avLst/>
          </a:prstGeom>
          <a:noFill/>
        </p:spPr>
        <p:txBody>
          <a:bodyPr wrap="square" anchor="t">
            <a:spAutoFit/>
          </a:bodyPr>
          <a:lstStyle/>
          <a:p>
            <a:pPr algn="l">
              <a:spcAft>
                <a:spcPts val="900"/>
              </a:spcAft>
              <a:defRPr/>
            </a:pPr>
            <a:r>
              <a:rPr sz="1500" b="0">
                <a:solidFill>
                  <a:srgbClr val="4B5563"/>
                </a:solidFill>
                <a:latin typeface="Calibri"/>
              </a:rPr>
              <a:t>•  CRUD produits : créer / éditer / supprimer + upload d'image + variantes</a:t>
            </a:r>
            <a:endParaRPr/>
          </a:p>
          <a:p>
            <a:pPr algn="l">
              <a:spcAft>
                <a:spcPts val="900"/>
              </a:spcAft>
              <a:defRPr/>
            </a:pPr>
            <a:r>
              <a:rPr sz="1500" b="0">
                <a:solidFill>
                  <a:srgbClr val="4B5563"/>
                </a:solidFill>
                <a:latin typeface="Calibri"/>
              </a:rPr>
              <a:t>•  CRUD catégories</a:t>
            </a:r>
            <a:endParaRPr/>
          </a:p>
          <a:p>
            <a:pPr algn="l">
              <a:spcAft>
                <a:spcPts val="900"/>
              </a:spcAft>
              <a:defRPr/>
            </a:pPr>
            <a:r>
              <a:rPr sz="1500" b="0">
                <a:solidFill>
                  <a:srgbClr val="4B5563"/>
                </a:solidFill>
                <a:latin typeface="Calibri"/>
              </a:rPr>
              <a:t>•  Commandes : liste, filtres par statut, détail, changement de statut</a:t>
            </a:r>
            <a:endParaRPr/>
          </a:p>
          <a:p>
            <a:pPr algn="l">
              <a:spcAft>
                <a:spcPts val="900"/>
              </a:spcAft>
              <a:defRPr/>
            </a:pPr>
            <a:r>
              <a:rPr sz="1500" b="0">
                <a:solidFill>
                  <a:srgbClr val="4B5563"/>
                </a:solidFill>
                <a:latin typeface="Calibri"/>
              </a:rPr>
              <a:t>•  Utilisateurs : liste, édition (rôle), activation / désactivation</a:t>
            </a:r>
            <a:endParaRPr/>
          </a:p>
          <a:p>
            <a:pPr algn="l">
              <a:spcAft>
                <a:spcPts val="900"/>
              </a:spcAft>
              <a:defRPr/>
            </a:pPr>
            <a:r>
              <a:rPr sz="1500" b="0">
                <a:solidFill>
                  <a:srgbClr val="4B5563"/>
                </a:solidFill>
                <a:latin typeface="Calibri"/>
              </a:rPr>
              <a:t>•  Avis : validation / suppression (modération)</a:t>
            </a:r>
            <a:endParaRPr/>
          </a:p>
          <a:p>
            <a:pPr algn="l">
              <a:spcAft>
                <a:spcPts val="900"/>
              </a:spcAft>
              <a:defRPr/>
            </a:pPr>
            <a:r>
              <a:rPr sz="1500" b="0">
                <a:solidFill>
                  <a:srgbClr val="4B5563"/>
                </a:solidFill>
                <a:latin typeface="Calibri"/>
              </a:rPr>
              <a:t>•  Layout admin séparé, accès réservé à ROLE_ADMIN</a:t>
            </a:r>
            <a:endParaRPr/>
          </a:p>
        </p:txBody>
      </p:sp>
      <p:sp>
        <p:nvSpPr>
          <p:cNvPr id="1842769375" name="Rectangle 6"/>
          <p:cNvSpPr/>
          <p:nvPr/>
        </p:nvSpPr>
        <p:spPr bwMode="auto">
          <a:xfrm>
            <a:off x="8503920" y="1554480"/>
            <a:ext cx="3108960" cy="42062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4088770" name="TextBox 7"/>
          <p:cNvSpPr txBox="1"/>
          <p:nvPr/>
        </p:nvSpPr>
        <p:spPr bwMode="auto">
          <a:xfrm>
            <a:off x="8686800" y="1691640"/>
            <a:ext cx="2743200" cy="365760"/>
          </a:xfrm>
          <a:prstGeom prst="rect">
            <a:avLst/>
          </a:prstGeom>
          <a:noFill/>
        </p:spPr>
        <p:txBody>
          <a:bodyPr wrap="square" anchor="t">
            <a:spAutoFit/>
          </a:bodyPr>
          <a:lstStyle/>
          <a:p>
            <a:pPr algn="l">
              <a:spcAft>
                <a:spcPts val="600"/>
              </a:spcAft>
              <a:defRPr/>
            </a:pPr>
            <a:r>
              <a:rPr sz="1200" b="1">
                <a:solidFill>
                  <a:srgbClr val="92400E"/>
                </a:solidFill>
                <a:latin typeface="Calibri"/>
              </a:rPr>
              <a:t>POINTS VISÉS</a:t>
            </a:r>
            <a:endParaRPr/>
          </a:p>
        </p:txBody>
      </p:sp>
      <p:sp>
        <p:nvSpPr>
          <p:cNvPr id="1254899632" name="TextBox 8"/>
          <p:cNvSpPr txBox="1"/>
          <p:nvPr/>
        </p:nvSpPr>
        <p:spPr bwMode="auto">
          <a:xfrm>
            <a:off x="8686800" y="2194560"/>
            <a:ext cx="2743200" cy="3474720"/>
          </a:xfrm>
          <a:prstGeom prst="rect">
            <a:avLst/>
          </a:prstGeom>
          <a:noFill/>
        </p:spPr>
        <p:txBody>
          <a:bodyPr wrap="square" anchor="t">
            <a:spAutoFit/>
          </a:bodyPr>
          <a:lstStyle/>
          <a:p>
            <a:pPr algn="l">
              <a:spcAft>
                <a:spcPts val="300"/>
              </a:spcAft>
              <a:defRPr/>
            </a:pPr>
            <a:r>
              <a:rPr sz="1250" b="0">
                <a:solidFill>
                  <a:srgbClr val="1F2937"/>
                </a:solidFill>
                <a:latin typeface="Calibri"/>
              </a:rPr>
              <a:t>Gestion (CRUD)</a:t>
            </a:r>
            <a:endParaRPr/>
          </a:p>
          <a:p>
            <a:pPr algn="l">
              <a:spcAft>
                <a:spcPts val="300"/>
              </a:spcAft>
              <a:defRPr/>
            </a:pPr>
            <a:r>
              <a:rPr sz="1250" b="1">
                <a:solidFill>
                  <a:srgbClr val="167A3B"/>
                </a:solidFill>
                <a:latin typeface="Calibri"/>
              </a:rPr>
              <a:t>3</a:t>
            </a:r>
            <a:endParaRPr/>
          </a:p>
          <a:p>
            <a:pPr algn="l">
              <a:spcAft>
                <a:spcPts val="300"/>
              </a:spcAft>
              <a:defRPr/>
            </a:pPr>
            <a:r>
              <a:rPr sz="1250" b="0">
                <a:solidFill>
                  <a:srgbClr val="1F2937"/>
                </a:solidFill>
                <a:latin typeface="Calibri"/>
              </a:rPr>
              <a:t>Upload fichiers</a:t>
            </a:r>
            <a:endParaRPr/>
          </a:p>
          <a:p>
            <a:pPr algn="l">
              <a:spcAft>
                <a:spcPts val="300"/>
              </a:spcAft>
              <a:defRPr/>
            </a:pPr>
            <a:r>
              <a:rPr sz="1250" b="1">
                <a:solidFill>
                  <a:srgbClr val="167A3B"/>
                </a:solidFill>
                <a:latin typeface="Calibri"/>
              </a:rPr>
              <a:t>2</a:t>
            </a:r>
            <a:endParaRPr/>
          </a:p>
          <a:p>
            <a:pPr algn="l">
              <a:spcAft>
                <a:spcPts val="300"/>
              </a:spcAft>
              <a:defRPr/>
            </a:pPr>
            <a:r>
              <a:rPr sz="1250" b="0">
                <a:solidFill>
                  <a:srgbClr val="1F2937"/>
                </a:solidFill>
                <a:latin typeface="Calibri"/>
              </a:rPr>
              <a:t>Modération avis</a:t>
            </a:r>
            <a:endParaRPr/>
          </a:p>
          <a:p>
            <a:pPr algn="l">
              <a:spcAft>
                <a:spcPts val="300"/>
              </a:spcAft>
              <a:defRPr/>
            </a:pPr>
            <a:r>
              <a:rPr sz="1250" b="1">
                <a:solidFill>
                  <a:srgbClr val="167A3B"/>
                </a:solidFill>
                <a:latin typeface="Calibri"/>
              </a:rPr>
              <a:t>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2013745980"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47117392"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2436211"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E-mails transactionnels</a:t>
            </a:r>
            <a:endParaRPr/>
          </a:p>
        </p:txBody>
      </p:sp>
      <p:sp>
        <p:nvSpPr>
          <p:cNvPr id="1828423139"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Symfony Mailer — envoi manuel</a:t>
            </a:r>
            <a:endParaRPr/>
          </a:p>
        </p:txBody>
      </p:sp>
      <p:sp>
        <p:nvSpPr>
          <p:cNvPr id="1070680565" name="TextBox 5"/>
          <p:cNvSpPr txBox="1"/>
          <p:nvPr/>
        </p:nvSpPr>
        <p:spPr bwMode="auto">
          <a:xfrm>
            <a:off x="548640" y="1417320"/>
            <a:ext cx="7680960" cy="4846320"/>
          </a:xfrm>
          <a:prstGeom prst="rect">
            <a:avLst/>
          </a:prstGeom>
          <a:noFill/>
        </p:spPr>
        <p:txBody>
          <a:bodyPr wrap="square" anchor="t">
            <a:spAutoFit/>
          </a:bodyPr>
          <a:lstStyle/>
          <a:p>
            <a:pPr algn="l">
              <a:spcAft>
                <a:spcPts val="900"/>
              </a:spcAft>
              <a:defRPr/>
            </a:pPr>
            <a:r>
              <a:rPr sz="1500" b="0">
                <a:solidFill>
                  <a:srgbClr val="4B5563"/>
                </a:solidFill>
                <a:latin typeface="Calibri"/>
              </a:rPr>
              <a:t>•  E-mail de bienvenue (inscription)</a:t>
            </a:r>
            <a:endParaRPr/>
          </a:p>
          <a:p>
            <a:pPr algn="l">
              <a:spcAft>
                <a:spcPts val="900"/>
              </a:spcAft>
              <a:defRPr/>
            </a:pPr>
            <a:r>
              <a:rPr sz="1500" b="0">
                <a:solidFill>
                  <a:srgbClr val="4B5563"/>
                </a:solidFill>
                <a:latin typeface="Calibri"/>
              </a:rPr>
              <a:t>•  Confirmation de commande + facture PDF jointe</a:t>
            </a:r>
            <a:endParaRPr/>
          </a:p>
          <a:p>
            <a:pPr algn="l">
              <a:spcAft>
                <a:spcPts val="900"/>
              </a:spcAft>
              <a:defRPr/>
            </a:pPr>
            <a:r>
              <a:rPr sz="1500" b="0">
                <a:solidFill>
                  <a:srgbClr val="4B5563"/>
                </a:solidFill>
                <a:latin typeface="Calibri"/>
              </a:rPr>
              <a:t>•  Notification à l'admin pour chaque nouvelle commande</a:t>
            </a:r>
            <a:endParaRPr/>
          </a:p>
          <a:p>
            <a:pPr algn="l">
              <a:spcAft>
                <a:spcPts val="900"/>
              </a:spcAft>
              <a:defRPr/>
            </a:pPr>
            <a:r>
              <a:rPr sz="1500" b="0">
                <a:solidFill>
                  <a:srgbClr val="4B5563"/>
                </a:solidFill>
                <a:latin typeface="Calibri"/>
              </a:rPr>
              <a:t>•  Réinitialisation de mot de passe</a:t>
            </a:r>
            <a:endParaRPr/>
          </a:p>
          <a:p>
            <a:pPr algn="l">
              <a:spcAft>
                <a:spcPts val="900"/>
              </a:spcAft>
              <a:defRPr/>
            </a:pPr>
            <a:r>
              <a:rPr sz="1500" b="0">
                <a:solidFill>
                  <a:srgbClr val="4B5563"/>
                </a:solidFill>
                <a:latin typeface="Calibri"/>
              </a:rPr>
              <a:t>•  Message du formulaire de contact (Reply-To du visiteur)</a:t>
            </a:r>
            <a:endParaRPr/>
          </a:p>
          <a:p>
            <a:pPr algn="l">
              <a:spcAft>
                <a:spcPts val="900"/>
              </a:spcAft>
              <a:defRPr/>
            </a:pPr>
            <a:r>
              <a:rPr sz="1500" b="0">
                <a:solidFill>
                  <a:srgbClr val="4B5563"/>
                </a:solidFill>
                <a:latin typeface="Calibri"/>
              </a:rPr>
              <a:t>•  Templates Twig dédiés, capturés par Mailpit en dev</a:t>
            </a:r>
            <a:endParaRPr/>
          </a:p>
        </p:txBody>
      </p:sp>
      <p:sp>
        <p:nvSpPr>
          <p:cNvPr id="483155901" name="Rectangle 6"/>
          <p:cNvSpPr/>
          <p:nvPr/>
        </p:nvSpPr>
        <p:spPr bwMode="auto">
          <a:xfrm>
            <a:off x="8503920" y="1554480"/>
            <a:ext cx="3108960" cy="42062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69428995" name="TextBox 7"/>
          <p:cNvSpPr txBox="1"/>
          <p:nvPr/>
        </p:nvSpPr>
        <p:spPr bwMode="auto">
          <a:xfrm>
            <a:off x="8686800" y="1691640"/>
            <a:ext cx="2743200" cy="365760"/>
          </a:xfrm>
          <a:prstGeom prst="rect">
            <a:avLst/>
          </a:prstGeom>
          <a:noFill/>
        </p:spPr>
        <p:txBody>
          <a:bodyPr wrap="square" anchor="t">
            <a:spAutoFit/>
          </a:bodyPr>
          <a:lstStyle/>
          <a:p>
            <a:pPr algn="l">
              <a:spcAft>
                <a:spcPts val="600"/>
              </a:spcAft>
              <a:defRPr/>
            </a:pPr>
            <a:r>
              <a:rPr sz="1200" b="1">
                <a:solidFill>
                  <a:srgbClr val="92400E"/>
                </a:solidFill>
                <a:latin typeface="Calibri"/>
              </a:rPr>
              <a:t>POINTS VISÉS</a:t>
            </a:r>
            <a:endParaRPr/>
          </a:p>
        </p:txBody>
      </p:sp>
      <p:sp>
        <p:nvSpPr>
          <p:cNvPr id="2113675702" name="TextBox 8"/>
          <p:cNvSpPr txBox="1"/>
          <p:nvPr/>
        </p:nvSpPr>
        <p:spPr bwMode="auto">
          <a:xfrm>
            <a:off x="8686800" y="2194560"/>
            <a:ext cx="2743200" cy="3474720"/>
          </a:xfrm>
          <a:prstGeom prst="rect">
            <a:avLst/>
          </a:prstGeom>
          <a:noFill/>
        </p:spPr>
        <p:txBody>
          <a:bodyPr wrap="square" anchor="t">
            <a:spAutoFit/>
          </a:bodyPr>
          <a:lstStyle/>
          <a:p>
            <a:pPr algn="l">
              <a:spcAft>
                <a:spcPts val="300"/>
              </a:spcAft>
              <a:defRPr/>
            </a:pPr>
            <a:r>
              <a:rPr sz="1250" b="0">
                <a:solidFill>
                  <a:srgbClr val="1F2937"/>
                </a:solidFill>
                <a:latin typeface="Calibri"/>
              </a:rPr>
              <a:t>Envoi de mail</a:t>
            </a:r>
            <a:endParaRPr/>
          </a:p>
          <a:p>
            <a:pPr algn="l">
              <a:spcAft>
                <a:spcPts val="300"/>
              </a:spcAft>
              <a:defRPr/>
            </a:pPr>
            <a:r>
              <a:rPr sz="1250" b="1">
                <a:solidFill>
                  <a:srgbClr val="167A3B"/>
                </a:solidFill>
                <a:latin typeface="Calibri"/>
              </a:rPr>
              <a:t>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926961413"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58581111"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23962717"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Sécurité</a:t>
            </a:r>
            <a:endParaRPr/>
          </a:p>
        </p:txBody>
      </p:sp>
      <p:sp>
        <p:nvSpPr>
          <p:cNvPr id="1098416881"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Protections mises en place</a:t>
            </a:r>
            <a:endParaRPr/>
          </a:p>
        </p:txBody>
      </p:sp>
      <p:sp>
        <p:nvSpPr>
          <p:cNvPr id="2081232010" name="TextBox 5"/>
          <p:cNvSpPr txBox="1"/>
          <p:nvPr/>
        </p:nvSpPr>
        <p:spPr bwMode="auto">
          <a:xfrm>
            <a:off x="548640" y="1417320"/>
            <a:ext cx="7680960" cy="4846320"/>
          </a:xfrm>
          <a:prstGeom prst="rect">
            <a:avLst/>
          </a:prstGeom>
          <a:noFill/>
        </p:spPr>
        <p:txBody>
          <a:bodyPr wrap="square" anchor="t">
            <a:spAutoFit/>
          </a:bodyPr>
          <a:lstStyle/>
          <a:p>
            <a:pPr algn="l">
              <a:spcAft>
                <a:spcPts val="900"/>
              </a:spcAft>
              <a:defRPr/>
            </a:pPr>
            <a:r>
              <a:rPr sz="1500" b="0">
                <a:solidFill>
                  <a:srgbClr val="4B5563"/>
                </a:solidFill>
                <a:latin typeface="Calibri"/>
              </a:rPr>
              <a:t>•  Injection SQL : Doctrine + requêtes préparées (jamais de SQL concaténé)</a:t>
            </a:r>
            <a:endParaRPr/>
          </a:p>
          <a:p>
            <a:pPr algn="l">
              <a:spcAft>
                <a:spcPts val="900"/>
              </a:spcAft>
              <a:defRPr/>
            </a:pPr>
            <a:r>
              <a:rPr sz="1500" b="0">
                <a:solidFill>
                  <a:srgbClr val="4B5563"/>
                </a:solidFill>
                <a:latin typeface="Calibri"/>
              </a:rPr>
              <a:t>•  XSS : échappement automatique de Twig</a:t>
            </a:r>
            <a:endParaRPr/>
          </a:p>
          <a:p>
            <a:pPr algn="l">
              <a:spcAft>
                <a:spcPts val="900"/>
              </a:spcAft>
              <a:defRPr/>
            </a:pPr>
            <a:r>
              <a:rPr sz="1500" b="0">
                <a:solidFill>
                  <a:srgbClr val="4B5563"/>
                </a:solidFill>
                <a:latin typeface="Calibri"/>
              </a:rPr>
              <a:t>•  CSRF : jeton sur chaque formulaire (isCsrfTokenValid)</a:t>
            </a:r>
            <a:endParaRPr/>
          </a:p>
          <a:p>
            <a:pPr algn="l">
              <a:spcAft>
                <a:spcPts val="900"/>
              </a:spcAft>
              <a:defRPr/>
            </a:pPr>
            <a:r>
              <a:rPr sz="1500" b="0">
                <a:solidFill>
                  <a:srgbClr val="4B5563"/>
                </a:solidFill>
                <a:latin typeface="Calibri"/>
              </a:rPr>
              <a:t>•  Mots de passe hashés (argon2 / bcrypt), jamais en clair</a:t>
            </a:r>
            <a:endParaRPr/>
          </a:p>
          <a:p>
            <a:pPr algn="l">
              <a:spcAft>
                <a:spcPts val="900"/>
              </a:spcAft>
              <a:defRPr/>
            </a:pPr>
            <a:r>
              <a:rPr sz="1500" b="0">
                <a:solidFill>
                  <a:srgbClr val="4B5563"/>
                </a:solidFill>
                <a:latin typeface="Calibri"/>
              </a:rPr>
              <a:t>•  Contrôle d'accès par rôles (access_control, IsGranted)</a:t>
            </a:r>
            <a:endParaRPr/>
          </a:p>
          <a:p>
            <a:pPr algn="l">
              <a:spcAft>
                <a:spcPts val="900"/>
              </a:spcAft>
              <a:defRPr/>
            </a:pPr>
            <a:r>
              <a:rPr sz="1500" b="0">
                <a:solidFill>
                  <a:srgbClr val="4B5563"/>
                </a:solidFill>
                <a:latin typeface="Calibri"/>
              </a:rPr>
              <a:t>•  En-têtes HTTP de sécurité (anti-clickjacking, MIME)</a:t>
            </a:r>
            <a:endParaRPr/>
          </a:p>
          <a:p>
            <a:pPr algn="l">
              <a:spcAft>
                <a:spcPts val="900"/>
              </a:spcAft>
              <a:defRPr/>
            </a:pPr>
            <a:r>
              <a:rPr sz="1500" b="0">
                <a:solidFill>
                  <a:srgbClr val="4B5563"/>
                </a:solidFill>
                <a:latin typeface="Calibri"/>
              </a:rPr>
              <a:t>•  Tokens de reset hashés + expiration</a:t>
            </a:r>
            <a:endParaRPr/>
          </a:p>
        </p:txBody>
      </p:sp>
      <p:sp>
        <p:nvSpPr>
          <p:cNvPr id="827259005" name="Rectangle 6"/>
          <p:cNvSpPr/>
          <p:nvPr/>
        </p:nvSpPr>
        <p:spPr bwMode="auto">
          <a:xfrm>
            <a:off x="8503920" y="1554480"/>
            <a:ext cx="3108960" cy="42062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85910531" name="TextBox 7"/>
          <p:cNvSpPr txBox="1"/>
          <p:nvPr/>
        </p:nvSpPr>
        <p:spPr bwMode="auto">
          <a:xfrm>
            <a:off x="8686800" y="1691640"/>
            <a:ext cx="2743200" cy="365760"/>
          </a:xfrm>
          <a:prstGeom prst="rect">
            <a:avLst/>
          </a:prstGeom>
          <a:noFill/>
        </p:spPr>
        <p:txBody>
          <a:bodyPr wrap="square" anchor="t">
            <a:spAutoFit/>
          </a:bodyPr>
          <a:lstStyle/>
          <a:p>
            <a:pPr algn="l">
              <a:spcAft>
                <a:spcPts val="600"/>
              </a:spcAft>
              <a:defRPr/>
            </a:pPr>
            <a:r>
              <a:rPr sz="1200" b="1">
                <a:solidFill>
                  <a:srgbClr val="92400E"/>
                </a:solidFill>
                <a:latin typeface="Calibri"/>
              </a:rPr>
              <a:t>POINTS VISÉS</a:t>
            </a:r>
            <a:endParaRPr/>
          </a:p>
        </p:txBody>
      </p:sp>
      <p:sp>
        <p:nvSpPr>
          <p:cNvPr id="397147835" name="TextBox 8"/>
          <p:cNvSpPr txBox="1"/>
          <p:nvPr/>
        </p:nvSpPr>
        <p:spPr bwMode="auto">
          <a:xfrm>
            <a:off x="8686800" y="2194560"/>
            <a:ext cx="2743200" cy="3474720"/>
          </a:xfrm>
          <a:prstGeom prst="rect">
            <a:avLst/>
          </a:prstGeom>
          <a:noFill/>
        </p:spPr>
        <p:txBody>
          <a:bodyPr wrap="square" anchor="t">
            <a:spAutoFit/>
          </a:bodyPr>
          <a:lstStyle/>
          <a:p>
            <a:pPr algn="l">
              <a:spcAft>
                <a:spcPts val="300"/>
              </a:spcAft>
              <a:defRPr/>
            </a:pPr>
            <a:r>
              <a:rPr sz="1250" b="0">
                <a:solidFill>
                  <a:srgbClr val="1F2937"/>
                </a:solidFill>
                <a:latin typeface="Calibri"/>
              </a:rPr>
              <a:t>Sécurité / failles SQL</a:t>
            </a:r>
            <a:endParaRPr/>
          </a:p>
          <a:p>
            <a:pPr algn="l">
              <a:spcAft>
                <a:spcPts val="300"/>
              </a:spcAft>
              <a:defRPr/>
            </a:pPr>
            <a:r>
              <a:rPr sz="1250" b="1">
                <a:solidFill>
                  <a:srgbClr val="167A3B"/>
                </a:solidFill>
                <a:latin typeface="Calibri"/>
              </a:rPr>
              <a:t>1.5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467754461"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25610514"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30492155"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SEO &amp; Responsive</a:t>
            </a:r>
            <a:endParaRPr/>
          </a:p>
        </p:txBody>
      </p:sp>
      <p:sp>
        <p:nvSpPr>
          <p:cNvPr id="26818927"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Référencement et mobile</a:t>
            </a:r>
            <a:endParaRPr/>
          </a:p>
        </p:txBody>
      </p:sp>
      <p:sp>
        <p:nvSpPr>
          <p:cNvPr id="1754940312" name="TextBox 5"/>
          <p:cNvSpPr txBox="1"/>
          <p:nvPr/>
        </p:nvSpPr>
        <p:spPr bwMode="auto">
          <a:xfrm>
            <a:off x="548640" y="1417320"/>
            <a:ext cx="7680960" cy="4846320"/>
          </a:xfrm>
          <a:prstGeom prst="rect">
            <a:avLst/>
          </a:prstGeom>
          <a:noFill/>
        </p:spPr>
        <p:txBody>
          <a:bodyPr wrap="square" anchor="t">
            <a:spAutoFit/>
          </a:bodyPr>
          <a:lstStyle/>
          <a:p>
            <a:pPr algn="l">
              <a:spcAft>
                <a:spcPts val="900"/>
              </a:spcAft>
              <a:defRPr/>
            </a:pPr>
            <a:r>
              <a:rPr sz="1500" b="0">
                <a:solidFill>
                  <a:srgbClr val="4B5563"/>
                </a:solidFill>
                <a:latin typeface="Calibri"/>
              </a:rPr>
              <a:t>•  URLs propres (slugs) et lisibles</a:t>
            </a:r>
            <a:endParaRPr/>
          </a:p>
          <a:p>
            <a:pPr algn="l">
              <a:spcAft>
                <a:spcPts val="900"/>
              </a:spcAft>
              <a:defRPr/>
            </a:pPr>
            <a:r>
              <a:rPr sz="1500" b="0">
                <a:solidFill>
                  <a:srgbClr val="4B5563"/>
                </a:solidFill>
                <a:latin typeface="Calibri"/>
              </a:rPr>
              <a:t>•  Balises meta title / description par page</a:t>
            </a:r>
            <a:endParaRPr/>
          </a:p>
          <a:p>
            <a:pPr algn="l">
              <a:spcAft>
                <a:spcPts val="900"/>
              </a:spcAft>
              <a:defRPr/>
            </a:pPr>
            <a:r>
              <a:rPr sz="1500" b="0">
                <a:solidFill>
                  <a:srgbClr val="4B5563"/>
                </a:solidFill>
                <a:latin typeface="Calibri"/>
              </a:rPr>
              <a:t>•  sitemap.xml généré dynamiquement</a:t>
            </a:r>
            <a:endParaRPr/>
          </a:p>
          <a:p>
            <a:pPr algn="l">
              <a:spcAft>
                <a:spcPts val="900"/>
              </a:spcAft>
              <a:defRPr/>
            </a:pPr>
            <a:r>
              <a:rPr sz="1500" b="0">
                <a:solidFill>
                  <a:srgbClr val="4B5563"/>
                </a:solidFill>
                <a:latin typeface="Calibri"/>
              </a:rPr>
              <a:t>•  robots.txt (bloque admin / compte)</a:t>
            </a:r>
            <a:endParaRPr/>
          </a:p>
          <a:p>
            <a:pPr algn="l">
              <a:spcAft>
                <a:spcPts val="900"/>
              </a:spcAft>
              <a:defRPr/>
            </a:pPr>
            <a:r>
              <a:rPr sz="1500" b="0">
                <a:solidFill>
                  <a:srgbClr val="4B5563"/>
                </a:solidFill>
                <a:latin typeface="Calibri"/>
              </a:rPr>
              <a:t>•  Open Graph + Twitter Card (partage réseaux sociaux)</a:t>
            </a:r>
            <a:endParaRPr/>
          </a:p>
          <a:p>
            <a:pPr algn="l">
              <a:spcAft>
                <a:spcPts val="900"/>
              </a:spcAft>
              <a:defRPr/>
            </a:pPr>
            <a:r>
              <a:rPr sz="1500" b="0">
                <a:solidFill>
                  <a:srgbClr val="4B5563"/>
                </a:solidFill>
                <a:latin typeface="Calibri"/>
              </a:rPr>
              <a:t>•  Responsive mobile-first (Tailwind) + menu burger</a:t>
            </a:r>
            <a:endParaRPr/>
          </a:p>
        </p:txBody>
      </p:sp>
      <p:sp>
        <p:nvSpPr>
          <p:cNvPr id="1626175363" name="Rectangle 6"/>
          <p:cNvSpPr/>
          <p:nvPr/>
        </p:nvSpPr>
        <p:spPr bwMode="auto">
          <a:xfrm>
            <a:off x="8503920" y="1554480"/>
            <a:ext cx="3108960" cy="42062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0956747" name="TextBox 7"/>
          <p:cNvSpPr txBox="1"/>
          <p:nvPr/>
        </p:nvSpPr>
        <p:spPr bwMode="auto">
          <a:xfrm>
            <a:off x="8686800" y="1691640"/>
            <a:ext cx="2743200" cy="365760"/>
          </a:xfrm>
          <a:prstGeom prst="rect">
            <a:avLst/>
          </a:prstGeom>
          <a:noFill/>
        </p:spPr>
        <p:txBody>
          <a:bodyPr wrap="square" anchor="t">
            <a:spAutoFit/>
          </a:bodyPr>
          <a:lstStyle/>
          <a:p>
            <a:pPr algn="l">
              <a:spcAft>
                <a:spcPts val="600"/>
              </a:spcAft>
              <a:defRPr/>
            </a:pPr>
            <a:r>
              <a:rPr sz="1200" b="1">
                <a:solidFill>
                  <a:srgbClr val="92400E"/>
                </a:solidFill>
                <a:latin typeface="Calibri"/>
              </a:rPr>
              <a:t>POINTS VISÉS</a:t>
            </a:r>
            <a:endParaRPr/>
          </a:p>
        </p:txBody>
      </p:sp>
      <p:sp>
        <p:nvSpPr>
          <p:cNvPr id="324141030" name="TextBox 8"/>
          <p:cNvSpPr txBox="1"/>
          <p:nvPr/>
        </p:nvSpPr>
        <p:spPr bwMode="auto">
          <a:xfrm>
            <a:off x="8686800" y="2194560"/>
            <a:ext cx="2743200" cy="3474720"/>
          </a:xfrm>
          <a:prstGeom prst="rect">
            <a:avLst/>
          </a:prstGeom>
          <a:noFill/>
        </p:spPr>
        <p:txBody>
          <a:bodyPr wrap="square" anchor="t">
            <a:spAutoFit/>
          </a:bodyPr>
          <a:lstStyle/>
          <a:p>
            <a:pPr algn="l">
              <a:spcAft>
                <a:spcPts val="300"/>
              </a:spcAft>
              <a:defRPr/>
            </a:pPr>
            <a:r>
              <a:rPr sz="1250" b="0">
                <a:solidFill>
                  <a:srgbClr val="1F2937"/>
                </a:solidFill>
                <a:latin typeface="Calibri"/>
              </a:rPr>
              <a:t>SEO</a:t>
            </a:r>
            <a:endParaRPr/>
          </a:p>
          <a:p>
            <a:pPr algn="l">
              <a:spcAft>
                <a:spcPts val="300"/>
              </a:spcAft>
              <a:defRPr/>
            </a:pPr>
            <a:r>
              <a:rPr sz="1250" b="1">
                <a:solidFill>
                  <a:srgbClr val="167A3B"/>
                </a:solidFill>
                <a:latin typeface="Calibri"/>
              </a:rPr>
              <a:t>1</a:t>
            </a:r>
            <a:endParaRPr/>
          </a:p>
          <a:p>
            <a:pPr algn="l">
              <a:spcAft>
                <a:spcPts val="300"/>
              </a:spcAft>
              <a:defRPr/>
            </a:pPr>
            <a:r>
              <a:rPr sz="1250" b="0">
                <a:solidFill>
                  <a:srgbClr val="1F2937"/>
                </a:solidFill>
                <a:latin typeface="Calibri"/>
              </a:rPr>
              <a:t>Responsive</a:t>
            </a:r>
            <a:endParaRPr/>
          </a:p>
          <a:p>
            <a:pPr algn="l">
              <a:spcAft>
                <a:spcPts val="300"/>
              </a:spcAft>
              <a:defRPr/>
            </a:pPr>
            <a:r>
              <a:rPr sz="1250" b="1">
                <a:solidFill>
                  <a:srgbClr val="167A3B"/>
                </a:solidFill>
                <a:latin typeface="Calibri"/>
              </a:rPr>
              <a:t>1.5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73254327"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44980358"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87390464"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Industrialisation</a:t>
            </a:r>
            <a:endParaRPr/>
          </a:p>
        </p:txBody>
      </p:sp>
      <p:sp>
        <p:nvSpPr>
          <p:cNvPr id="1380431883"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Docker · CI · Tests</a:t>
            </a:r>
            <a:endParaRPr/>
          </a:p>
        </p:txBody>
      </p:sp>
      <p:sp>
        <p:nvSpPr>
          <p:cNvPr id="374282725" name="TextBox 5"/>
          <p:cNvSpPr txBox="1"/>
          <p:nvPr/>
        </p:nvSpPr>
        <p:spPr bwMode="auto">
          <a:xfrm>
            <a:off x="548640" y="1417320"/>
            <a:ext cx="7680960" cy="4846320"/>
          </a:xfrm>
          <a:prstGeom prst="rect">
            <a:avLst/>
          </a:prstGeom>
          <a:noFill/>
        </p:spPr>
        <p:txBody>
          <a:bodyPr wrap="square" anchor="t">
            <a:spAutoFit/>
          </a:bodyPr>
          <a:lstStyle/>
          <a:p>
            <a:pPr algn="l">
              <a:spcAft>
                <a:spcPts val="900"/>
              </a:spcAft>
              <a:defRPr/>
            </a:pPr>
            <a:r>
              <a:rPr sz="1500" b="0">
                <a:solidFill>
                  <a:srgbClr val="4B5563"/>
                </a:solidFill>
                <a:latin typeface="Calibri"/>
              </a:rPr>
              <a:t>•  Dockerisation complète (5 services)</a:t>
            </a:r>
            <a:endParaRPr/>
          </a:p>
          <a:p>
            <a:pPr algn="l">
              <a:spcAft>
                <a:spcPts val="900"/>
              </a:spcAft>
              <a:defRPr/>
            </a:pPr>
            <a:r>
              <a:rPr sz="1500" b="0">
                <a:solidFill>
                  <a:srgbClr val="4B5563"/>
                </a:solidFill>
                <a:latin typeface="Calibri"/>
              </a:rPr>
              <a:t>•  Dockerfile custom pour PHP 8.3</a:t>
            </a:r>
            <a:endParaRPr/>
          </a:p>
          <a:p>
            <a:pPr algn="l">
              <a:spcAft>
                <a:spcPts val="900"/>
              </a:spcAft>
              <a:defRPr/>
            </a:pPr>
            <a:r>
              <a:rPr sz="1500" b="0">
                <a:solidFill>
                  <a:srgbClr val="4B5563"/>
                </a:solidFill>
                <a:latin typeface="Calibri"/>
              </a:rPr>
              <a:t>•  Migrations Doctrine versionnées</a:t>
            </a:r>
            <a:endParaRPr/>
          </a:p>
          <a:p>
            <a:pPr algn="l">
              <a:spcAft>
                <a:spcPts val="900"/>
              </a:spcAft>
              <a:defRPr/>
            </a:pPr>
            <a:r>
              <a:rPr sz="1500" b="0">
                <a:solidFill>
                  <a:srgbClr val="4B5563"/>
                </a:solidFill>
                <a:latin typeface="Calibri"/>
              </a:rPr>
              <a:t>•  Tests automatisés (PHPUnit)</a:t>
            </a:r>
            <a:endParaRPr/>
          </a:p>
          <a:p>
            <a:pPr algn="l">
              <a:spcAft>
                <a:spcPts val="900"/>
              </a:spcAft>
              <a:defRPr/>
            </a:pPr>
            <a:r>
              <a:rPr sz="1500" b="0">
                <a:solidFill>
                  <a:srgbClr val="4B5563"/>
                </a:solidFill>
                <a:latin typeface="Calibri"/>
              </a:rPr>
              <a:t>•  Pipeline CI GitHub Actions : lint Twig/YAML + tests à chaque push</a:t>
            </a:r>
            <a:endParaRPr/>
          </a:p>
          <a:p>
            <a:pPr algn="l">
              <a:spcAft>
                <a:spcPts val="900"/>
              </a:spcAft>
              <a:defRPr/>
            </a:pPr>
            <a:r>
              <a:rPr sz="1500" b="0">
                <a:solidFill>
                  <a:srgbClr val="4B5563"/>
                </a:solidFill>
                <a:latin typeface="Calibri"/>
              </a:rPr>
              <a:t>•  Pattern MVC respecté de bout en bout</a:t>
            </a:r>
            <a:endParaRPr/>
          </a:p>
        </p:txBody>
      </p:sp>
      <p:sp>
        <p:nvSpPr>
          <p:cNvPr id="1850617842" name="Rectangle 6"/>
          <p:cNvSpPr/>
          <p:nvPr/>
        </p:nvSpPr>
        <p:spPr bwMode="auto">
          <a:xfrm>
            <a:off x="8503920" y="1554480"/>
            <a:ext cx="3108960" cy="420624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80684080" name="TextBox 7"/>
          <p:cNvSpPr txBox="1"/>
          <p:nvPr/>
        </p:nvSpPr>
        <p:spPr bwMode="auto">
          <a:xfrm>
            <a:off x="8686800" y="1691640"/>
            <a:ext cx="2743200" cy="365760"/>
          </a:xfrm>
          <a:prstGeom prst="rect">
            <a:avLst/>
          </a:prstGeom>
          <a:noFill/>
        </p:spPr>
        <p:txBody>
          <a:bodyPr wrap="square" anchor="t">
            <a:spAutoFit/>
          </a:bodyPr>
          <a:lstStyle/>
          <a:p>
            <a:pPr algn="l">
              <a:spcAft>
                <a:spcPts val="600"/>
              </a:spcAft>
              <a:defRPr/>
            </a:pPr>
            <a:r>
              <a:rPr sz="1200" b="1">
                <a:solidFill>
                  <a:srgbClr val="92400E"/>
                </a:solidFill>
                <a:latin typeface="Calibri"/>
              </a:rPr>
              <a:t>POINTS VISÉS</a:t>
            </a:r>
            <a:endParaRPr/>
          </a:p>
        </p:txBody>
      </p:sp>
      <p:sp>
        <p:nvSpPr>
          <p:cNvPr id="2054185541" name="TextBox 8"/>
          <p:cNvSpPr txBox="1"/>
          <p:nvPr/>
        </p:nvSpPr>
        <p:spPr bwMode="auto">
          <a:xfrm>
            <a:off x="8686800" y="2194560"/>
            <a:ext cx="2743200" cy="3474720"/>
          </a:xfrm>
          <a:prstGeom prst="rect">
            <a:avLst/>
          </a:prstGeom>
          <a:noFill/>
        </p:spPr>
        <p:txBody>
          <a:bodyPr wrap="square" anchor="t">
            <a:spAutoFit/>
          </a:bodyPr>
          <a:lstStyle/>
          <a:p>
            <a:pPr algn="l">
              <a:spcAft>
                <a:spcPts val="300"/>
              </a:spcAft>
              <a:defRPr/>
            </a:pPr>
            <a:r>
              <a:rPr sz="1250" b="0">
                <a:solidFill>
                  <a:srgbClr val="1F2937"/>
                </a:solidFill>
                <a:latin typeface="Calibri"/>
              </a:rPr>
              <a:t>Dockerisation</a:t>
            </a:r>
            <a:endParaRPr/>
          </a:p>
          <a:p>
            <a:pPr algn="l">
              <a:spcAft>
                <a:spcPts val="300"/>
              </a:spcAft>
              <a:defRPr/>
            </a:pPr>
            <a:r>
              <a:rPr sz="1250" b="1">
                <a:solidFill>
                  <a:srgbClr val="167A3B"/>
                </a:solidFill>
                <a:latin typeface="Calibri"/>
              </a:rPr>
              <a:t>1.5</a:t>
            </a:r>
            <a:endParaRPr/>
          </a:p>
          <a:p>
            <a:pPr algn="l">
              <a:spcAft>
                <a:spcPts val="300"/>
              </a:spcAft>
              <a:defRPr/>
            </a:pPr>
            <a:r>
              <a:rPr sz="1250" b="0">
                <a:solidFill>
                  <a:srgbClr val="1F2937"/>
                </a:solidFill>
                <a:latin typeface="Calibri"/>
              </a:rPr>
              <a:t>Pipeline CI/CD</a:t>
            </a:r>
            <a:endParaRPr/>
          </a:p>
          <a:p>
            <a:pPr algn="l">
              <a:spcAft>
                <a:spcPts val="300"/>
              </a:spcAft>
              <a:defRPr/>
            </a:pPr>
            <a:r>
              <a:rPr sz="1250" b="1">
                <a:solidFill>
                  <a:srgbClr val="167A3B"/>
                </a:solidFill>
                <a:latin typeface="Calibri"/>
              </a:rPr>
              <a:t>1.5</a:t>
            </a:r>
            <a:endParaRPr/>
          </a:p>
          <a:p>
            <a:pPr algn="l">
              <a:spcAft>
                <a:spcPts val="300"/>
              </a:spcAft>
              <a:defRPr/>
            </a:pPr>
            <a:r>
              <a:rPr sz="1250" b="0">
                <a:solidFill>
                  <a:srgbClr val="1F2937"/>
                </a:solidFill>
                <a:latin typeface="Calibri"/>
              </a:rPr>
              <a:t>Pattern MVC</a:t>
            </a:r>
            <a:endParaRPr/>
          </a:p>
          <a:p>
            <a:pPr algn="l">
              <a:spcAft>
                <a:spcPts val="300"/>
              </a:spcAft>
              <a:defRPr/>
            </a:pPr>
            <a:r>
              <a:rPr sz="1250" b="1">
                <a:solidFill>
                  <a:srgbClr val="167A3B"/>
                </a:solidFill>
                <a:latin typeface="Calibri"/>
              </a:rPr>
              <a:t>3</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53391017"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37708538"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26675403"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Auto-évaluation — fonctionnalités &amp; points</a:t>
            </a:r>
            <a:endParaRPr/>
          </a:p>
        </p:txBody>
      </p:sp>
      <p:sp>
        <p:nvSpPr>
          <p:cNvPr id="2159454"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Sur le barème</a:t>
            </a:r>
            <a:endParaRPr/>
          </a:p>
        </p:txBody>
      </p:sp>
      <p:sp>
        <p:nvSpPr>
          <p:cNvPr id="269137449" name="Rectangle 5"/>
          <p:cNvSpPr/>
          <p:nvPr/>
        </p:nvSpPr>
        <p:spPr bwMode="auto">
          <a:xfrm>
            <a:off x="548640" y="1280160"/>
            <a:ext cx="11064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3156590" name="TextBox 6"/>
          <p:cNvSpPr txBox="1"/>
          <p:nvPr/>
        </p:nvSpPr>
        <p:spPr bwMode="auto">
          <a:xfrm>
            <a:off x="685800" y="1280160"/>
            <a:ext cx="9418320" cy="365760"/>
          </a:xfrm>
          <a:prstGeom prst="rect">
            <a:avLst/>
          </a:prstGeom>
          <a:noFill/>
        </p:spPr>
        <p:txBody>
          <a:bodyPr wrap="square" anchor="ctr">
            <a:spAutoFit/>
          </a:bodyPr>
          <a:lstStyle/>
          <a:p>
            <a:pPr algn="l">
              <a:spcAft>
                <a:spcPts val="600"/>
              </a:spcAft>
              <a:defRPr/>
            </a:pPr>
            <a:r>
              <a:rPr sz="1250" b="0">
                <a:solidFill>
                  <a:srgbClr val="1F2937"/>
                </a:solidFill>
                <a:latin typeface="Calibri"/>
              </a:rPr>
              <a:t>✓  Authentification (connexion, inscription, mail, mdp oublié, déconnexion)</a:t>
            </a:r>
            <a:endParaRPr/>
          </a:p>
        </p:txBody>
      </p:sp>
      <p:sp>
        <p:nvSpPr>
          <p:cNvPr id="952681713" name="TextBox 7"/>
          <p:cNvSpPr txBox="1"/>
          <p:nvPr/>
        </p:nvSpPr>
        <p:spPr bwMode="auto">
          <a:xfrm>
            <a:off x="10149840" y="1280160"/>
            <a:ext cx="1371600" cy="365760"/>
          </a:xfrm>
          <a:prstGeom prst="rect">
            <a:avLst/>
          </a:prstGeom>
          <a:noFill/>
        </p:spPr>
        <p:txBody>
          <a:bodyPr wrap="square" anchor="ctr">
            <a:spAutoFit/>
          </a:bodyPr>
          <a:lstStyle/>
          <a:p>
            <a:pPr algn="r">
              <a:spcAft>
                <a:spcPts val="600"/>
              </a:spcAft>
              <a:defRPr/>
            </a:pPr>
            <a:r>
              <a:rPr sz="1250" b="1">
                <a:solidFill>
                  <a:srgbClr val="167A3B"/>
                </a:solidFill>
                <a:latin typeface="Calibri"/>
              </a:rPr>
              <a:t>4 pt</a:t>
            </a:r>
            <a:endParaRPr/>
          </a:p>
        </p:txBody>
      </p:sp>
      <p:sp>
        <p:nvSpPr>
          <p:cNvPr id="2135496747" name="Rectangle 8"/>
          <p:cNvSpPr/>
          <p:nvPr/>
        </p:nvSpPr>
        <p:spPr bwMode="auto">
          <a:xfrm>
            <a:off x="548640" y="1655063"/>
            <a:ext cx="11064240" cy="365760"/>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58807247" name="TextBox 9"/>
          <p:cNvSpPr txBox="1"/>
          <p:nvPr/>
        </p:nvSpPr>
        <p:spPr bwMode="auto">
          <a:xfrm>
            <a:off x="685800" y="1655063"/>
            <a:ext cx="9418320" cy="365760"/>
          </a:xfrm>
          <a:prstGeom prst="rect">
            <a:avLst/>
          </a:prstGeom>
          <a:noFill/>
        </p:spPr>
        <p:txBody>
          <a:bodyPr wrap="square" anchor="ctr">
            <a:spAutoFit/>
          </a:bodyPr>
          <a:lstStyle/>
          <a:p>
            <a:pPr algn="l">
              <a:spcAft>
                <a:spcPts val="600"/>
              </a:spcAft>
              <a:defRPr/>
            </a:pPr>
            <a:r>
              <a:rPr sz="1250" b="0">
                <a:solidFill>
                  <a:srgbClr val="1F2937"/>
                </a:solidFill>
                <a:latin typeface="Calibri"/>
              </a:rPr>
              <a:t>✓  Gestion / CRUD (produits + catégories + commandes + users + avis)</a:t>
            </a:r>
            <a:endParaRPr/>
          </a:p>
        </p:txBody>
      </p:sp>
      <p:sp>
        <p:nvSpPr>
          <p:cNvPr id="1115229717" name="TextBox 10"/>
          <p:cNvSpPr txBox="1"/>
          <p:nvPr/>
        </p:nvSpPr>
        <p:spPr bwMode="auto">
          <a:xfrm>
            <a:off x="10149840" y="1655063"/>
            <a:ext cx="1371600" cy="365760"/>
          </a:xfrm>
          <a:prstGeom prst="rect">
            <a:avLst/>
          </a:prstGeom>
          <a:noFill/>
        </p:spPr>
        <p:txBody>
          <a:bodyPr wrap="square" anchor="ctr">
            <a:spAutoFit/>
          </a:bodyPr>
          <a:lstStyle/>
          <a:p>
            <a:pPr algn="r">
              <a:spcAft>
                <a:spcPts val="600"/>
              </a:spcAft>
              <a:defRPr/>
            </a:pPr>
            <a:r>
              <a:rPr sz="1250" b="1">
                <a:solidFill>
                  <a:srgbClr val="167A3B"/>
                </a:solidFill>
                <a:latin typeface="Calibri"/>
              </a:rPr>
              <a:t>≈ 7.5 pt</a:t>
            </a:r>
            <a:endParaRPr/>
          </a:p>
        </p:txBody>
      </p:sp>
      <p:sp>
        <p:nvSpPr>
          <p:cNvPr id="1121614324" name="Rectangle 11"/>
          <p:cNvSpPr/>
          <p:nvPr/>
        </p:nvSpPr>
        <p:spPr bwMode="auto">
          <a:xfrm>
            <a:off x="548640" y="2029968"/>
            <a:ext cx="11064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78365881" name="TextBox 12"/>
          <p:cNvSpPr txBox="1"/>
          <p:nvPr/>
        </p:nvSpPr>
        <p:spPr bwMode="auto">
          <a:xfrm>
            <a:off x="685800" y="2029968"/>
            <a:ext cx="9418320" cy="365760"/>
          </a:xfrm>
          <a:prstGeom prst="rect">
            <a:avLst/>
          </a:prstGeom>
          <a:noFill/>
        </p:spPr>
        <p:txBody>
          <a:bodyPr wrap="square" anchor="ctr">
            <a:spAutoFit/>
          </a:bodyPr>
          <a:lstStyle/>
          <a:p>
            <a:pPr algn="l">
              <a:spcAft>
                <a:spcPts val="600"/>
              </a:spcAft>
              <a:defRPr/>
            </a:pPr>
            <a:r>
              <a:rPr sz="1250" b="0">
                <a:solidFill>
                  <a:srgbClr val="1F2937"/>
                </a:solidFill>
                <a:latin typeface="Calibri"/>
              </a:rPr>
              <a:t>✓  Pages de présentation de données (catalogue, fiche, à propos, contact)</a:t>
            </a:r>
            <a:endParaRPr/>
          </a:p>
        </p:txBody>
      </p:sp>
      <p:sp>
        <p:nvSpPr>
          <p:cNvPr id="1861416810" name="TextBox 13"/>
          <p:cNvSpPr txBox="1"/>
          <p:nvPr/>
        </p:nvSpPr>
        <p:spPr bwMode="auto">
          <a:xfrm>
            <a:off x="10149840" y="2029968"/>
            <a:ext cx="1371600" cy="365760"/>
          </a:xfrm>
          <a:prstGeom prst="rect">
            <a:avLst/>
          </a:prstGeom>
          <a:noFill/>
        </p:spPr>
        <p:txBody>
          <a:bodyPr wrap="square" anchor="ctr">
            <a:spAutoFit/>
          </a:bodyPr>
          <a:lstStyle/>
          <a:p>
            <a:pPr algn="r">
              <a:spcAft>
                <a:spcPts val="600"/>
              </a:spcAft>
              <a:defRPr/>
            </a:pPr>
            <a:r>
              <a:rPr sz="1250" b="1">
                <a:solidFill>
                  <a:srgbClr val="167A3B"/>
                </a:solidFill>
                <a:latin typeface="Calibri"/>
              </a:rPr>
              <a:t>≈ 3 pt</a:t>
            </a:r>
            <a:endParaRPr/>
          </a:p>
        </p:txBody>
      </p:sp>
      <p:sp>
        <p:nvSpPr>
          <p:cNvPr id="1196314533" name="Rectangle 14"/>
          <p:cNvSpPr/>
          <p:nvPr/>
        </p:nvSpPr>
        <p:spPr bwMode="auto">
          <a:xfrm>
            <a:off x="548640" y="2404872"/>
            <a:ext cx="11064240" cy="365760"/>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3755144" name="TextBox 15"/>
          <p:cNvSpPr txBox="1"/>
          <p:nvPr/>
        </p:nvSpPr>
        <p:spPr bwMode="auto">
          <a:xfrm>
            <a:off x="685800" y="2404872"/>
            <a:ext cx="9418320" cy="365760"/>
          </a:xfrm>
          <a:prstGeom prst="rect">
            <a:avLst/>
          </a:prstGeom>
          <a:noFill/>
        </p:spPr>
        <p:txBody>
          <a:bodyPr wrap="square" anchor="ctr">
            <a:spAutoFit/>
          </a:bodyPr>
          <a:lstStyle/>
          <a:p>
            <a:pPr algn="l">
              <a:spcAft>
                <a:spcPts val="600"/>
              </a:spcAft>
              <a:defRPr/>
            </a:pPr>
            <a:r>
              <a:rPr sz="1250" b="0">
                <a:solidFill>
                  <a:srgbClr val="1F2937"/>
                </a:solidFill>
                <a:latin typeface="Calibri"/>
              </a:rPr>
              <a:t>✓  Envoi de mails</a:t>
            </a:r>
            <a:endParaRPr/>
          </a:p>
        </p:txBody>
      </p:sp>
      <p:sp>
        <p:nvSpPr>
          <p:cNvPr id="437802134" name="TextBox 16"/>
          <p:cNvSpPr txBox="1"/>
          <p:nvPr/>
        </p:nvSpPr>
        <p:spPr bwMode="auto">
          <a:xfrm>
            <a:off x="10149840" y="2404872"/>
            <a:ext cx="1371600" cy="365760"/>
          </a:xfrm>
          <a:prstGeom prst="rect">
            <a:avLst/>
          </a:prstGeom>
          <a:noFill/>
        </p:spPr>
        <p:txBody>
          <a:bodyPr wrap="square" anchor="ctr">
            <a:spAutoFit/>
          </a:bodyPr>
          <a:lstStyle/>
          <a:p>
            <a:pPr algn="r">
              <a:spcAft>
                <a:spcPts val="600"/>
              </a:spcAft>
              <a:defRPr/>
            </a:pPr>
            <a:r>
              <a:rPr sz="1250" b="1">
                <a:solidFill>
                  <a:srgbClr val="167A3B"/>
                </a:solidFill>
                <a:latin typeface="Calibri"/>
              </a:rPr>
              <a:t>2 pt</a:t>
            </a:r>
            <a:endParaRPr/>
          </a:p>
        </p:txBody>
      </p:sp>
      <p:sp>
        <p:nvSpPr>
          <p:cNvPr id="132505628" name="Rectangle 17"/>
          <p:cNvSpPr/>
          <p:nvPr/>
        </p:nvSpPr>
        <p:spPr bwMode="auto">
          <a:xfrm>
            <a:off x="548640" y="2779776"/>
            <a:ext cx="11064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1798258" name="TextBox 18"/>
          <p:cNvSpPr txBox="1"/>
          <p:nvPr/>
        </p:nvSpPr>
        <p:spPr bwMode="auto">
          <a:xfrm>
            <a:off x="685800" y="2779776"/>
            <a:ext cx="9418320" cy="365760"/>
          </a:xfrm>
          <a:prstGeom prst="rect">
            <a:avLst/>
          </a:prstGeom>
          <a:noFill/>
        </p:spPr>
        <p:txBody>
          <a:bodyPr wrap="square" anchor="ctr">
            <a:spAutoFit/>
          </a:bodyPr>
          <a:lstStyle/>
          <a:p>
            <a:pPr algn="l">
              <a:spcAft>
                <a:spcPts val="600"/>
              </a:spcAft>
              <a:defRPr/>
            </a:pPr>
            <a:r>
              <a:rPr sz="1250" b="0">
                <a:solidFill>
                  <a:srgbClr val="1F2937"/>
                </a:solidFill>
                <a:latin typeface="Calibri"/>
              </a:rPr>
              <a:t>✓  Upload de fichiers (images produits)</a:t>
            </a:r>
            <a:endParaRPr/>
          </a:p>
        </p:txBody>
      </p:sp>
      <p:sp>
        <p:nvSpPr>
          <p:cNvPr id="363529819" name="TextBox 19"/>
          <p:cNvSpPr txBox="1"/>
          <p:nvPr/>
        </p:nvSpPr>
        <p:spPr bwMode="auto">
          <a:xfrm>
            <a:off x="10149840" y="2779776"/>
            <a:ext cx="1371600" cy="365760"/>
          </a:xfrm>
          <a:prstGeom prst="rect">
            <a:avLst/>
          </a:prstGeom>
          <a:noFill/>
        </p:spPr>
        <p:txBody>
          <a:bodyPr wrap="square" anchor="ctr">
            <a:spAutoFit/>
          </a:bodyPr>
          <a:lstStyle/>
          <a:p>
            <a:pPr algn="r">
              <a:spcAft>
                <a:spcPts val="600"/>
              </a:spcAft>
              <a:defRPr/>
            </a:pPr>
            <a:r>
              <a:rPr sz="1250" b="1">
                <a:solidFill>
                  <a:srgbClr val="167A3B"/>
                </a:solidFill>
                <a:latin typeface="Calibri"/>
              </a:rPr>
              <a:t>2 pt</a:t>
            </a:r>
            <a:endParaRPr/>
          </a:p>
        </p:txBody>
      </p:sp>
      <p:sp>
        <p:nvSpPr>
          <p:cNvPr id="1268584861" name="Rectangle 20"/>
          <p:cNvSpPr/>
          <p:nvPr/>
        </p:nvSpPr>
        <p:spPr bwMode="auto">
          <a:xfrm>
            <a:off x="548640" y="3154680"/>
            <a:ext cx="11064240" cy="365760"/>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46805937" name="TextBox 21"/>
          <p:cNvSpPr txBox="1"/>
          <p:nvPr/>
        </p:nvSpPr>
        <p:spPr bwMode="auto">
          <a:xfrm>
            <a:off x="685800" y="3154680"/>
            <a:ext cx="9418320" cy="365760"/>
          </a:xfrm>
          <a:prstGeom prst="rect">
            <a:avLst/>
          </a:prstGeom>
          <a:noFill/>
        </p:spPr>
        <p:txBody>
          <a:bodyPr wrap="square" anchor="ctr">
            <a:spAutoFit/>
          </a:bodyPr>
          <a:lstStyle/>
          <a:p>
            <a:pPr algn="l">
              <a:spcAft>
                <a:spcPts val="600"/>
              </a:spcAft>
              <a:defRPr/>
            </a:pPr>
            <a:r>
              <a:rPr sz="1250" b="0">
                <a:solidFill>
                  <a:srgbClr val="1F2937"/>
                </a:solidFill>
                <a:latin typeface="Calibri"/>
              </a:rPr>
              <a:t>✓  Sécurité / failles SQL</a:t>
            </a:r>
            <a:endParaRPr/>
          </a:p>
        </p:txBody>
      </p:sp>
      <p:sp>
        <p:nvSpPr>
          <p:cNvPr id="526104305" name="TextBox 22"/>
          <p:cNvSpPr txBox="1"/>
          <p:nvPr/>
        </p:nvSpPr>
        <p:spPr bwMode="auto">
          <a:xfrm>
            <a:off x="10149840" y="3154680"/>
            <a:ext cx="1371600" cy="365760"/>
          </a:xfrm>
          <a:prstGeom prst="rect">
            <a:avLst/>
          </a:prstGeom>
          <a:noFill/>
        </p:spPr>
        <p:txBody>
          <a:bodyPr wrap="square" anchor="ctr">
            <a:spAutoFit/>
          </a:bodyPr>
          <a:lstStyle/>
          <a:p>
            <a:pPr algn="r">
              <a:spcAft>
                <a:spcPts val="600"/>
              </a:spcAft>
              <a:defRPr/>
            </a:pPr>
            <a:r>
              <a:rPr sz="1250" b="1">
                <a:solidFill>
                  <a:srgbClr val="167A3B"/>
                </a:solidFill>
                <a:latin typeface="Calibri"/>
              </a:rPr>
              <a:t>1.5 pt</a:t>
            </a:r>
            <a:endParaRPr/>
          </a:p>
        </p:txBody>
      </p:sp>
      <p:sp>
        <p:nvSpPr>
          <p:cNvPr id="1294727676" name="Rectangle 23"/>
          <p:cNvSpPr/>
          <p:nvPr/>
        </p:nvSpPr>
        <p:spPr bwMode="auto">
          <a:xfrm>
            <a:off x="548640" y="3529584"/>
            <a:ext cx="11064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0125219" name="TextBox 24"/>
          <p:cNvSpPr txBox="1"/>
          <p:nvPr/>
        </p:nvSpPr>
        <p:spPr bwMode="auto">
          <a:xfrm>
            <a:off x="685800" y="3529584"/>
            <a:ext cx="9418320" cy="365760"/>
          </a:xfrm>
          <a:prstGeom prst="rect">
            <a:avLst/>
          </a:prstGeom>
          <a:noFill/>
        </p:spPr>
        <p:txBody>
          <a:bodyPr wrap="square" anchor="ctr">
            <a:spAutoFit/>
          </a:bodyPr>
          <a:lstStyle/>
          <a:p>
            <a:pPr algn="l">
              <a:spcAft>
                <a:spcPts val="600"/>
              </a:spcAft>
              <a:defRPr/>
            </a:pPr>
            <a:r>
              <a:rPr sz="1250" b="0">
                <a:solidFill>
                  <a:srgbClr val="1F2937"/>
                </a:solidFill>
                <a:latin typeface="Calibri"/>
              </a:rPr>
              <a:t>✓  SEO (OpenGraph, sitemap)</a:t>
            </a:r>
            <a:endParaRPr/>
          </a:p>
        </p:txBody>
      </p:sp>
      <p:sp>
        <p:nvSpPr>
          <p:cNvPr id="592056582" name="TextBox 25"/>
          <p:cNvSpPr txBox="1"/>
          <p:nvPr/>
        </p:nvSpPr>
        <p:spPr bwMode="auto">
          <a:xfrm>
            <a:off x="10149840" y="3529584"/>
            <a:ext cx="1371600" cy="365760"/>
          </a:xfrm>
          <a:prstGeom prst="rect">
            <a:avLst/>
          </a:prstGeom>
          <a:noFill/>
        </p:spPr>
        <p:txBody>
          <a:bodyPr wrap="square" anchor="ctr">
            <a:spAutoFit/>
          </a:bodyPr>
          <a:lstStyle/>
          <a:p>
            <a:pPr algn="r">
              <a:spcAft>
                <a:spcPts val="600"/>
              </a:spcAft>
              <a:defRPr/>
            </a:pPr>
            <a:r>
              <a:rPr sz="1250" b="1">
                <a:solidFill>
                  <a:srgbClr val="167A3B"/>
                </a:solidFill>
                <a:latin typeface="Calibri"/>
              </a:rPr>
              <a:t>1 pt</a:t>
            </a:r>
            <a:endParaRPr/>
          </a:p>
        </p:txBody>
      </p:sp>
      <p:sp>
        <p:nvSpPr>
          <p:cNvPr id="968264830" name="Rectangle 26"/>
          <p:cNvSpPr/>
          <p:nvPr/>
        </p:nvSpPr>
        <p:spPr bwMode="auto">
          <a:xfrm>
            <a:off x="548640" y="3904488"/>
            <a:ext cx="11064240" cy="365760"/>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83861" name="TextBox 27"/>
          <p:cNvSpPr txBox="1"/>
          <p:nvPr/>
        </p:nvSpPr>
        <p:spPr bwMode="auto">
          <a:xfrm>
            <a:off x="685800" y="3904488"/>
            <a:ext cx="9418320" cy="365760"/>
          </a:xfrm>
          <a:prstGeom prst="rect">
            <a:avLst/>
          </a:prstGeom>
          <a:noFill/>
        </p:spPr>
        <p:txBody>
          <a:bodyPr wrap="square" anchor="ctr">
            <a:spAutoFit/>
          </a:bodyPr>
          <a:lstStyle/>
          <a:p>
            <a:pPr algn="l">
              <a:spcAft>
                <a:spcPts val="600"/>
              </a:spcAft>
              <a:defRPr/>
            </a:pPr>
            <a:r>
              <a:rPr sz="1250" b="0">
                <a:solidFill>
                  <a:srgbClr val="1F2937"/>
                </a:solidFill>
                <a:latin typeface="Calibri"/>
              </a:rPr>
              <a:t>✓  Responsive</a:t>
            </a:r>
            <a:endParaRPr/>
          </a:p>
        </p:txBody>
      </p:sp>
      <p:sp>
        <p:nvSpPr>
          <p:cNvPr id="1603179127" name="TextBox 28"/>
          <p:cNvSpPr txBox="1"/>
          <p:nvPr/>
        </p:nvSpPr>
        <p:spPr bwMode="auto">
          <a:xfrm>
            <a:off x="10149840" y="3904488"/>
            <a:ext cx="1371600" cy="365760"/>
          </a:xfrm>
          <a:prstGeom prst="rect">
            <a:avLst/>
          </a:prstGeom>
          <a:noFill/>
        </p:spPr>
        <p:txBody>
          <a:bodyPr wrap="square" anchor="ctr">
            <a:spAutoFit/>
          </a:bodyPr>
          <a:lstStyle/>
          <a:p>
            <a:pPr algn="r">
              <a:spcAft>
                <a:spcPts val="600"/>
              </a:spcAft>
              <a:defRPr/>
            </a:pPr>
            <a:r>
              <a:rPr sz="1250" b="1">
                <a:solidFill>
                  <a:srgbClr val="167A3B"/>
                </a:solidFill>
                <a:latin typeface="Calibri"/>
              </a:rPr>
              <a:t>1.5 pt</a:t>
            </a:r>
            <a:endParaRPr/>
          </a:p>
        </p:txBody>
      </p:sp>
      <p:sp>
        <p:nvSpPr>
          <p:cNvPr id="336540228" name="Rectangle 29"/>
          <p:cNvSpPr/>
          <p:nvPr/>
        </p:nvSpPr>
        <p:spPr bwMode="auto">
          <a:xfrm>
            <a:off x="548640" y="4279392"/>
            <a:ext cx="11064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0254305" name="TextBox 30"/>
          <p:cNvSpPr txBox="1"/>
          <p:nvPr/>
        </p:nvSpPr>
        <p:spPr bwMode="auto">
          <a:xfrm>
            <a:off x="685800" y="4279392"/>
            <a:ext cx="9418320" cy="365760"/>
          </a:xfrm>
          <a:prstGeom prst="rect">
            <a:avLst/>
          </a:prstGeom>
          <a:noFill/>
        </p:spPr>
        <p:txBody>
          <a:bodyPr wrap="square" anchor="ctr">
            <a:spAutoFit/>
          </a:bodyPr>
          <a:lstStyle/>
          <a:p>
            <a:pPr algn="l">
              <a:spcAft>
                <a:spcPts val="600"/>
              </a:spcAft>
              <a:defRPr/>
            </a:pPr>
            <a:r>
              <a:rPr sz="1250" b="0">
                <a:solidFill>
                  <a:srgbClr val="1F2937"/>
                </a:solidFill>
                <a:latin typeface="Calibri"/>
              </a:rPr>
              <a:t>✓  Pattern MVC</a:t>
            </a:r>
            <a:endParaRPr/>
          </a:p>
        </p:txBody>
      </p:sp>
      <p:sp>
        <p:nvSpPr>
          <p:cNvPr id="1314732362" name="TextBox 31"/>
          <p:cNvSpPr txBox="1"/>
          <p:nvPr/>
        </p:nvSpPr>
        <p:spPr bwMode="auto">
          <a:xfrm>
            <a:off x="10149840" y="4279392"/>
            <a:ext cx="1371600" cy="365760"/>
          </a:xfrm>
          <a:prstGeom prst="rect">
            <a:avLst/>
          </a:prstGeom>
          <a:noFill/>
        </p:spPr>
        <p:txBody>
          <a:bodyPr wrap="square" anchor="ctr">
            <a:spAutoFit/>
          </a:bodyPr>
          <a:lstStyle/>
          <a:p>
            <a:pPr algn="r">
              <a:spcAft>
                <a:spcPts val="600"/>
              </a:spcAft>
              <a:defRPr/>
            </a:pPr>
            <a:r>
              <a:rPr sz="1250" b="1">
                <a:solidFill>
                  <a:srgbClr val="167A3B"/>
                </a:solidFill>
                <a:latin typeface="Calibri"/>
              </a:rPr>
              <a:t>3 pt</a:t>
            </a:r>
            <a:endParaRPr/>
          </a:p>
        </p:txBody>
      </p:sp>
      <p:sp>
        <p:nvSpPr>
          <p:cNvPr id="864862734" name="Rectangle 32"/>
          <p:cNvSpPr/>
          <p:nvPr/>
        </p:nvSpPr>
        <p:spPr bwMode="auto">
          <a:xfrm>
            <a:off x="548640" y="4654296"/>
            <a:ext cx="11064240" cy="365760"/>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1773469" name="TextBox 33"/>
          <p:cNvSpPr txBox="1"/>
          <p:nvPr/>
        </p:nvSpPr>
        <p:spPr bwMode="auto">
          <a:xfrm>
            <a:off x="685800" y="4654296"/>
            <a:ext cx="9418320" cy="365760"/>
          </a:xfrm>
          <a:prstGeom prst="rect">
            <a:avLst/>
          </a:prstGeom>
          <a:noFill/>
        </p:spPr>
        <p:txBody>
          <a:bodyPr wrap="square" anchor="ctr">
            <a:spAutoFit/>
          </a:bodyPr>
          <a:lstStyle/>
          <a:p>
            <a:pPr algn="l">
              <a:spcAft>
                <a:spcPts val="600"/>
              </a:spcAft>
              <a:defRPr/>
            </a:pPr>
            <a:r>
              <a:rPr sz="1250" b="0">
                <a:solidFill>
                  <a:srgbClr val="1F2937"/>
                </a:solidFill>
                <a:latin typeface="Calibri"/>
              </a:rPr>
              <a:t>✓  Pipeline CI/CD</a:t>
            </a:r>
            <a:endParaRPr/>
          </a:p>
        </p:txBody>
      </p:sp>
      <p:sp>
        <p:nvSpPr>
          <p:cNvPr id="423471702" name="TextBox 34"/>
          <p:cNvSpPr txBox="1"/>
          <p:nvPr/>
        </p:nvSpPr>
        <p:spPr bwMode="auto">
          <a:xfrm>
            <a:off x="10149840" y="4654296"/>
            <a:ext cx="1371600" cy="365760"/>
          </a:xfrm>
          <a:prstGeom prst="rect">
            <a:avLst/>
          </a:prstGeom>
          <a:noFill/>
        </p:spPr>
        <p:txBody>
          <a:bodyPr wrap="square" anchor="ctr">
            <a:spAutoFit/>
          </a:bodyPr>
          <a:lstStyle/>
          <a:p>
            <a:pPr algn="r">
              <a:spcAft>
                <a:spcPts val="600"/>
              </a:spcAft>
              <a:defRPr/>
            </a:pPr>
            <a:r>
              <a:rPr sz="1250" b="1">
                <a:solidFill>
                  <a:srgbClr val="167A3B"/>
                </a:solidFill>
                <a:latin typeface="Calibri"/>
              </a:rPr>
              <a:t>1.5 pt</a:t>
            </a:r>
            <a:endParaRPr/>
          </a:p>
        </p:txBody>
      </p:sp>
      <p:sp>
        <p:nvSpPr>
          <p:cNvPr id="1597259343" name="Rectangle 35"/>
          <p:cNvSpPr/>
          <p:nvPr/>
        </p:nvSpPr>
        <p:spPr bwMode="auto">
          <a:xfrm>
            <a:off x="548640" y="5029200"/>
            <a:ext cx="11064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57017969" name="TextBox 36"/>
          <p:cNvSpPr txBox="1"/>
          <p:nvPr/>
        </p:nvSpPr>
        <p:spPr bwMode="auto">
          <a:xfrm>
            <a:off x="685800" y="5029200"/>
            <a:ext cx="9418320" cy="365760"/>
          </a:xfrm>
          <a:prstGeom prst="rect">
            <a:avLst/>
          </a:prstGeom>
          <a:noFill/>
        </p:spPr>
        <p:txBody>
          <a:bodyPr wrap="square" anchor="ctr">
            <a:spAutoFit/>
          </a:bodyPr>
          <a:lstStyle/>
          <a:p>
            <a:pPr algn="l">
              <a:spcAft>
                <a:spcPts val="600"/>
              </a:spcAft>
              <a:defRPr/>
            </a:pPr>
            <a:r>
              <a:rPr sz="1250" b="0">
                <a:solidFill>
                  <a:srgbClr val="1F2937"/>
                </a:solidFill>
                <a:latin typeface="Calibri"/>
              </a:rPr>
              <a:t>✓  Dockerisation</a:t>
            </a:r>
            <a:endParaRPr/>
          </a:p>
        </p:txBody>
      </p:sp>
      <p:sp>
        <p:nvSpPr>
          <p:cNvPr id="1453147689" name="TextBox 37"/>
          <p:cNvSpPr txBox="1"/>
          <p:nvPr/>
        </p:nvSpPr>
        <p:spPr bwMode="auto">
          <a:xfrm>
            <a:off x="10149840" y="5029200"/>
            <a:ext cx="1371600" cy="365760"/>
          </a:xfrm>
          <a:prstGeom prst="rect">
            <a:avLst/>
          </a:prstGeom>
          <a:noFill/>
        </p:spPr>
        <p:txBody>
          <a:bodyPr wrap="square" anchor="ctr">
            <a:spAutoFit/>
          </a:bodyPr>
          <a:lstStyle/>
          <a:p>
            <a:pPr algn="r">
              <a:spcAft>
                <a:spcPts val="600"/>
              </a:spcAft>
              <a:defRPr/>
            </a:pPr>
            <a:r>
              <a:rPr sz="1250" b="1">
                <a:solidFill>
                  <a:srgbClr val="167A3B"/>
                </a:solidFill>
                <a:latin typeface="Calibri"/>
              </a:rPr>
              <a:t>1.5 pt</a:t>
            </a:r>
            <a:endParaRPr/>
          </a:p>
        </p:txBody>
      </p:sp>
      <p:sp>
        <p:nvSpPr>
          <p:cNvPr id="1850290461" name="Rectangle 38"/>
          <p:cNvSpPr/>
          <p:nvPr/>
        </p:nvSpPr>
        <p:spPr bwMode="auto">
          <a:xfrm>
            <a:off x="548640" y="5404104"/>
            <a:ext cx="11064240" cy="365760"/>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76051545" name="TextBox 39"/>
          <p:cNvSpPr txBox="1"/>
          <p:nvPr/>
        </p:nvSpPr>
        <p:spPr bwMode="auto">
          <a:xfrm>
            <a:off x="685800" y="5404104"/>
            <a:ext cx="9418320" cy="365760"/>
          </a:xfrm>
          <a:prstGeom prst="rect">
            <a:avLst/>
          </a:prstGeom>
          <a:noFill/>
        </p:spPr>
        <p:txBody>
          <a:bodyPr wrap="square" anchor="ctr">
            <a:spAutoFit/>
          </a:bodyPr>
          <a:lstStyle/>
          <a:p>
            <a:pPr algn="l">
              <a:spcAft>
                <a:spcPts val="600"/>
              </a:spcAft>
              <a:defRPr/>
            </a:pPr>
            <a:r>
              <a:rPr sz="1250" b="0">
                <a:solidFill>
                  <a:srgbClr val="B91C1C"/>
                </a:solidFill>
                <a:latin typeface="Calibri"/>
              </a:rPr>
              <a:t>✗  PWA (manifest + service worker)  —  non implémenté</a:t>
            </a:r>
            <a:endParaRPr/>
          </a:p>
        </p:txBody>
      </p:sp>
      <p:sp>
        <p:nvSpPr>
          <p:cNvPr id="1746618100" name="TextBox 40"/>
          <p:cNvSpPr txBox="1"/>
          <p:nvPr/>
        </p:nvSpPr>
        <p:spPr bwMode="auto">
          <a:xfrm>
            <a:off x="10149840" y="5404104"/>
            <a:ext cx="1371600" cy="365760"/>
          </a:xfrm>
          <a:prstGeom prst="rect">
            <a:avLst/>
          </a:prstGeom>
          <a:noFill/>
        </p:spPr>
        <p:txBody>
          <a:bodyPr wrap="square" anchor="ctr">
            <a:spAutoFit/>
          </a:bodyPr>
          <a:lstStyle/>
          <a:p>
            <a:pPr algn="r">
              <a:spcAft>
                <a:spcPts val="600"/>
              </a:spcAft>
              <a:defRPr/>
            </a:pPr>
            <a:r>
              <a:rPr sz="1250" b="1">
                <a:solidFill>
                  <a:srgbClr val="B91C1C"/>
                </a:solidFill>
                <a:latin typeface="Calibri"/>
              </a:rPr>
              <a:t>0 pt</a:t>
            </a:r>
            <a:endParaRPr/>
          </a:p>
        </p:txBody>
      </p:sp>
      <p:sp>
        <p:nvSpPr>
          <p:cNvPr id="1606402572" name="Rectangle 41"/>
          <p:cNvSpPr/>
          <p:nvPr/>
        </p:nvSpPr>
        <p:spPr bwMode="auto">
          <a:xfrm>
            <a:off x="548640" y="5779008"/>
            <a:ext cx="11064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892441" name="TextBox 42"/>
          <p:cNvSpPr txBox="1"/>
          <p:nvPr/>
        </p:nvSpPr>
        <p:spPr bwMode="auto">
          <a:xfrm>
            <a:off x="685800" y="5779008"/>
            <a:ext cx="9418320" cy="365760"/>
          </a:xfrm>
          <a:prstGeom prst="rect">
            <a:avLst/>
          </a:prstGeom>
          <a:noFill/>
        </p:spPr>
        <p:txBody>
          <a:bodyPr wrap="square" anchor="ctr">
            <a:spAutoFit/>
          </a:bodyPr>
          <a:lstStyle/>
          <a:p>
            <a:pPr algn="l">
              <a:spcAft>
                <a:spcPts val="600"/>
              </a:spcAft>
              <a:defRPr/>
            </a:pPr>
            <a:r>
              <a:rPr sz="1250" b="0">
                <a:solidFill>
                  <a:srgbClr val="B91C1C"/>
                </a:solidFill>
                <a:latin typeface="Calibri"/>
              </a:rPr>
              <a:t>✗  API externe  —  non implémenté</a:t>
            </a:r>
            <a:endParaRPr/>
          </a:p>
        </p:txBody>
      </p:sp>
      <p:sp>
        <p:nvSpPr>
          <p:cNvPr id="1755088402" name="TextBox 43"/>
          <p:cNvSpPr txBox="1"/>
          <p:nvPr/>
        </p:nvSpPr>
        <p:spPr bwMode="auto">
          <a:xfrm>
            <a:off x="10149840" y="5779008"/>
            <a:ext cx="1371600" cy="365760"/>
          </a:xfrm>
          <a:prstGeom prst="rect">
            <a:avLst/>
          </a:prstGeom>
          <a:noFill/>
        </p:spPr>
        <p:txBody>
          <a:bodyPr wrap="square" anchor="ctr">
            <a:spAutoFit/>
          </a:bodyPr>
          <a:lstStyle/>
          <a:p>
            <a:pPr algn="r">
              <a:spcAft>
                <a:spcPts val="600"/>
              </a:spcAft>
              <a:defRPr/>
            </a:pPr>
            <a:r>
              <a:rPr sz="1250" b="1">
                <a:solidFill>
                  <a:srgbClr val="B91C1C"/>
                </a:solidFill>
                <a:latin typeface="Calibri"/>
              </a:rPr>
              <a:t>0 pt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BEB"/>
        </a:solidFill>
      </p:bgPr>
    </p:bg>
    <p:spTree>
      <p:nvGrpSpPr>
        <p:cNvPr id="1" name=""/>
        <p:cNvGrpSpPr/>
        <p:nvPr/>
      </p:nvGrpSpPr>
      <p:grpSpPr bwMode="auto">
        <a:xfrm>
          <a:off x="0" y="0"/>
          <a:ext cx="0" cy="0"/>
          <a:chOff x="0" y="0"/>
          <a:chExt cx="0" cy="0"/>
        </a:xfrm>
      </p:grpSpPr>
      <p:sp>
        <p:nvSpPr>
          <p:cNvPr id="1017047362"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81061783" name="Rectangle 2"/>
          <p:cNvSpPr/>
          <p:nvPr/>
        </p:nvSpPr>
        <p:spPr bwMode="auto">
          <a:xfrm>
            <a:off x="0" y="1051560"/>
            <a:ext cx="12191695" cy="508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77685995" name="TextBox 3"/>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Chiffrage</a:t>
            </a:r>
            <a:endParaRPr/>
          </a:p>
        </p:txBody>
      </p:sp>
      <p:sp>
        <p:nvSpPr>
          <p:cNvPr id="1698910803" name="TextBox 4"/>
          <p:cNvSpPr txBox="1"/>
          <p:nvPr/>
        </p:nvSpPr>
        <p:spPr bwMode="auto">
          <a:xfrm>
            <a:off x="566928" y="640080"/>
            <a:ext cx="10972800" cy="365760"/>
          </a:xfrm>
          <a:prstGeom prst="rect">
            <a:avLst/>
          </a:prstGeom>
          <a:noFill/>
        </p:spPr>
        <p:txBody>
          <a:bodyPr wrap="square" anchor="t">
            <a:spAutoFit/>
          </a:bodyPr>
          <a:lstStyle/>
          <a:p>
            <a:pPr algn="l">
              <a:spcAft>
                <a:spcPts val="600"/>
              </a:spcAft>
              <a:defRPr/>
            </a:pPr>
            <a:r>
              <a:rPr sz="1300" b="0">
                <a:solidFill>
                  <a:srgbClr val="FDE68A"/>
                </a:solidFill>
                <a:latin typeface="Calibri"/>
              </a:rPr>
              <a:t>Coût de développement &amp; exploitation long terme</a:t>
            </a:r>
            <a:endParaRPr/>
          </a:p>
        </p:txBody>
      </p:sp>
      <p:sp>
        <p:nvSpPr>
          <p:cNvPr id="989608205" name="TextBox 5"/>
          <p:cNvSpPr txBox="1"/>
          <p:nvPr/>
        </p:nvSpPr>
        <p:spPr bwMode="auto">
          <a:xfrm>
            <a:off x="548640" y="1371600"/>
            <a:ext cx="5486400" cy="457200"/>
          </a:xfrm>
          <a:prstGeom prst="rect">
            <a:avLst/>
          </a:prstGeom>
          <a:noFill/>
        </p:spPr>
        <p:txBody>
          <a:bodyPr wrap="square" anchor="t">
            <a:spAutoFit/>
          </a:bodyPr>
          <a:lstStyle/>
          <a:p>
            <a:pPr algn="l">
              <a:spcAft>
                <a:spcPts val="600"/>
              </a:spcAft>
              <a:defRPr/>
            </a:pPr>
            <a:r>
              <a:rPr sz="1900" b="1">
                <a:solidFill>
                  <a:srgbClr val="92400E"/>
                </a:solidFill>
                <a:latin typeface="Calibri"/>
              </a:rPr>
              <a:t>Temps de développement</a:t>
            </a:r>
            <a:endParaRPr/>
          </a:p>
        </p:txBody>
      </p:sp>
      <p:sp>
        <p:nvSpPr>
          <p:cNvPr id="1666542137" name="TextBox 6"/>
          <p:cNvSpPr txBox="1"/>
          <p:nvPr/>
        </p:nvSpPr>
        <p:spPr bwMode="auto">
          <a:xfrm>
            <a:off x="548640" y="1874519"/>
            <a:ext cx="5577840" cy="2377440"/>
          </a:xfrm>
          <a:prstGeom prst="rect">
            <a:avLst/>
          </a:prstGeom>
          <a:noFill/>
        </p:spPr>
        <p:txBody>
          <a:bodyPr wrap="square" anchor="t">
            <a:spAutoFit/>
          </a:bodyPr>
          <a:lstStyle/>
          <a:p>
            <a:pPr algn="l">
              <a:spcAft>
                <a:spcPts val="600"/>
              </a:spcAft>
              <a:defRPr/>
            </a:pPr>
            <a:r>
              <a:rPr sz="1500" b="1">
                <a:solidFill>
                  <a:srgbClr val="1F2937"/>
                </a:solidFill>
                <a:latin typeface="Calibri"/>
              </a:rPr>
              <a:t>≈ 20 à 25 jours de dev (junior)</a:t>
            </a:r>
            <a:endParaRPr/>
          </a:p>
          <a:p>
            <a:pPr algn="l">
              <a:spcAft>
                <a:spcPts val="600"/>
              </a:spcAft>
              <a:defRPr/>
            </a:pPr>
            <a:r>
              <a:rPr sz="1400" b="0">
                <a:solidFill>
                  <a:srgbClr val="4B5563"/>
                </a:solidFill>
                <a:latin typeface="Calibri"/>
              </a:rPr>
              <a:t>–  Setup Docker + entités : ~3 j</a:t>
            </a:r>
            <a:endParaRPr/>
          </a:p>
          <a:p>
            <a:pPr algn="l">
              <a:spcAft>
                <a:spcPts val="600"/>
              </a:spcAft>
              <a:defRPr/>
            </a:pPr>
            <a:r>
              <a:rPr sz="1400" b="0">
                <a:solidFill>
                  <a:srgbClr val="4B5563"/>
                </a:solidFill>
                <a:latin typeface="Calibri"/>
              </a:rPr>
              <a:t>–  Auth + back-office : ~6 j</a:t>
            </a:r>
            <a:endParaRPr/>
          </a:p>
          <a:p>
            <a:pPr algn="l">
              <a:spcAft>
                <a:spcPts val="600"/>
              </a:spcAft>
              <a:defRPr/>
            </a:pPr>
            <a:r>
              <a:rPr sz="1400" b="0">
                <a:solidFill>
                  <a:srgbClr val="4B5563"/>
                </a:solidFill>
                <a:latin typeface="Calibri"/>
              </a:rPr>
              <a:t>–  Catalogue + panier + commande : ~6 j</a:t>
            </a:r>
            <a:endParaRPr/>
          </a:p>
          <a:p>
            <a:pPr algn="l">
              <a:spcAft>
                <a:spcPts val="600"/>
              </a:spcAft>
              <a:defRPr/>
            </a:pPr>
            <a:r>
              <a:rPr sz="1400" b="0">
                <a:solidFill>
                  <a:srgbClr val="4B5563"/>
                </a:solidFill>
                <a:latin typeface="Calibri"/>
              </a:rPr>
              <a:t>–  Factures + mails + avis : ~4 j</a:t>
            </a:r>
            <a:endParaRPr/>
          </a:p>
          <a:p>
            <a:pPr algn="l">
              <a:spcAft>
                <a:spcPts val="600"/>
              </a:spcAft>
              <a:defRPr/>
            </a:pPr>
            <a:r>
              <a:rPr sz="1400" b="0">
                <a:solidFill>
                  <a:srgbClr val="4B5563"/>
                </a:solidFill>
                <a:latin typeface="Calibri"/>
              </a:rPr>
              <a:t>–  SEO + sécurité + CI + tests : ~3 j</a:t>
            </a:r>
            <a:endParaRPr/>
          </a:p>
          <a:p>
            <a:pPr algn="l">
              <a:spcAft>
                <a:spcPts val="600"/>
              </a:spcAft>
              <a:defRPr/>
            </a:pPr>
            <a:r>
              <a:rPr sz="1400" b="1">
                <a:solidFill>
                  <a:srgbClr val="92400E"/>
                </a:solidFill>
                <a:latin typeface="Calibri"/>
              </a:rPr>
              <a:t>À ~300 €/j → ≈ 6 000 – 7 500 € de prestation</a:t>
            </a:r>
            <a:endParaRPr/>
          </a:p>
        </p:txBody>
      </p:sp>
      <p:sp>
        <p:nvSpPr>
          <p:cNvPr id="1129144729" name="TextBox 7"/>
          <p:cNvSpPr txBox="1"/>
          <p:nvPr/>
        </p:nvSpPr>
        <p:spPr bwMode="auto">
          <a:xfrm>
            <a:off x="6309360" y="1371600"/>
            <a:ext cx="5486400" cy="457200"/>
          </a:xfrm>
          <a:prstGeom prst="rect">
            <a:avLst/>
          </a:prstGeom>
          <a:noFill/>
        </p:spPr>
        <p:txBody>
          <a:bodyPr wrap="square" anchor="t">
            <a:spAutoFit/>
          </a:bodyPr>
          <a:lstStyle/>
          <a:p>
            <a:pPr algn="l">
              <a:spcAft>
                <a:spcPts val="600"/>
              </a:spcAft>
              <a:defRPr/>
            </a:pPr>
            <a:r>
              <a:rPr sz="1900" b="1">
                <a:solidFill>
                  <a:srgbClr val="92400E"/>
                </a:solidFill>
                <a:latin typeface="Calibri"/>
              </a:rPr>
              <a:t>Mise en production &amp; long terme</a:t>
            </a:r>
            <a:endParaRPr/>
          </a:p>
        </p:txBody>
      </p:sp>
      <p:sp>
        <p:nvSpPr>
          <p:cNvPr id="1853106396" name="TextBox 8"/>
          <p:cNvSpPr txBox="1"/>
          <p:nvPr/>
        </p:nvSpPr>
        <p:spPr bwMode="auto">
          <a:xfrm>
            <a:off x="6309360" y="1874519"/>
            <a:ext cx="5303520" cy="4206240"/>
          </a:xfrm>
          <a:prstGeom prst="rect">
            <a:avLst/>
          </a:prstGeom>
          <a:noFill/>
        </p:spPr>
        <p:txBody>
          <a:bodyPr wrap="square" anchor="t">
            <a:spAutoFit/>
          </a:bodyPr>
          <a:lstStyle/>
          <a:p>
            <a:pPr algn="l">
              <a:spcAft>
                <a:spcPts val="500"/>
              </a:spcAft>
              <a:defRPr/>
            </a:pPr>
            <a:r>
              <a:rPr sz="1400" b="0">
                <a:solidFill>
                  <a:srgbClr val="4B5563"/>
                </a:solidFill>
                <a:latin typeface="Calibri"/>
              </a:rPr>
              <a:t>•  Hébergement VPS : ~5–15 €/mois</a:t>
            </a:r>
            <a:endParaRPr/>
          </a:p>
          <a:p>
            <a:pPr algn="l">
              <a:spcAft>
                <a:spcPts val="500"/>
              </a:spcAft>
              <a:defRPr/>
            </a:pPr>
            <a:r>
              <a:rPr sz="1400" b="0">
                <a:solidFill>
                  <a:srgbClr val="4B5563"/>
                </a:solidFill>
                <a:latin typeface="Calibri"/>
              </a:rPr>
              <a:t>•  Nom de domaine : ~10 €/an</a:t>
            </a:r>
            <a:endParaRPr/>
          </a:p>
          <a:p>
            <a:pPr algn="l">
              <a:spcAft>
                <a:spcPts val="500"/>
              </a:spcAft>
              <a:defRPr/>
            </a:pPr>
            <a:r>
              <a:rPr sz="1400" b="0">
                <a:solidFill>
                  <a:srgbClr val="4B5563"/>
                </a:solidFill>
                <a:latin typeface="Calibri"/>
              </a:rPr>
              <a:t>•  Certificat SSL (HTTPS) : gratuit (Let's Encrypt)</a:t>
            </a:r>
            <a:endParaRPr/>
          </a:p>
          <a:p>
            <a:pPr algn="l">
              <a:spcAft>
                <a:spcPts val="500"/>
              </a:spcAft>
              <a:defRPr/>
            </a:pPr>
            <a:r>
              <a:rPr sz="1400" b="0">
                <a:solidFill>
                  <a:srgbClr val="4B5563"/>
                </a:solidFill>
                <a:latin typeface="Calibri"/>
              </a:rPr>
              <a:t>•  SMTP transactionnel réel (Brevo, Mailjet…)</a:t>
            </a:r>
            <a:endParaRPr/>
          </a:p>
          <a:p>
            <a:pPr algn="l">
              <a:spcAft>
                <a:spcPts val="500"/>
              </a:spcAft>
              <a:defRPr/>
            </a:pPr>
            <a:r>
              <a:rPr sz="1400" b="0">
                <a:solidFill>
                  <a:srgbClr val="4B5563"/>
                </a:solidFill>
                <a:latin typeface="Calibri"/>
              </a:rPr>
              <a:t>•  Passerelle de paiement (Stripe ≈ 1,4 % + 0,25 €)</a:t>
            </a:r>
            <a:endParaRPr/>
          </a:p>
          <a:p>
            <a:pPr algn="l">
              <a:spcAft>
                <a:spcPts val="500"/>
              </a:spcAft>
              <a:defRPr/>
            </a:pPr>
            <a:r>
              <a:rPr sz="1400" b="0">
                <a:solidFill>
                  <a:srgbClr val="4B5563"/>
                </a:solidFill>
                <a:latin typeface="Calibri"/>
              </a:rPr>
              <a:t>•  Sauvegardes BDD automatiques</a:t>
            </a:r>
            <a:endParaRPr/>
          </a:p>
          <a:p>
            <a:pPr algn="l">
              <a:spcAft>
                <a:spcPts val="500"/>
              </a:spcAft>
              <a:defRPr/>
            </a:pPr>
            <a:r>
              <a:rPr sz="1400" b="0">
                <a:solidFill>
                  <a:srgbClr val="4B5563"/>
                </a:solidFill>
                <a:latin typeface="Calibri"/>
              </a:rPr>
              <a:t>•  RGPD : CGV, mentions légales, cookies</a:t>
            </a:r>
            <a:endParaRPr/>
          </a:p>
          <a:p>
            <a:pPr algn="l">
              <a:spcAft>
                <a:spcPts val="500"/>
              </a:spcAft>
              <a:defRPr/>
            </a:pPr>
            <a:r>
              <a:rPr sz="1400" b="0">
                <a:solidFill>
                  <a:srgbClr val="4B5563"/>
                </a:solidFill>
                <a:latin typeface="Calibri"/>
              </a:rPr>
              <a:t>•  Maintenance : MAJ de sécurité Symfony</a:t>
            </a:r>
            <a:endParaRPr/>
          </a:p>
          <a:p>
            <a:pPr algn="l">
              <a:spcAft>
                <a:spcPts val="500"/>
              </a:spcAft>
              <a:defRPr/>
            </a:pPr>
            <a:r>
              <a:rPr sz="1400" b="0">
                <a:solidFill>
                  <a:srgbClr val="4B5563"/>
                </a:solidFill>
                <a:latin typeface="Calibri"/>
              </a:rPr>
              <a:t>•  Monitoring / logs / supervision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F2937"/>
        </a:solidFill>
      </p:bgPr>
    </p:bg>
    <p:spTree>
      <p:nvGrpSpPr>
        <p:cNvPr id="1" name=""/>
        <p:cNvGrpSpPr/>
        <p:nvPr/>
      </p:nvGrpSpPr>
      <p:grpSpPr bwMode="auto">
        <a:xfrm>
          <a:off x="0" y="0"/>
          <a:ext cx="0" cy="0"/>
          <a:chOff x="0" y="0"/>
          <a:chExt cx="0" cy="0"/>
        </a:xfrm>
      </p:grpSpPr>
      <p:sp>
        <p:nvSpPr>
          <p:cNvPr id="1950627000" name="Rectangle 1"/>
          <p:cNvSpPr/>
          <p:nvPr/>
        </p:nvSpPr>
        <p:spPr bwMode="auto">
          <a:xfrm>
            <a:off x="0" y="0"/>
            <a:ext cx="12191695" cy="10515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26775711" name="TextBox 2"/>
          <p:cNvSpPr txBox="1"/>
          <p:nvPr/>
        </p:nvSpPr>
        <p:spPr bwMode="auto">
          <a:xfrm>
            <a:off x="548640" y="109728"/>
            <a:ext cx="10972800" cy="822960"/>
          </a:xfrm>
          <a:prstGeom prst="rect">
            <a:avLst/>
          </a:prstGeom>
          <a:noFill/>
        </p:spPr>
        <p:txBody>
          <a:bodyPr wrap="square" anchor="ctr">
            <a:spAutoFit/>
          </a:bodyPr>
          <a:lstStyle/>
          <a:p>
            <a:pPr algn="l">
              <a:spcAft>
                <a:spcPts val="600"/>
              </a:spcAft>
              <a:defRPr/>
            </a:pPr>
            <a:r>
              <a:rPr sz="3000" b="1">
                <a:solidFill>
                  <a:srgbClr val="FFFFFF"/>
                </a:solidFill>
                <a:latin typeface="Calibri"/>
              </a:rPr>
              <a:t>Code review</a:t>
            </a:r>
            <a:endParaRPr/>
          </a:p>
        </p:txBody>
      </p:sp>
      <p:sp>
        <p:nvSpPr>
          <p:cNvPr id="900097062" name="TextBox 3"/>
          <p:cNvSpPr txBox="1"/>
          <p:nvPr/>
        </p:nvSpPr>
        <p:spPr bwMode="auto">
          <a:xfrm>
            <a:off x="731520" y="1463040"/>
            <a:ext cx="10698480" cy="4572000"/>
          </a:xfrm>
          <a:prstGeom prst="rect">
            <a:avLst/>
          </a:prstGeom>
          <a:noFill/>
        </p:spPr>
        <p:txBody>
          <a:bodyPr wrap="square" anchor="t">
            <a:spAutoFit/>
          </a:bodyPr>
          <a:lstStyle/>
          <a:p>
            <a:pPr algn="l">
              <a:spcAft>
                <a:spcPts val="900"/>
              </a:spcAft>
              <a:defRPr/>
            </a:pPr>
            <a:r>
              <a:rPr sz="1800" b="1">
                <a:solidFill>
                  <a:srgbClr val="FFFBEB"/>
                </a:solidFill>
                <a:latin typeface="Calibri"/>
              </a:rPr>
              <a:t>Morceaux de code que je vais présenter :</a:t>
            </a:r>
            <a:endParaRPr/>
          </a:p>
          <a:p>
            <a:pPr algn="l">
              <a:spcAft>
                <a:spcPts val="900"/>
              </a:spcAft>
              <a:defRPr/>
            </a:pPr>
            <a:r>
              <a:rPr sz="1500" b="0">
                <a:solidFill>
                  <a:srgbClr val="FFFFFF"/>
                </a:solidFill>
                <a:latin typeface="Calibri"/>
              </a:rPr>
              <a:t>•  CartService — le panier en session (logique métier isolée)</a:t>
            </a:r>
            <a:endParaRPr/>
          </a:p>
          <a:p>
            <a:pPr algn="l">
              <a:spcAft>
                <a:spcPts val="900"/>
              </a:spcAft>
              <a:defRPr/>
            </a:pPr>
            <a:r>
              <a:rPr sz="1500" b="0">
                <a:solidFill>
                  <a:srgbClr val="FFFFFF"/>
                </a:solidFill>
                <a:latin typeface="Calibri"/>
              </a:rPr>
              <a:t>•  CheckoutController — création de la commande + décrément du stock</a:t>
            </a:r>
            <a:endParaRPr/>
          </a:p>
          <a:p>
            <a:pPr algn="l">
              <a:spcAft>
                <a:spcPts val="900"/>
              </a:spcAft>
              <a:defRPr/>
            </a:pPr>
            <a:r>
              <a:rPr sz="1500" b="0">
                <a:solidFill>
                  <a:srgbClr val="FFFFFF"/>
                </a:solidFill>
                <a:latin typeface="Calibri"/>
              </a:rPr>
              <a:t>•  InvoiceGenerator — génération du PDF (Twig → dompdf)</a:t>
            </a:r>
            <a:endParaRPr/>
          </a:p>
          <a:p>
            <a:pPr algn="l">
              <a:spcAft>
                <a:spcPts val="900"/>
              </a:spcAft>
              <a:defRPr/>
            </a:pPr>
            <a:r>
              <a:rPr sz="1500" b="0">
                <a:solidFill>
                  <a:srgbClr val="FFFFFF"/>
                </a:solidFill>
                <a:latin typeface="Calibri"/>
              </a:rPr>
              <a:t>•  ForgotPasswordController — token hashé + expiration (sécurité)</a:t>
            </a:r>
            <a:endParaRPr/>
          </a:p>
          <a:p>
            <a:pPr algn="l">
              <a:spcAft>
                <a:spcPts val="900"/>
              </a:spcAft>
              <a:defRPr/>
            </a:pPr>
            <a:r>
              <a:rPr sz="1500" b="0">
                <a:solidFill>
                  <a:srgbClr val="FFFFFF"/>
                </a:solidFill>
                <a:latin typeface="Calibri"/>
              </a:rPr>
              <a:t>•  SecurityHeadersSubscriber — un EventSubscriber, le code dont je suis fier</a:t>
            </a:r>
            <a:endParaRPr/>
          </a:p>
          <a:p>
            <a:pPr algn="l">
              <a:spcAft>
                <a:spcPts val="900"/>
              </a:spcAft>
              <a:defRPr/>
            </a:pPr>
            <a:endParaRPr/>
          </a:p>
          <a:p>
            <a:pPr algn="l">
              <a:spcAft>
                <a:spcPts val="900"/>
              </a:spcAft>
              <a:defRPr/>
            </a:pPr>
            <a:r>
              <a:rPr sz="1500" b="1">
                <a:solidFill>
                  <a:srgbClr val="FDE68A"/>
                </a:solidFill>
                <a:latin typeface="Calibri"/>
              </a:rPr>
              <a:t>Pour chacun : ce qu'il fait, comment, et pourquoi ces choix.</a:t>
            </a:r>
            <a:endParaRPr/>
          </a:p>
        </p:txBody>
      </p:sp>
      <p:pic>
        <p:nvPicPr>
          <p:cNvPr id="1407640290" name=""/>
          <p:cNvPicPr>
            <a:picLocks noChangeAspect="1"/>
          </p:cNvPicPr>
          <p:nvPr/>
        </p:nvPicPr>
        <p:blipFill rotWithShape="1">
          <a:blip r:embed="rId3"/>
          <a:stretch/>
        </p:blipFill>
        <p:spPr bwMode="auto">
          <a:xfrm>
            <a:off x="0" y="2630052"/>
            <a:ext cx="12191694" cy="15978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D97706"/>
        </a:solidFill>
      </p:bgPr>
    </p:bg>
    <p:spTree>
      <p:nvGrpSpPr>
        <p:cNvPr id="1" name=""/>
        <p:cNvGrpSpPr/>
        <p:nvPr/>
      </p:nvGrpSpPr>
      <p:grpSpPr bwMode="auto">
        <a:xfrm>
          <a:off x="0" y="0"/>
          <a:ext cx="0" cy="0"/>
          <a:chOff x="0" y="0"/>
          <a:chExt cx="0" cy="0"/>
        </a:xfrm>
      </p:grpSpPr>
      <p:sp>
        <p:nvSpPr>
          <p:cNvPr id="280578080" name="TextBox 1"/>
          <p:cNvSpPr txBox="1"/>
          <p:nvPr/>
        </p:nvSpPr>
        <p:spPr bwMode="auto">
          <a:xfrm>
            <a:off x="914400" y="2468880"/>
            <a:ext cx="10332720" cy="1280160"/>
          </a:xfrm>
          <a:prstGeom prst="rect">
            <a:avLst/>
          </a:prstGeom>
          <a:noFill/>
        </p:spPr>
        <p:txBody>
          <a:bodyPr wrap="square" anchor="ctr">
            <a:spAutoFit/>
          </a:bodyPr>
          <a:lstStyle/>
          <a:p>
            <a:pPr algn="ctr">
              <a:spcAft>
                <a:spcPts val="600"/>
              </a:spcAft>
              <a:defRPr/>
            </a:pPr>
            <a:r>
              <a:rPr sz="4000" b="1">
                <a:solidFill>
                  <a:srgbClr val="FFFFFF"/>
                </a:solidFill>
                <a:latin typeface="Calibri"/>
              </a:rPr>
              <a:t>Merci de votre attention</a:t>
            </a:r>
            <a:endParaRPr/>
          </a:p>
        </p:txBody>
      </p:sp>
      <p:sp>
        <p:nvSpPr>
          <p:cNvPr id="1598504460" name="TextBox 2"/>
          <p:cNvSpPr txBox="1"/>
          <p:nvPr/>
        </p:nvSpPr>
        <p:spPr bwMode="auto">
          <a:xfrm>
            <a:off x="914400" y="3749039"/>
            <a:ext cx="10332720" cy="731520"/>
          </a:xfrm>
          <a:prstGeom prst="rect">
            <a:avLst/>
          </a:prstGeom>
          <a:noFill/>
        </p:spPr>
        <p:txBody>
          <a:bodyPr wrap="square" anchor="t">
            <a:spAutoFit/>
          </a:bodyPr>
          <a:lstStyle/>
          <a:p>
            <a:pPr algn="ctr">
              <a:spcAft>
                <a:spcPts val="600"/>
              </a:spcAft>
              <a:defRPr/>
            </a:pPr>
            <a:r>
              <a:rPr sz="2200" b="0">
                <a:solidFill>
                  <a:srgbClr val="FFFBEB"/>
                </a:solidFill>
                <a:latin typeface="Calibri"/>
              </a:rPr>
              <a:t>Questions &amp; réponses</a:t>
            </a:r>
            <a:endParaRPr/>
          </a:p>
        </p:txBody>
      </p:sp>
      <p:sp>
        <p:nvSpPr>
          <p:cNvPr id="684422590" name="TextBox 3"/>
          <p:cNvSpPr txBox="1"/>
          <p:nvPr/>
        </p:nvSpPr>
        <p:spPr bwMode="auto">
          <a:xfrm>
            <a:off x="914400" y="5852160"/>
            <a:ext cx="10332720" cy="548640"/>
          </a:xfrm>
          <a:prstGeom prst="rect">
            <a:avLst/>
          </a:prstGeom>
          <a:noFill/>
        </p:spPr>
        <p:txBody>
          <a:bodyPr wrap="square" anchor="t">
            <a:spAutoFit/>
          </a:bodyPr>
          <a:lstStyle/>
          <a:p>
            <a:pPr algn="ctr">
              <a:spcAft>
                <a:spcPts val="600"/>
              </a:spcAft>
              <a:defRPr/>
            </a:pPr>
            <a:r>
              <a:rPr sz="1400" b="0">
                <a:solidFill>
                  <a:srgbClr val="FFF7E0"/>
                </a:solidFill>
                <a:latin typeface="Calibri"/>
              </a:rPr>
              <a:t>Miel Apicole — Symfony 7</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21</Slides>
  <Notes>21</Notes>
  <HiddenSlides>0</HiddenSlides>
  <MMClips>2</MMClips>
  <ScaleCrop>0</ScaleCrop>
  <HeadingPairs>
    <vt:vector size="4" baseType="variant">
      <vt:variant>
        <vt:lpstr>Theme</vt:lpstr>
      </vt:variant>
      <vt:variant>
        <vt:i4>1</vt:i4>
      </vt:variant>
      <vt:variant>
        <vt:lpstr>Slide Titles</vt:lpstr>
      </vt:variant>
      <vt:variant>
        <vt:i4>21</vt:i4>
      </vt:variant>
    </vt:vector>
  </HeadingPairs>
  <TitlesOfParts>
    <vt:vector size="2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2026-06-01T21:00:02Z</dcterms:modified>
  <cp:category/>
</cp:coreProperties>
</file>